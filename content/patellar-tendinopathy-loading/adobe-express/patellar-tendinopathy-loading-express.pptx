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hoto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2-photo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3-photo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5-photo1.png"/><Relationship Id="rId3" Type="http://schemas.openxmlformats.org/officeDocument/2006/relationships/image" Target="../media/05-photo2.png"/><Relationship Id="rId4" Type="http://schemas.openxmlformats.org/officeDocument/2006/relationships/image" Target="../media/05-photo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6-photo1.png"/><Relationship Id="rId3" Type="http://schemas.openxmlformats.org/officeDocument/2006/relationships/image" Target="../media/06-photo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박스 점프 후 무릎을 굽혀 착지하는 선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7626"/>
            <a:ext cx="8458200" cy="70485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슬개건병증,"/>
          <p:cNvSpPr txBox="1"/>
          <p:nvPr/>
        </p:nvSpPr>
        <p:spPr>
          <a:xfrm>
            <a:off x="2586930" y="1021842"/>
            <a:ext cx="5112841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슬개건병증,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무조건 쉬면 좋아질까?"/>
          <p:cNvSpPr txBox="1"/>
          <p:nvPr/>
        </p:nvSpPr>
        <p:spPr>
          <a:xfrm>
            <a:off x="820043" y="2010805"/>
            <a:ext cx="8646765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무조건 쉬면 </a:t>
            </a: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좋아질까?</a:t>
            </a:r>
            <a:endParaRPr lang="ko-KR" altLang="en-US" sz="6600" b="0" i="0" spc="-231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아픈 힘줄에 다시 운동이 필요한 이유"/>
          <p:cNvSpPr txBox="1"/>
          <p:nvPr/>
        </p:nvSpPr>
        <p:spPr>
          <a:xfrm>
            <a:off x="1470571" y="10842272"/>
            <a:ext cx="734585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아픈 힘줄에 다시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운동이 필요한 이유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적당히 찬 물컵과 훈련이 몰려 넘치는 물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37571"/>
            <a:ext cx="8458200" cy="295275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6162675" y="4423321"/>
            <a:ext cx="1954560" cy="560040"/>
          </a:xfrm>
          <a:prstGeom prst="roundRect">
            <a:avLst>
              <a:gd name="adj" fmla="val 20409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6743700" y="3947071"/>
            <a:ext cx="953393" cy="560040"/>
          </a:xfrm>
          <a:prstGeom prst="roundRect">
            <a:avLst>
              <a:gd name="adj" fmla="val 20409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연한 박스"/>
          <p:cNvSpPr/>
          <p:nvPr/>
        </p:nvSpPr>
        <p:spPr>
          <a:xfrm>
            <a:off x="5162550" y="5204371"/>
            <a:ext cx="1258491" cy="560040"/>
          </a:xfrm>
          <a:prstGeom prst="roundRect">
            <a:avLst>
              <a:gd name="adj" fmla="val 20409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8020050" y="5623471"/>
            <a:ext cx="1258491" cy="560040"/>
          </a:xfrm>
          <a:prstGeom prst="roundRect">
            <a:avLst>
              <a:gd name="adj" fmla="val 20409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연한 박스"/>
          <p:cNvSpPr/>
          <p:nvPr/>
        </p:nvSpPr>
        <p:spPr>
          <a:xfrm>
            <a:off x="4038600" y="3985171"/>
            <a:ext cx="2067818" cy="647700"/>
          </a:xfrm>
          <a:prstGeom prst="roundRect">
            <a:avLst>
              <a:gd name="adj" fmla="val 58824"/>
            </a:avLst>
          </a:prstGeom>
          <a:solidFill>
            <a:srgbClr val="CC41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텍스트: 힘줄에도"/>
          <p:cNvSpPr txBox="1"/>
          <p:nvPr/>
        </p:nvSpPr>
        <p:spPr>
          <a:xfrm>
            <a:off x="3155752" y="1029081"/>
            <a:ext cx="397549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힘줄에도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0" name="텍스트: 감당할 수 있는"/>
          <p:cNvSpPr txBox="1"/>
          <p:nvPr/>
        </p:nvSpPr>
        <p:spPr>
          <a:xfrm>
            <a:off x="2251621" y="1989171"/>
            <a:ext cx="5783610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감당할 수 있는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1" name="텍스트: 부하가 있습니다"/>
          <p:cNvSpPr txBox="1"/>
          <p:nvPr/>
        </p:nvSpPr>
        <p:spPr>
          <a:xfrm>
            <a:off x="1995636" y="294926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부하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가 있습니다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2" name="텍스트: 무리한 대회"/>
          <p:cNvSpPr txBox="1"/>
          <p:nvPr/>
        </p:nvSpPr>
        <p:spPr>
          <a:xfrm>
            <a:off x="5762625" y="4510570"/>
            <a:ext cx="275466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FFFFFF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무리한 대회</a:t>
            </a:r>
            <a:endParaRPr lang="ko-KR" altLang="en-US" sz="2700" b="0" i="0" spc="-81" kern="0" dirty="0">
              <a:solidFill>
                <a:srgbClr val="FFFFFF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3" name="텍스트: 템포"/>
          <p:cNvSpPr txBox="1"/>
          <p:nvPr/>
        </p:nvSpPr>
        <p:spPr>
          <a:xfrm>
            <a:off x="6343650" y="4034320"/>
            <a:ext cx="175349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FFFFFF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템포</a:t>
            </a:r>
            <a:endParaRPr lang="ko-KR" altLang="en-US" sz="2700" b="0" i="0" spc="-81" kern="0" dirty="0">
              <a:solidFill>
                <a:srgbClr val="FFFFFF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4" name="텍스트: 인터벌"/>
          <p:cNvSpPr txBox="1"/>
          <p:nvPr/>
        </p:nvSpPr>
        <p:spPr>
          <a:xfrm>
            <a:off x="4762500" y="5291620"/>
            <a:ext cx="205859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FFFFFF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인터벌</a:t>
            </a:r>
            <a:endParaRPr lang="ko-KR" altLang="en-US" sz="2700" b="0" i="0" spc="-81" kern="0" dirty="0">
              <a:solidFill>
                <a:srgbClr val="FFFFFF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5" name="텍스트: 장거리"/>
          <p:cNvSpPr txBox="1"/>
          <p:nvPr/>
        </p:nvSpPr>
        <p:spPr>
          <a:xfrm>
            <a:off x="7620000" y="5710720"/>
            <a:ext cx="205859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FFFFFF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장거리</a:t>
            </a:r>
            <a:endParaRPr lang="ko-KR" altLang="en-US" sz="2700" b="0" i="0" spc="-81" kern="0" dirty="0">
              <a:solidFill>
                <a:srgbClr val="FFFFFF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6" name="텍스트: 앗! 통증?!"/>
          <p:cNvSpPr txBox="1"/>
          <p:nvPr/>
        </p:nvSpPr>
        <p:spPr>
          <a:xfrm>
            <a:off x="3714750" y="4103281"/>
            <a:ext cx="2715518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90" kern="0" dirty="0">
                <a:solidFill>
                  <a:srgbClr val="FFFFFF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앗! 통증?!</a:t>
            </a:r>
            <a:endParaRPr lang="ko-KR" altLang="en-US" sz="3000" b="0" i="0" spc="-90" kern="0" dirty="0">
              <a:solidFill>
                <a:srgbClr val="FFFFFF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7" name="텍스트: 컵 = 감당할 수 있는 능력"/>
          <p:cNvSpPr txBox="1"/>
          <p:nvPr/>
        </p:nvSpPr>
        <p:spPr>
          <a:xfrm>
            <a:off x="751433" y="7291870"/>
            <a:ext cx="455488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컵 = 감당할 수 있는 능력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8" name="텍스트: 물 = 운동 부하"/>
          <p:cNvSpPr txBox="1"/>
          <p:nvPr/>
        </p:nvSpPr>
        <p:spPr>
          <a:xfrm>
            <a:off x="1457771" y="7771840"/>
            <a:ext cx="314220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물 = 운동 부하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훈련이 한꺼번에"/>
          <p:cNvSpPr txBox="1"/>
          <p:nvPr/>
        </p:nvSpPr>
        <p:spPr>
          <a:xfrm>
            <a:off x="5561707" y="7291870"/>
            <a:ext cx="339253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훈련이 한꺼번에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0" name="텍스트: 갑자기 몰리면"/>
          <p:cNvSpPr txBox="1"/>
          <p:nvPr/>
        </p:nvSpPr>
        <p:spPr>
          <a:xfrm>
            <a:off x="5716042" y="7771840"/>
            <a:ext cx="30838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0879D8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갑자기</a:t>
            </a: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 몰리면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1" name="텍스트: 운동량이나 강도가 갑자기 늘면"/>
          <p:cNvSpPr txBox="1"/>
          <p:nvPr/>
        </p:nvSpPr>
        <p:spPr>
          <a:xfrm>
            <a:off x="1956792" y="8608808"/>
            <a:ext cx="637341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운동량이나 강도가 갑자기 늘면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2" name="텍스트: 감당 능력을 넘어설 수 있습니다."/>
          <p:cNvSpPr txBox="1"/>
          <p:nvPr/>
        </p:nvSpPr>
        <p:spPr>
          <a:xfrm>
            <a:off x="1843832" y="9203823"/>
            <a:ext cx="659933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감당 능력을 넘어설 수 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3" name="텍스트: 문제는 운동 자체보다"/>
          <p:cNvSpPr txBox="1"/>
          <p:nvPr/>
        </p:nvSpPr>
        <p:spPr>
          <a:xfrm>
            <a:off x="2788593" y="10046488"/>
            <a:ext cx="470966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문제는 운동 자체보다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4" name="텍스트: 갑작스러운 증가일 수 있습니다"/>
          <p:cNvSpPr txBox="1"/>
          <p:nvPr/>
        </p:nvSpPr>
        <p:spPr>
          <a:xfrm>
            <a:off x="1990279" y="10591199"/>
            <a:ext cx="630644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갑작스러운 증가</a:t>
            </a: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일 수 있습니다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5" name="텍스트: 참고: Cook et al., Br J Sp"/>
          <p:cNvSpPr txBox="1"/>
          <p:nvPr/>
        </p:nvSpPr>
        <p:spPr>
          <a:xfrm>
            <a:off x="2010073" y="11356509"/>
            <a:ext cx="6266855" cy="3429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50" b="0" i="0" spc="-22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참고: Cook et al., Br J Sports Med 2016</a:t>
            </a:r>
            <a:endParaRPr lang="ko-KR" altLang="en-US" sz="2250" b="0" i="0" spc="-22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작은 컵에서 큰 컵으로, 물도 넘치지 않게 조금씩 늘어나는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40005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힘줄 재활의 핵심은"/>
          <p:cNvSpPr txBox="1"/>
          <p:nvPr/>
        </p:nvSpPr>
        <p:spPr>
          <a:xfrm>
            <a:off x="1543496" y="1029081"/>
            <a:ext cx="719985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힘줄 재활의 핵심은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점진적인 부하입니다"/>
          <p:cNvSpPr txBox="1"/>
          <p:nvPr/>
        </p:nvSpPr>
        <p:spPr>
          <a:xfrm>
            <a:off x="1287512" y="1989171"/>
            <a:ext cx="7711976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점진적인 부하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입니다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컵이 커지는 것 = 감당 능력이 늘어나는 것"/>
          <p:cNvSpPr txBox="1"/>
          <p:nvPr/>
        </p:nvSpPr>
        <p:spPr>
          <a:xfrm>
            <a:off x="1696641" y="7455729"/>
            <a:ext cx="689357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컵이 커지는 것 = 감당 능력이 늘어나는 것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힘줄은 부하에 적응하는 조직입니다."/>
          <p:cNvSpPr txBox="1"/>
          <p:nvPr/>
        </p:nvSpPr>
        <p:spPr>
          <a:xfrm>
            <a:off x="1521023" y="8330797"/>
            <a:ext cx="724480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힘줄은 부하에 적응하는 조직입니다.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감당 가능한 운동부터 단계적으로!"/>
          <p:cNvSpPr txBox="1"/>
          <p:nvPr/>
        </p:nvSpPr>
        <p:spPr>
          <a:xfrm>
            <a:off x="1700212" y="8925812"/>
            <a:ext cx="688642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감당 가능한 운동부터 단계적으로!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무조건 쉬기보다,"/>
          <p:cNvSpPr txBox="1"/>
          <p:nvPr/>
        </p:nvSpPr>
        <p:spPr>
          <a:xfrm>
            <a:off x="3149054" y="9844677"/>
            <a:ext cx="398874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무조건 쉬기보다,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감당 가능한 부하부터"/>
          <p:cNvSpPr txBox="1"/>
          <p:nvPr/>
        </p:nvSpPr>
        <p:spPr>
          <a:xfrm>
            <a:off x="2788593" y="10389388"/>
            <a:ext cx="470966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감당 가능한 부하</a:t>
            </a: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부터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1" name="텍스트: 참고: Cook 2016 · Kongsgaa"/>
          <p:cNvSpPr txBox="1"/>
          <p:nvPr/>
        </p:nvSpPr>
        <p:spPr>
          <a:xfrm>
            <a:off x="1380976" y="11154698"/>
            <a:ext cx="7525048" cy="3429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50" b="0" i="0" spc="-22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참고: Cook 2016 · Kongsgaard 2009 · Breda 2021</a:t>
            </a:r>
            <a:endParaRPr lang="ko-KR" altLang="en-US" sz="2250" b="0" i="0" spc="-22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4457700" y="5438031"/>
            <a:ext cx="1104900" cy="495300"/>
          </a:xfrm>
          <a:prstGeom prst="roundRect">
            <a:avLst>
              <a:gd name="adj" fmla="val 15385"/>
            </a:avLst>
          </a:prstGeom>
          <a:solidFill>
            <a:srgbClr val="C9D9E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4457700" y="6180981"/>
            <a:ext cx="2009775" cy="495300"/>
          </a:xfrm>
          <a:prstGeom prst="roundRect">
            <a:avLst>
              <a:gd name="adj" fmla="val 15385"/>
            </a:avLst>
          </a:prstGeom>
          <a:solidFill>
            <a:srgbClr val="C9D9E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4457700" y="6923931"/>
            <a:ext cx="2124075" cy="495300"/>
          </a:xfrm>
          <a:prstGeom prst="roundRect">
            <a:avLst>
              <a:gd name="adj" fmla="val 15385"/>
            </a:avLst>
          </a:prstGeom>
          <a:solidFill>
            <a:srgbClr val="C9D9E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연한 박스"/>
          <p:cNvSpPr/>
          <p:nvPr/>
        </p:nvSpPr>
        <p:spPr>
          <a:xfrm>
            <a:off x="4457700" y="7666881"/>
            <a:ext cx="3524250" cy="495300"/>
          </a:xfrm>
          <a:prstGeom prst="roundRect">
            <a:avLst>
              <a:gd name="adj" fmla="val 15385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4457700" y="8409831"/>
            <a:ext cx="3695700" cy="495300"/>
          </a:xfrm>
          <a:prstGeom prst="roundRect">
            <a:avLst>
              <a:gd name="adj" fmla="val 15385"/>
            </a:avLst>
          </a:prstGeom>
          <a:solidFill>
            <a:srgbClr val="0879D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: 운동마다 힘줄이"/>
          <p:cNvSpPr txBox="1"/>
          <p:nvPr/>
        </p:nvSpPr>
        <p:spPr>
          <a:xfrm>
            <a:off x="1995488" y="102908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운동마다 힘줄이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9" name="텍스트: 받는 부하는 다릅니다"/>
          <p:cNvSpPr txBox="1"/>
          <p:nvPr/>
        </p:nvSpPr>
        <p:spPr>
          <a:xfrm>
            <a:off x="1189434" y="1989171"/>
            <a:ext cx="790798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받는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부하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는 다릅니다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0" name="텍스트: 스쿼트부터 점프까지, 운동마다"/>
          <p:cNvSpPr txBox="1"/>
          <p:nvPr/>
        </p:nvSpPr>
        <p:spPr>
          <a:xfrm>
            <a:off x="1952774" y="3278826"/>
            <a:ext cx="6381452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스쿼트부터 점프까지, 운동마다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힘의 크기와 증가 속도가 다릅니다."/>
          <p:cNvSpPr txBox="1"/>
          <p:nvPr/>
        </p:nvSpPr>
        <p:spPr>
          <a:xfrm>
            <a:off x="1655266" y="3873841"/>
            <a:ext cx="697646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힘의 크기와 증가 속도가 다릅니다.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슬개건 부하 지수 (건강한 성인 20명)"/>
          <p:cNvSpPr txBox="1"/>
          <p:nvPr/>
        </p:nvSpPr>
        <p:spPr>
          <a:xfrm>
            <a:off x="2039243" y="4835759"/>
            <a:ext cx="620836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슬개건 부하 지수 (건강한 성인 20명)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양발 60° 스쿼트"/>
          <p:cNvSpPr txBox="1"/>
          <p:nvPr/>
        </p:nvSpPr>
        <p:spPr>
          <a:xfrm>
            <a:off x="1012180" y="5492835"/>
            <a:ext cx="334759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양발 60° 스쿼트</a:t>
            </a:r>
            <a:endParaRPr lang="ko-KR" altLang="en-US" sz="2700" b="0" i="0" spc="-81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4" name="텍스트: 0.224"/>
          <p:cNvSpPr txBox="1"/>
          <p:nvPr/>
        </p:nvSpPr>
        <p:spPr>
          <a:xfrm>
            <a:off x="5148411" y="5481626"/>
            <a:ext cx="2123629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0.224</a:t>
            </a:r>
            <a:endParaRPr lang="ko-KR" altLang="en-US" sz="2850" b="0" i="0" spc="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5" name="텍스트: 불가리안 스쿼트"/>
          <p:cNvSpPr txBox="1"/>
          <p:nvPr/>
        </p:nvSpPr>
        <p:spPr>
          <a:xfrm>
            <a:off x="1003548" y="6235785"/>
            <a:ext cx="336500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불가리안 스쿼트</a:t>
            </a:r>
            <a:endParaRPr lang="ko-KR" altLang="en-US" sz="2700" b="0" i="0" spc="-81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6" name="텍스트: 0.406"/>
          <p:cNvSpPr txBox="1"/>
          <p:nvPr/>
        </p:nvSpPr>
        <p:spPr>
          <a:xfrm>
            <a:off x="6053286" y="6224576"/>
            <a:ext cx="2123629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0.406</a:t>
            </a:r>
            <a:endParaRPr lang="ko-KR" altLang="en-US" sz="2850" b="0" i="0" spc="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7" name="텍스트: 양발 풀 스쿼트"/>
          <p:cNvSpPr txBox="1"/>
          <p:nvPr/>
        </p:nvSpPr>
        <p:spPr>
          <a:xfrm>
            <a:off x="1113234" y="6978735"/>
            <a:ext cx="314563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양발 풀 스쿼트</a:t>
            </a:r>
            <a:endParaRPr lang="ko-KR" altLang="en-US" sz="2700" b="0" i="0" spc="-81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18" name="텍스트: 0.428"/>
          <p:cNvSpPr txBox="1"/>
          <p:nvPr/>
        </p:nvSpPr>
        <p:spPr>
          <a:xfrm>
            <a:off x="6167586" y="6967526"/>
            <a:ext cx="2123629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0.428</a:t>
            </a:r>
            <a:endParaRPr lang="ko-KR" altLang="en-US" sz="2850" b="0" i="0" spc="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9" name="텍스트: 한발 반동 점프"/>
          <p:cNvSpPr txBox="1"/>
          <p:nvPr/>
        </p:nvSpPr>
        <p:spPr>
          <a:xfrm>
            <a:off x="1113234" y="7721685"/>
            <a:ext cx="314563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한발 반동 점프</a:t>
            </a:r>
            <a:endParaRPr lang="ko-KR" altLang="en-US" sz="2700" b="0" i="0" spc="-81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20" name="텍스트: 0.711"/>
          <p:cNvSpPr txBox="1"/>
          <p:nvPr/>
        </p:nvSpPr>
        <p:spPr>
          <a:xfrm>
            <a:off x="7567761" y="7710476"/>
            <a:ext cx="2123629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0.711</a:t>
            </a:r>
            <a:endParaRPr lang="ko-KR" altLang="en-US" sz="2850" b="0" i="0" spc="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21" name="텍스트: 한발 디클라인 스쿼트"/>
          <p:cNvSpPr txBox="1"/>
          <p:nvPr/>
        </p:nvSpPr>
        <p:spPr>
          <a:xfrm>
            <a:off x="655439" y="8464635"/>
            <a:ext cx="4061222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81" kern="0" dirty="0">
                <a:solidFill>
                  <a:srgbClr val="121416"/>
                </a:solidFill>
                <a:latin typeface="RCardnews W650" pitchFamily="34" charset="-127"/>
                <a:ea typeface="RCardnews W650" pitchFamily="34" charset="-127"/>
                <a:cs typeface="RCardnews W650" pitchFamily="34" charset="-127"/>
              </a:rPr>
              <a:t xml:space="preserve">한발 디클라인 스쿼트</a:t>
            </a:r>
            <a:endParaRPr lang="ko-KR" altLang="en-US" sz="2700" b="0" i="0" spc="-81" kern="0" dirty="0">
              <a:solidFill>
                <a:srgbClr val="121416"/>
              </a:solidFill>
              <a:latin typeface="RCardnews W650" pitchFamily="34" charset="-127"/>
              <a:ea typeface="RCardnews W650" pitchFamily="34" charset="-127"/>
              <a:cs typeface="RCardnews W650" pitchFamily="34" charset="-127"/>
            </a:endParaRPr>
          </a:p>
        </p:txBody>
      </p:sp>
      <p:sp>
        <p:nvSpPr>
          <p:cNvPr id="22" name="텍스트: 0.747"/>
          <p:cNvSpPr txBox="1"/>
          <p:nvPr/>
        </p:nvSpPr>
        <p:spPr>
          <a:xfrm>
            <a:off x="7739211" y="8453426"/>
            <a:ext cx="2123629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0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0.747</a:t>
            </a:r>
            <a:endParaRPr lang="ko-KR" altLang="en-US" sz="2850" b="0" i="0" spc="0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23" name="텍스트: 어떤 운동이냐에 따라"/>
          <p:cNvSpPr txBox="1"/>
          <p:nvPr/>
        </p:nvSpPr>
        <p:spPr>
          <a:xfrm>
            <a:off x="2788593" y="9292227"/>
            <a:ext cx="470966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어떤 운동이냐에 따라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4" name="텍스트: 부하의 특성이 달라집니다"/>
          <p:cNvSpPr txBox="1"/>
          <p:nvPr/>
        </p:nvSpPr>
        <p:spPr>
          <a:xfrm>
            <a:off x="2415629" y="9836938"/>
            <a:ext cx="545574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부하의 특성</a:t>
            </a: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이 달라집니다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5" name="텍스트: 지수가 높다고 위험한 운동은 아닙니다"/>
          <p:cNvSpPr txBox="1"/>
          <p:nvPr/>
        </p:nvSpPr>
        <p:spPr>
          <a:xfrm>
            <a:off x="1924794" y="10500902"/>
            <a:ext cx="6437412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지수가 높다고 위험한 운동은 아닙니다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6" name="텍스트: 출처: Scattone Silva et al"/>
          <p:cNvSpPr txBox="1"/>
          <p:nvPr/>
        </p:nvSpPr>
        <p:spPr>
          <a:xfrm>
            <a:off x="1081385" y="11158418"/>
            <a:ext cx="8124081" cy="3429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50" b="0" i="0" spc="-22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출처: Scattone Silva et al., Med Sci Sports Exerc 2024</a:t>
            </a:r>
            <a:endParaRPr lang="ko-KR" altLang="en-US" sz="2250" b="0" i="0" spc="-22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힘의 크기 힘-시간 모식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24710"/>
            <a:ext cx="2590800" cy="2095500"/>
          </a:xfrm>
          <a:prstGeom prst="rect">
            <a:avLst/>
          </a:prstGeom>
        </p:spPr>
      </p:pic>
      <p:pic>
        <p:nvPicPr>
          <p:cNvPr id="3" name="사진" descr="증가 속도 힘-시간 모식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4824710"/>
            <a:ext cx="2590800" cy="2095500"/>
          </a:xfrm>
          <a:prstGeom prst="rect">
            <a:avLst/>
          </a:prstGeom>
        </p:spPr>
      </p:pic>
      <p:pic>
        <p:nvPicPr>
          <p:cNvPr id="4" name="사진" descr="누적 부하 힘-시간 모식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4824710"/>
            <a:ext cx="2590800" cy="2095500"/>
          </a:xfrm>
          <a:prstGeom prst="rect">
            <a:avLst/>
          </a:prstGeom>
        </p:spPr>
      </p:pic>
      <p:sp>
        <p:nvSpPr>
          <p:cNvPr id="5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: 무게만이 운동 강도를"/>
          <p:cNvSpPr txBox="1"/>
          <p:nvPr/>
        </p:nvSpPr>
        <p:spPr>
          <a:xfrm>
            <a:off x="1189434" y="1029081"/>
            <a:ext cx="790798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무게만이 운동 강도를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결정하지 않습니다"/>
          <p:cNvSpPr txBox="1"/>
          <p:nvPr/>
        </p:nvSpPr>
        <p:spPr>
          <a:xfrm>
            <a:off x="1641425" y="1989171"/>
            <a:ext cx="700385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결정하지 않습니다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8" name="텍스트: 힘줄이 받는 자극은 힘의 크기,"/>
          <p:cNvSpPr txBox="1"/>
          <p:nvPr/>
        </p:nvSpPr>
        <p:spPr>
          <a:xfrm>
            <a:off x="2032248" y="3278826"/>
            <a:ext cx="62222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힘줄이 받는 자극은 힘의 크기,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증가 속도, 지속 시간에 따라 달라집니다."/>
          <p:cNvSpPr txBox="1"/>
          <p:nvPr/>
        </p:nvSpPr>
        <p:spPr>
          <a:xfrm>
            <a:off x="1165027" y="3873841"/>
            <a:ext cx="795679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증가 속도, 지속 시간에 따라 달라집니다.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힘의 크기"/>
          <p:cNvSpPr txBox="1"/>
          <p:nvPr/>
        </p:nvSpPr>
        <p:spPr>
          <a:xfrm>
            <a:off x="912465" y="7114520"/>
            <a:ext cx="259467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90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힘의 크기</a:t>
            </a:r>
            <a:endParaRPr lang="ko-KR" altLang="en-US" sz="3000" b="0" i="0" spc="-90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1" name="텍스트: 얼마나"/>
          <p:cNvSpPr txBox="1"/>
          <p:nvPr/>
        </p:nvSpPr>
        <p:spPr>
          <a:xfrm>
            <a:off x="1175296" y="7655159"/>
            <a:ext cx="206886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얼마나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큰 힘?"/>
          <p:cNvSpPr txBox="1"/>
          <p:nvPr/>
        </p:nvSpPr>
        <p:spPr>
          <a:xfrm>
            <a:off x="1203871" y="8135130"/>
            <a:ext cx="201171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큰 힘?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증가 속도"/>
          <p:cNvSpPr txBox="1"/>
          <p:nvPr/>
        </p:nvSpPr>
        <p:spPr>
          <a:xfrm>
            <a:off x="3846165" y="7114520"/>
            <a:ext cx="259467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90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증가 속도</a:t>
            </a:r>
            <a:endParaRPr lang="ko-KR" altLang="en-US" sz="3000" b="0" i="0" spc="-90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얼마나"/>
          <p:cNvSpPr txBox="1"/>
          <p:nvPr/>
        </p:nvSpPr>
        <p:spPr>
          <a:xfrm>
            <a:off x="4108996" y="7655159"/>
            <a:ext cx="206886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얼마나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빠르게 커지나?"/>
          <p:cNvSpPr txBox="1"/>
          <p:nvPr/>
        </p:nvSpPr>
        <p:spPr>
          <a:xfrm>
            <a:off x="3520380" y="8135130"/>
            <a:ext cx="324609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빠르게 커지나?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누적 부하"/>
          <p:cNvSpPr txBox="1"/>
          <p:nvPr/>
        </p:nvSpPr>
        <p:spPr>
          <a:xfrm>
            <a:off x="6779865" y="7114520"/>
            <a:ext cx="259467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90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누적 부하</a:t>
            </a:r>
            <a:endParaRPr lang="ko-KR" altLang="en-US" sz="3000" b="0" i="0" spc="-90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7" name="텍스트: 시간 동안"/>
          <p:cNvSpPr txBox="1"/>
          <p:nvPr/>
        </p:nvSpPr>
        <p:spPr>
          <a:xfrm>
            <a:off x="6843712" y="7655159"/>
            <a:ext cx="246667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시간 동안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8" name="텍스트: 얼마나 쌓이나?"/>
          <p:cNvSpPr txBox="1"/>
          <p:nvPr/>
        </p:nvSpPr>
        <p:spPr>
          <a:xfrm>
            <a:off x="6454080" y="8135130"/>
            <a:ext cx="324609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얼마나 쌓이나?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가로 = 시간, 세로 = 힘 (개념 그림)"/>
          <p:cNvSpPr txBox="1"/>
          <p:nvPr/>
        </p:nvSpPr>
        <p:spPr>
          <a:xfrm>
            <a:off x="2210842" y="8729401"/>
            <a:ext cx="58651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가로 = 시간, 세로 = 힘 (개념 그림)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0" name="텍스트: 무게뿐 아니라 힘이 커지는 속도와"/>
          <p:cNvSpPr txBox="1"/>
          <p:nvPr/>
        </p:nvSpPr>
        <p:spPr>
          <a:xfrm>
            <a:off x="1751261" y="9585418"/>
            <a:ext cx="678433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무게뿐 아니라 </a:t>
            </a:r>
            <a:r>
              <a:rPr lang="ko-KR" altLang="en-US" sz="3300" b="0" i="0" spc="-99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힘이 커지는 속도</a:t>
            </a: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와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1" name="텍스트: 지속 시간도 함께 봅니다"/>
          <p:cNvSpPr txBox="1"/>
          <p:nvPr/>
        </p:nvSpPr>
        <p:spPr>
          <a:xfrm>
            <a:off x="2549723" y="10130129"/>
            <a:ext cx="518740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지속 시간도 함께 봅니다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2" name="텍스트: 참고: Scattone Silva et al"/>
          <p:cNvSpPr txBox="1"/>
          <p:nvPr/>
        </p:nvSpPr>
        <p:spPr>
          <a:xfrm>
            <a:off x="1081385" y="10857339"/>
            <a:ext cx="8124081" cy="3429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50" b="0" i="0" spc="-22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참고: Scattone Silva et al., Med Sci Sports Exerc 2024</a:t>
            </a:r>
            <a:endParaRPr lang="ko-KR" altLang="en-US" sz="2250" b="0" i="0" spc="-22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바벨을 메고 스쿼트하는 여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48510"/>
            <a:ext cx="4114800" cy="3848100"/>
          </a:xfrm>
          <a:prstGeom prst="rect">
            <a:avLst/>
          </a:prstGeom>
        </p:spPr>
      </p:pic>
      <p:pic>
        <p:nvPicPr>
          <p:cNvPr id="3" name="사진" descr="박스 위로 점프하는 선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748510"/>
            <a:ext cx="4114800" cy="3848100"/>
          </a:xfrm>
          <a:prstGeom prst="rect">
            <a:avLst/>
          </a:prstGeom>
        </p:spPr>
      </p:pic>
      <p:sp>
        <p:nvSpPr>
          <p:cNvPr id="4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텍스트: 강한 힘에서"/>
          <p:cNvSpPr txBox="1"/>
          <p:nvPr/>
        </p:nvSpPr>
        <p:spPr>
          <a:xfrm>
            <a:off x="2703761" y="102908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강한 힘에서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빠른 힘까지!"/>
          <p:cNvSpPr txBox="1"/>
          <p:nvPr/>
        </p:nvSpPr>
        <p:spPr>
          <a:xfrm>
            <a:off x="2560886" y="1989171"/>
            <a:ext cx="516522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빠른 힘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까지!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근력을 회복한 뒤에는 점프·착지처럼"/>
          <p:cNvSpPr txBox="1"/>
          <p:nvPr/>
        </p:nvSpPr>
        <p:spPr>
          <a:xfrm>
            <a:off x="1521023" y="3278826"/>
            <a:ext cx="724480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근력을 회복한 뒤에는 점프·착지처럼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빠르고 반복적인 부하에도 적응합니다."/>
          <p:cNvSpPr txBox="1"/>
          <p:nvPr/>
        </p:nvSpPr>
        <p:spPr>
          <a:xfrm>
            <a:off x="1332458" y="3873841"/>
            <a:ext cx="762193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빠르고 반복적인 부하에도 적응합니다.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천천히, 높은 힘"/>
          <p:cNvSpPr txBox="1"/>
          <p:nvPr/>
        </p:nvSpPr>
        <p:spPr>
          <a:xfrm>
            <a:off x="1111448" y="8793206"/>
            <a:ext cx="372055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천천히, 높은 힘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최대 근력 · 저항운동"/>
          <p:cNvSpPr txBox="1"/>
          <p:nvPr/>
        </p:nvSpPr>
        <p:spPr>
          <a:xfrm>
            <a:off x="984200" y="9342870"/>
            <a:ext cx="397505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최대 근력 · 저항운동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빠르게, 반복적으로"/>
          <p:cNvSpPr txBox="1"/>
          <p:nvPr/>
        </p:nvSpPr>
        <p:spPr>
          <a:xfrm>
            <a:off x="5134273" y="8793206"/>
            <a:ext cx="43617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빠르게, 반복적으로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빠른 부하 · 스포츠 동작"/>
          <p:cNvSpPr txBox="1"/>
          <p:nvPr/>
        </p:nvSpPr>
        <p:spPr>
          <a:xfrm>
            <a:off x="5128766" y="9342870"/>
            <a:ext cx="43728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빠른 부하 · 스포츠 동작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근력이 좋아져도 점프 능력이"/>
          <p:cNvSpPr txBox="1"/>
          <p:nvPr/>
        </p:nvSpPr>
        <p:spPr>
          <a:xfrm>
            <a:off x="2176760" y="10160788"/>
            <a:ext cx="5933331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근력이 좋아져도 점프 능력이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저절로 돌아오지는 않습니다"/>
          <p:cNvSpPr txBox="1"/>
          <p:nvPr/>
        </p:nvSpPr>
        <p:spPr>
          <a:xfrm>
            <a:off x="2228999" y="10705499"/>
            <a:ext cx="582870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저절로</a:t>
            </a: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 돌아오지는 않습니다</a:t>
            </a:r>
            <a:endParaRPr lang="ko-KR" altLang="en-US" sz="3300" b="0" i="0" spc="-99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5" name="텍스트: 참고: Breda et al., Br J S"/>
          <p:cNvSpPr txBox="1"/>
          <p:nvPr/>
        </p:nvSpPr>
        <p:spPr>
          <a:xfrm>
            <a:off x="1957090" y="11432709"/>
            <a:ext cx="6372671" cy="3429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50" b="0" i="0" spc="-22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참고: Breda et al., Br J Sports Med 2021</a:t>
            </a:r>
            <a:endParaRPr lang="ko-KR" altLang="en-US" sz="2250" b="0" i="0" spc="-22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CFE6F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연한 박스"/>
          <p:cNvSpPr/>
          <p:nvPr/>
        </p:nvSpPr>
        <p:spPr>
          <a:xfrm>
            <a:off x="1688455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CFE6F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연한 박스"/>
          <p:cNvSpPr/>
          <p:nvPr/>
        </p:nvSpPr>
        <p:spPr>
          <a:xfrm>
            <a:off x="2462510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CFE6F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연한 박스"/>
          <p:cNvSpPr/>
          <p:nvPr/>
        </p:nvSpPr>
        <p:spPr>
          <a:xfrm>
            <a:off x="3236565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CFE6F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4010620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연한 박스"/>
          <p:cNvSpPr/>
          <p:nvPr/>
        </p:nvSpPr>
        <p:spPr>
          <a:xfrm>
            <a:off x="4784675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연한 박스"/>
          <p:cNvSpPr/>
          <p:nvPr/>
        </p:nvSpPr>
        <p:spPr>
          <a:xfrm>
            <a:off x="5558730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연한 박스"/>
          <p:cNvSpPr/>
          <p:nvPr/>
        </p:nvSpPr>
        <p:spPr>
          <a:xfrm>
            <a:off x="6332786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연한 박스"/>
          <p:cNvSpPr/>
          <p:nvPr/>
        </p:nvSpPr>
        <p:spPr>
          <a:xfrm>
            <a:off x="7106841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연한 박스"/>
          <p:cNvSpPr/>
          <p:nvPr/>
        </p:nvSpPr>
        <p:spPr>
          <a:xfrm>
            <a:off x="7880896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연한 박스"/>
          <p:cNvSpPr/>
          <p:nvPr/>
        </p:nvSpPr>
        <p:spPr>
          <a:xfrm>
            <a:off x="8654951" y="6143625"/>
            <a:ext cx="716905" cy="685800"/>
          </a:xfrm>
          <a:prstGeom prst="roundRect">
            <a:avLst>
              <a:gd name="adj" fmla="val 11111"/>
            </a:avLst>
          </a:prstGeom>
          <a:solidFill>
            <a:srgbClr val="E8EDF1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: 그럼 운동 강도는"/>
          <p:cNvSpPr txBox="1"/>
          <p:nvPr/>
        </p:nvSpPr>
        <p:spPr>
          <a:xfrm>
            <a:off x="1897559" y="102908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그럼 운동 강도는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5" name="텍스트: 언제 높여야 할까요?"/>
          <p:cNvSpPr txBox="1"/>
          <p:nvPr/>
        </p:nvSpPr>
        <p:spPr>
          <a:xfrm>
            <a:off x="1344662" y="1989171"/>
            <a:ext cx="75975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언제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 높여야 할까요?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16" name="텍스트: ① 지금 운동을 안정적으로 하는가?"/>
          <p:cNvSpPr txBox="1"/>
          <p:nvPr/>
        </p:nvSpPr>
        <p:spPr>
          <a:xfrm>
            <a:off x="1597819" y="3431226"/>
            <a:ext cx="7091362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① 지금 운동을 안정적으로 하는가?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② 운동 중 통증이 관리 가능한가?"/>
          <p:cNvSpPr txBox="1"/>
          <p:nvPr/>
        </p:nvSpPr>
        <p:spPr>
          <a:xfrm>
            <a:off x="1731913" y="4273891"/>
            <a:ext cx="682317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② 운동 중 통증이 관리 가능한가?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8" name="텍스트: ③ 다음 날 증상이 나빠지지 않는가?"/>
          <p:cNvSpPr txBox="1"/>
          <p:nvPr/>
        </p:nvSpPr>
        <p:spPr>
          <a:xfrm>
            <a:off x="1543348" y="5116556"/>
            <a:ext cx="720030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③ 다음 날 증상이 나빠지지 않는가?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0"/>
          <p:cNvSpPr txBox="1"/>
          <p:nvPr/>
        </p:nvSpPr>
        <p:spPr>
          <a:xfrm>
            <a:off x="611386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0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0" name="텍스트: 1"/>
          <p:cNvSpPr txBox="1"/>
          <p:nvPr/>
        </p:nvSpPr>
        <p:spPr>
          <a:xfrm>
            <a:off x="1385441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1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1" name="텍스트: 2"/>
          <p:cNvSpPr txBox="1"/>
          <p:nvPr/>
        </p:nvSpPr>
        <p:spPr>
          <a:xfrm>
            <a:off x="2159496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2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2" name="텍스트: 3"/>
          <p:cNvSpPr txBox="1"/>
          <p:nvPr/>
        </p:nvSpPr>
        <p:spPr>
          <a:xfrm>
            <a:off x="2933551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3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3" name="텍스트: 4"/>
          <p:cNvSpPr txBox="1"/>
          <p:nvPr/>
        </p:nvSpPr>
        <p:spPr>
          <a:xfrm>
            <a:off x="3707606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4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4" name="텍스트: 5"/>
          <p:cNvSpPr txBox="1"/>
          <p:nvPr/>
        </p:nvSpPr>
        <p:spPr>
          <a:xfrm>
            <a:off x="4481661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5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5" name="텍스트: 6"/>
          <p:cNvSpPr txBox="1"/>
          <p:nvPr/>
        </p:nvSpPr>
        <p:spPr>
          <a:xfrm>
            <a:off x="5255716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6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6" name="텍스트: 7"/>
          <p:cNvSpPr txBox="1"/>
          <p:nvPr/>
        </p:nvSpPr>
        <p:spPr>
          <a:xfrm>
            <a:off x="6029771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7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7" name="텍스트: 8"/>
          <p:cNvSpPr txBox="1"/>
          <p:nvPr/>
        </p:nvSpPr>
        <p:spPr>
          <a:xfrm>
            <a:off x="6803827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8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8" name="텍스트: 9"/>
          <p:cNvSpPr txBox="1"/>
          <p:nvPr/>
        </p:nvSpPr>
        <p:spPr>
          <a:xfrm>
            <a:off x="7577882" y="6323838"/>
            <a:ext cx="1322933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9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9" name="텍스트: 10"/>
          <p:cNvSpPr txBox="1"/>
          <p:nvPr/>
        </p:nvSpPr>
        <p:spPr>
          <a:xfrm>
            <a:off x="8262045" y="6323838"/>
            <a:ext cx="1502718" cy="3619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0" i="0" spc="0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10</a:t>
            </a:r>
            <a:endParaRPr lang="ko-KR" altLang="en-US" sz="2400" b="0" i="0" spc="0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30" name="텍스트: 연구 예시: 한발 스쿼트 통증 3/10 이하"/>
          <p:cNvSpPr txBox="1"/>
          <p:nvPr/>
        </p:nvSpPr>
        <p:spPr>
          <a:xfrm>
            <a:off x="1844278" y="7050024"/>
            <a:ext cx="659829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연구 예시: 한발 스쿼트 통증 </a:t>
            </a:r>
            <a:r>
              <a:rPr lang="ko-KR" altLang="en-US" sz="2700" b="0" i="0" spc="-54" kern="0" dirty="0">
                <a:solidFill>
                  <a:srgbClr val="0879D8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3/10 이하</a:t>
            </a: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,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31" name="텍스트: 한 단계 최소 1주 수행 후 다음 단계"/>
          <p:cNvSpPr txBox="1"/>
          <p:nvPr/>
        </p:nvSpPr>
        <p:spPr>
          <a:xfrm>
            <a:off x="2159496" y="7529995"/>
            <a:ext cx="596771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한 단계 최소 1주 수행 후 다음 단계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32" name="텍스트: 중량·범위·속도·반복량을 조금씩 ↑"/>
          <p:cNvSpPr txBox="1"/>
          <p:nvPr/>
        </p:nvSpPr>
        <p:spPr>
          <a:xfrm>
            <a:off x="1644402" y="8462212"/>
            <a:ext cx="699804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99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중량·범위·속도·반복량을 </a:t>
            </a:r>
            <a:r>
              <a:rPr lang="ko-KR" altLang="en-US" sz="3300" b="0" i="0" spc="-99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조금씩 ↑</a:t>
            </a:r>
            <a:endParaRPr lang="ko-KR" altLang="en-US" sz="3300" b="0" i="0" spc="-99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33" name="텍스트: 재활의 목표는 통증 감소를 넘어"/>
          <p:cNvSpPr txBox="1"/>
          <p:nvPr/>
        </p:nvSpPr>
        <p:spPr>
          <a:xfrm>
            <a:off x="1458962" y="9544895"/>
            <a:ext cx="7368927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재활의 목표는 통증 감소를 넘어</a:t>
            </a:r>
            <a:endParaRPr lang="ko-KR" altLang="en-US" sz="3900" b="0" i="0" spc="-117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34" name="텍스트: 다시 뛰고 점프하는 것입니다"/>
          <p:cNvSpPr txBox="1"/>
          <p:nvPr/>
        </p:nvSpPr>
        <p:spPr>
          <a:xfrm>
            <a:off x="1741140" y="10188726"/>
            <a:ext cx="6804422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다시 뛰고 점프하는 것</a:t>
            </a:r>
            <a:r>
              <a:rPr lang="ko-KR" altLang="en-US" sz="3900" b="0" i="0" spc="-117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입니다</a:t>
            </a:r>
            <a:endParaRPr lang="ko-KR" altLang="en-US" sz="3900" b="0" i="0" spc="-117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35" name="텍스트: 참고: Breda 2021 (모든 사람의 기"/>
          <p:cNvSpPr txBox="1"/>
          <p:nvPr/>
        </p:nvSpPr>
        <p:spPr>
          <a:xfrm>
            <a:off x="1922711" y="10991433"/>
            <a:ext cx="6441579" cy="3429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50" b="0" i="0" spc="-22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참고: Breda 2021 (모든 사람의 기준은 아님)</a:t>
            </a:r>
            <a:endParaRPr lang="ko-KR" altLang="en-US" sz="2250" b="0" i="0" spc="-22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patellar-tendinopathy-loading</dc:title>
  <dc:creator>R스포츠재활센터</dc:creator>
</cp:coreProperties>
</file>