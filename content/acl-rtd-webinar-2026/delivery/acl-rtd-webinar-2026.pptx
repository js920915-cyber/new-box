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0287000" cy="12858750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01-photo1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05-photo1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사진" descr="공을 몰며 방향을 바꾸는 선수의 다리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414689"/>
            <a:ext cx="8458200" cy="4953000"/>
          </a:xfrm>
          <a:prstGeom prst="rect">
            <a:avLst/>
          </a:prstGeom>
        </p:spPr>
      </p:pic>
      <p:sp>
        <p:nvSpPr>
          <p:cNvPr id="3" name="B01 프레임"/>
          <p:cNvSpPr/>
          <p:nvPr/>
        </p:nvSpPr>
        <p:spPr>
          <a:xfrm>
            <a:off x="323850" y="323850"/>
            <a:ext cx="9639300" cy="12211050"/>
          </a:xfrm>
          <a:prstGeom prst="roundRect">
            <a:avLst>
              <a:gd name="adj" fmla="val 2767"/>
            </a:avLst>
          </a:prstGeom>
          <a:noFill/>
          <a:ln w="19050">
            <a:solidFill>
              <a:srgbClr val="D0DCE5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4" name="텍스트: ACL 수술 후,"/>
          <p:cNvSpPr txBox="1"/>
          <p:nvPr/>
        </p:nvSpPr>
        <p:spPr>
          <a:xfrm>
            <a:off x="2373957" y="1021842"/>
            <a:ext cx="5538936" cy="10096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600" b="0" i="0" spc="-231" kern="0" dirty="0">
                <a:solidFill>
                  <a:srgbClr val="121416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ACL 수술 후,</a:t>
            </a:r>
            <a:endParaRPr lang="ko-KR" altLang="en-US" sz="6600" b="0" i="0" spc="-231" kern="0" dirty="0">
              <a:solidFill>
                <a:srgbClr val="121416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5" name="텍스트: 근력만 회복하면"/>
          <p:cNvSpPr txBox="1"/>
          <p:nvPr/>
        </p:nvSpPr>
        <p:spPr>
          <a:xfrm>
            <a:off x="1872853" y="2010805"/>
            <a:ext cx="6541145" cy="10096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600" b="0" i="0" spc="-231" kern="0" dirty="0">
                <a:solidFill>
                  <a:srgbClr val="121416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근력만 회복하면</a:t>
            </a:r>
            <a:endParaRPr lang="ko-KR" altLang="en-US" sz="6600" b="0" i="0" spc="-231" kern="0" dirty="0">
              <a:solidFill>
                <a:srgbClr val="121416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6" name="텍스트: 충분할까요?"/>
          <p:cNvSpPr txBox="1"/>
          <p:nvPr/>
        </p:nvSpPr>
        <p:spPr>
          <a:xfrm>
            <a:off x="2508945" y="2999768"/>
            <a:ext cx="5268813" cy="10096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600" b="0" i="0" spc="-231" kern="0" dirty="0">
                <a:solidFill>
                  <a:srgbClr val="0879D8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충분</a:t>
            </a:r>
            <a:r>
              <a:rPr lang="ko-KR" altLang="en-US" sz="6600" b="0" i="0" spc="-231" kern="0" dirty="0">
                <a:solidFill>
                  <a:srgbClr val="121416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할까요?</a:t>
            </a:r>
            <a:endParaRPr lang="ko-KR" altLang="en-US" sz="6600" b="0" i="0" spc="-231" kern="0" dirty="0">
              <a:solidFill>
                <a:srgbClr val="121416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7" name="텍스트: 근력 좌우 차이가 줄었다면,"/>
          <p:cNvSpPr txBox="1"/>
          <p:nvPr/>
        </p:nvSpPr>
        <p:spPr>
          <a:xfrm>
            <a:off x="2275433" y="9888135"/>
            <a:ext cx="5735985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121416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근력 좌우 차이가 줄었다면,</a:t>
            </a:r>
            <a:endParaRPr lang="ko-KR" altLang="en-US" sz="3300" b="0" i="0" spc="-66" kern="0" dirty="0">
              <a:solidFill>
                <a:srgbClr val="121416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8" name="텍스트: 복귀 준비도 끝난 걸까요?"/>
          <p:cNvSpPr txBox="1"/>
          <p:nvPr/>
        </p:nvSpPr>
        <p:spPr>
          <a:xfrm>
            <a:off x="2423368" y="10483150"/>
            <a:ext cx="5440114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121416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복귀 준비도 끝난 걸까요?</a:t>
            </a:r>
            <a:endParaRPr lang="ko-KR" altLang="en-US" sz="3300" b="0" i="0" spc="-66" kern="0" dirty="0">
              <a:solidFill>
                <a:srgbClr val="121416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01 프레임"/>
          <p:cNvSpPr/>
          <p:nvPr/>
        </p:nvSpPr>
        <p:spPr>
          <a:xfrm>
            <a:off x="323850" y="323850"/>
            <a:ext cx="9639300" cy="12211050"/>
          </a:xfrm>
          <a:prstGeom prst="roundRect">
            <a:avLst>
              <a:gd name="adj" fmla="val 2767"/>
            </a:avLst>
          </a:prstGeom>
          <a:noFill/>
          <a:ln w="19050">
            <a:solidFill>
              <a:srgbClr val="D0DCE5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" name="텍스트: 복귀 테스트를"/>
          <p:cNvSpPr txBox="1"/>
          <p:nvPr/>
        </p:nvSpPr>
        <p:spPr>
          <a:xfrm>
            <a:off x="2349550" y="1029081"/>
            <a:ext cx="5587603" cy="9620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300" b="0" i="0" spc="-220" kern="0" dirty="0">
                <a:solidFill>
                  <a:srgbClr val="121416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복귀 테스트를</a:t>
            </a:r>
            <a:endParaRPr lang="ko-KR" altLang="en-US" sz="6300" b="0" i="0" spc="-220" kern="0" dirty="0">
              <a:solidFill>
                <a:srgbClr val="121416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4" name="텍스트: 모두 통과한 선수"/>
          <p:cNvSpPr txBox="1"/>
          <p:nvPr/>
        </p:nvSpPr>
        <p:spPr>
          <a:xfrm>
            <a:off x="1897559" y="1989171"/>
            <a:ext cx="6491734" cy="9620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300" b="0" i="0" spc="-220" kern="0" dirty="0">
                <a:solidFill>
                  <a:srgbClr val="121416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모두 통과한 선수</a:t>
            </a:r>
            <a:endParaRPr lang="ko-KR" altLang="en-US" sz="6300" b="0" i="0" spc="-220" kern="0" dirty="0">
              <a:solidFill>
                <a:srgbClr val="121416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5" name="텍스트: 53명"/>
          <p:cNvSpPr txBox="1"/>
          <p:nvPr/>
        </p:nvSpPr>
        <p:spPr>
          <a:xfrm>
            <a:off x="2965252" y="3321117"/>
            <a:ext cx="4356348" cy="1924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600" b="0" i="0" spc="-504" kern="0" dirty="0">
                <a:solidFill>
                  <a:srgbClr val="0879D8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53명</a:t>
            </a:r>
            <a:endParaRPr lang="ko-KR" altLang="en-US" sz="12600" b="0" i="0" spc="-504" kern="0" dirty="0">
              <a:solidFill>
                <a:srgbClr val="0879D8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6" name="텍스트: 근력검사와 한발 홉 테스트에서"/>
          <p:cNvSpPr txBox="1"/>
          <p:nvPr/>
        </p:nvSpPr>
        <p:spPr>
          <a:xfrm>
            <a:off x="1956792" y="5654719"/>
            <a:ext cx="6373416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121416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근력검사와 한발 홉 테스트에서</a:t>
            </a:r>
            <a:endParaRPr lang="ko-KR" altLang="en-US" sz="3300" b="0" i="0" spc="-66" kern="0" dirty="0">
              <a:solidFill>
                <a:srgbClr val="121416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7" name="텍스트: 좌우 대칭 90% 이상,"/>
          <p:cNvSpPr txBox="1"/>
          <p:nvPr/>
        </p:nvSpPr>
        <p:spPr>
          <a:xfrm>
            <a:off x="2795290" y="6249734"/>
            <a:ext cx="4696271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121416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좌우 대칭 90% 이상,</a:t>
            </a:r>
            <a:endParaRPr lang="ko-KR" altLang="en-US" sz="3300" b="0" i="0" spc="-66" kern="0" dirty="0">
              <a:solidFill>
                <a:srgbClr val="121416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8" name="텍스트: 무릎 기능 설문도 90% 이상이었습니다."/>
          <p:cNvSpPr txBox="1"/>
          <p:nvPr/>
        </p:nvSpPr>
        <p:spPr>
          <a:xfrm>
            <a:off x="1232148" y="6844748"/>
            <a:ext cx="7822704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121416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무릎 기능 설문도 90% 이상이었습니다.</a:t>
            </a:r>
            <a:endParaRPr lang="ko-KR" altLang="en-US" sz="3300" b="0" i="0" spc="-66" kern="0" dirty="0">
              <a:solidFill>
                <a:srgbClr val="121416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9" name="텍스트: 그런데 실험실 장비로"/>
          <p:cNvSpPr txBox="1"/>
          <p:nvPr/>
        </p:nvSpPr>
        <p:spPr>
          <a:xfrm>
            <a:off x="2302222" y="8113371"/>
            <a:ext cx="5682258" cy="6381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200" b="0" i="0" spc="-126" kern="0" dirty="0">
                <a:solidFill>
                  <a:srgbClr val="121416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그런데 실험실 장비로</a:t>
            </a:r>
            <a:endParaRPr lang="ko-KR" altLang="en-US" sz="4200" b="0" i="0" spc="-126" kern="0" dirty="0">
              <a:solidFill>
                <a:srgbClr val="121416"/>
              </a:solidFill>
              <a:latin typeface="RCardnews W800" pitchFamily="34" charset="-127"/>
              <a:ea typeface="RCardnews W800" pitchFamily="34" charset="-127"/>
              <a:cs typeface="RCardnews W800" pitchFamily="34" charset="-127"/>
            </a:endParaRPr>
          </a:p>
        </p:txBody>
      </p:sp>
      <p:sp>
        <p:nvSpPr>
          <p:cNvPr id="10" name="텍스트: 다시 측정하자 차이가 보였습니다"/>
          <p:cNvSpPr txBox="1"/>
          <p:nvPr/>
        </p:nvSpPr>
        <p:spPr>
          <a:xfrm>
            <a:off x="1048792" y="8806761"/>
            <a:ext cx="8189268" cy="6381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200" b="0" i="0" spc="-126" kern="0" dirty="0">
                <a:solidFill>
                  <a:srgbClr val="121416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다시 측정하자 차이가 보였습니다</a:t>
            </a:r>
            <a:endParaRPr lang="ko-KR" altLang="en-US" sz="4200" b="0" i="0" spc="-126" kern="0" dirty="0">
              <a:solidFill>
                <a:srgbClr val="121416"/>
              </a:solidFill>
              <a:latin typeface="RCardnews W800" pitchFamily="34" charset="-127"/>
              <a:ea typeface="RCardnews W800" pitchFamily="34" charset="-127"/>
              <a:cs typeface="RCardnews W800" pitchFamily="34" charset="-127"/>
            </a:endParaRPr>
          </a:p>
        </p:txBody>
      </p:sp>
      <p:sp>
        <p:nvSpPr>
          <p:cNvPr id="11" name="텍스트: 방향전환이 많은 종목 선수"/>
          <p:cNvSpPr txBox="1"/>
          <p:nvPr/>
        </p:nvSpPr>
        <p:spPr>
          <a:xfrm>
            <a:off x="2740819" y="10031647"/>
            <a:ext cx="4805214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-54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방향전환이 많은 종목 선수</a:t>
            </a:r>
            <a:endParaRPr lang="ko-KR" altLang="en-US" sz="2700" b="0" i="0" spc="-54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2" name="텍스트: 평균 17세 · 수술 후 평균 10.5개월"/>
          <p:cNvSpPr txBox="1"/>
          <p:nvPr/>
        </p:nvSpPr>
        <p:spPr>
          <a:xfrm>
            <a:off x="2156520" y="10511617"/>
            <a:ext cx="5973812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-54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평균 17세 · 수술 후 평균 10.5개월</a:t>
            </a:r>
            <a:endParaRPr lang="ko-KR" altLang="en-US" sz="2700" b="0" i="0" spc="-54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연한 박스"/>
          <p:cNvSpPr/>
          <p:nvPr/>
        </p:nvSpPr>
        <p:spPr>
          <a:xfrm>
            <a:off x="8515350" y="4804321"/>
            <a:ext cx="28575" cy="4000500"/>
          </a:xfrm>
          <a:prstGeom prst="rect">
            <a:avLst/>
          </a:prstGeom>
          <a:solidFill>
            <a:srgbClr val="121416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" name="연한 박스"/>
          <p:cNvSpPr/>
          <p:nvPr/>
        </p:nvSpPr>
        <p:spPr>
          <a:xfrm>
            <a:off x="914400" y="5413921"/>
            <a:ext cx="8458200" cy="533400"/>
          </a:xfrm>
          <a:prstGeom prst="roundRect">
            <a:avLst>
              <a:gd name="adj" fmla="val 17857"/>
            </a:avLst>
          </a:prstGeom>
          <a:solidFill>
            <a:srgbClr val="F0F7FC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4" name="연한 박스"/>
          <p:cNvSpPr/>
          <p:nvPr/>
        </p:nvSpPr>
        <p:spPr>
          <a:xfrm>
            <a:off x="914400" y="5413921"/>
            <a:ext cx="7820025" cy="533400"/>
          </a:xfrm>
          <a:prstGeom prst="roundRect">
            <a:avLst>
              <a:gd name="adj" fmla="val 17857"/>
            </a:avLst>
          </a:prstGeom>
          <a:solidFill>
            <a:srgbClr val="8A96A3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" name="연한 박스"/>
          <p:cNvSpPr/>
          <p:nvPr/>
        </p:nvSpPr>
        <p:spPr>
          <a:xfrm>
            <a:off x="914400" y="6842671"/>
            <a:ext cx="8458200" cy="533400"/>
          </a:xfrm>
          <a:prstGeom prst="roundRect">
            <a:avLst>
              <a:gd name="adj" fmla="val 17857"/>
            </a:avLst>
          </a:prstGeom>
          <a:solidFill>
            <a:srgbClr val="F0F7FC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" name="연한 박스"/>
          <p:cNvSpPr/>
          <p:nvPr/>
        </p:nvSpPr>
        <p:spPr>
          <a:xfrm>
            <a:off x="914400" y="6842671"/>
            <a:ext cx="6686550" cy="533400"/>
          </a:xfrm>
          <a:prstGeom prst="roundRect">
            <a:avLst>
              <a:gd name="adj" fmla="val 17857"/>
            </a:avLst>
          </a:prstGeom>
          <a:solidFill>
            <a:srgbClr val="0879D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7" name="연한 박스"/>
          <p:cNvSpPr/>
          <p:nvPr/>
        </p:nvSpPr>
        <p:spPr>
          <a:xfrm>
            <a:off x="914400" y="8271421"/>
            <a:ext cx="8458200" cy="533400"/>
          </a:xfrm>
          <a:prstGeom prst="roundRect">
            <a:avLst>
              <a:gd name="adj" fmla="val 17857"/>
            </a:avLst>
          </a:prstGeom>
          <a:solidFill>
            <a:srgbClr val="F0F7FC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8" name="연한 박스"/>
          <p:cNvSpPr/>
          <p:nvPr/>
        </p:nvSpPr>
        <p:spPr>
          <a:xfrm>
            <a:off x="914400" y="8271421"/>
            <a:ext cx="6457950" cy="533400"/>
          </a:xfrm>
          <a:prstGeom prst="roundRect">
            <a:avLst>
              <a:gd name="adj" fmla="val 17857"/>
            </a:avLst>
          </a:prstGeom>
          <a:solidFill>
            <a:srgbClr val="0879D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9" name="B01 프레임"/>
          <p:cNvSpPr/>
          <p:nvPr/>
        </p:nvSpPr>
        <p:spPr>
          <a:xfrm>
            <a:off x="323850" y="323850"/>
            <a:ext cx="9639300" cy="12211050"/>
          </a:xfrm>
          <a:prstGeom prst="roundRect">
            <a:avLst>
              <a:gd name="adj" fmla="val 2767"/>
            </a:avLst>
          </a:prstGeom>
          <a:noFill/>
          <a:ln w="19050">
            <a:solidFill>
              <a:srgbClr val="D0DCE5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0" name="텍스트: 근력은 92.4%,"/>
          <p:cNvSpPr txBox="1"/>
          <p:nvPr/>
        </p:nvSpPr>
        <p:spPr>
          <a:xfrm>
            <a:off x="2101900" y="1029081"/>
            <a:ext cx="6082903" cy="9620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300" b="0" i="0" spc="-220" kern="0" dirty="0">
                <a:solidFill>
                  <a:srgbClr val="121416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근력은 92.4%,</a:t>
            </a:r>
            <a:endParaRPr lang="ko-KR" altLang="en-US" sz="6300" b="0" i="0" spc="-220" kern="0" dirty="0">
              <a:solidFill>
                <a:srgbClr val="121416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11" name="텍스트: 힘을 올리는 속도는"/>
          <p:cNvSpPr txBox="1"/>
          <p:nvPr/>
        </p:nvSpPr>
        <p:spPr>
          <a:xfrm>
            <a:off x="1543496" y="1989171"/>
            <a:ext cx="7199858" cy="9620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300" b="0" i="0" spc="-220" kern="0" dirty="0">
                <a:solidFill>
                  <a:srgbClr val="121416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힘을 올리는 속도는</a:t>
            </a:r>
            <a:endParaRPr lang="ko-KR" altLang="en-US" sz="6300" b="0" i="0" spc="-220" kern="0" dirty="0">
              <a:solidFill>
                <a:srgbClr val="121416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12" name="텍스트: 79.1%"/>
          <p:cNvSpPr txBox="1"/>
          <p:nvPr/>
        </p:nvSpPr>
        <p:spPr>
          <a:xfrm>
            <a:off x="3386435" y="2949261"/>
            <a:ext cx="3513832" cy="9620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300" b="0" i="0" spc="-220" kern="0" dirty="0">
                <a:solidFill>
                  <a:srgbClr val="0879D8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79.1%</a:t>
            </a:r>
            <a:endParaRPr lang="ko-KR" altLang="en-US" sz="6300" b="0" i="0" spc="-220" kern="0" dirty="0">
              <a:solidFill>
                <a:srgbClr val="0879D8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13" name="텍스트: 기준 90%"/>
          <p:cNvSpPr txBox="1"/>
          <p:nvPr/>
        </p:nvSpPr>
        <p:spPr>
          <a:xfrm>
            <a:off x="7222480" y="4281970"/>
            <a:ext cx="2604790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0" kern="0" dirty="0">
                <a:solidFill>
                  <a:srgbClr val="121416"/>
                </a:solidFill>
                <a:latin typeface="RCardnews W700" pitchFamily="34" charset="-127"/>
                <a:ea typeface="RCardnews W700" pitchFamily="34" charset="-127"/>
                <a:cs typeface="RCardnews W700" pitchFamily="34" charset="-127"/>
              </a:rPr>
              <a:t xml:space="preserve">기준 90%</a:t>
            </a:r>
            <a:endParaRPr lang="ko-KR" altLang="en-US" sz="2700" b="0" i="0" spc="0" kern="0" dirty="0">
              <a:solidFill>
                <a:srgbClr val="121416"/>
              </a:solidFill>
              <a:latin typeface="RCardnews W700" pitchFamily="34" charset="-127"/>
              <a:ea typeface="RCardnews W700" pitchFamily="34" charset="-127"/>
              <a:cs typeface="RCardnews W700" pitchFamily="34" charset="-127"/>
            </a:endParaRPr>
          </a:p>
        </p:txBody>
      </p:sp>
      <p:sp>
        <p:nvSpPr>
          <p:cNvPr id="14" name="텍스트: 최대 근력 92.4%"/>
          <p:cNvSpPr txBox="1"/>
          <p:nvPr/>
        </p:nvSpPr>
        <p:spPr>
          <a:xfrm>
            <a:off x="3208288" y="4846231"/>
            <a:ext cx="3870424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000" b="0" i="0" spc="-60" kern="0" dirty="0">
                <a:solidFill>
                  <a:srgbClr val="121416"/>
                </a:solidFill>
                <a:latin typeface="RCardnews W650" pitchFamily="34" charset="-127"/>
                <a:ea typeface="RCardnews W650" pitchFamily="34" charset="-127"/>
                <a:cs typeface="RCardnews W650" pitchFamily="34" charset="-127"/>
              </a:rPr>
              <a:t xml:space="preserve">최대 근력 </a:t>
            </a:r>
            <a:r>
              <a:rPr lang="ko-KR" altLang="en-US" sz="3000" b="0" i="0" spc="-60" kern="0" dirty="0">
                <a:solidFill>
                  <a:srgbClr val="8A96A3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92.4%</a:t>
            </a:r>
            <a:endParaRPr lang="ko-KR" altLang="en-US" sz="3000" b="0" i="0" spc="-60" kern="0" dirty="0">
              <a:solidFill>
                <a:srgbClr val="8A96A3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15" name="텍스트: 힘을 올리는 속도 (0.1~0.2초) 79."/>
          <p:cNvSpPr txBox="1"/>
          <p:nvPr/>
        </p:nvSpPr>
        <p:spPr>
          <a:xfrm>
            <a:off x="1636514" y="6274981"/>
            <a:ext cx="7013972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000" b="0" i="0" spc="-60" kern="0" dirty="0">
                <a:solidFill>
                  <a:srgbClr val="121416"/>
                </a:solidFill>
                <a:latin typeface="RCardnews W650" pitchFamily="34" charset="-127"/>
                <a:ea typeface="RCardnews W650" pitchFamily="34" charset="-127"/>
                <a:cs typeface="RCardnews W650" pitchFamily="34" charset="-127"/>
              </a:rPr>
              <a:t xml:space="preserve">힘을 올리는 속도 (0.1~0.2초) </a:t>
            </a:r>
            <a:r>
              <a:rPr lang="ko-KR" altLang="en-US" sz="3000" b="0" i="0" spc="-60" kern="0" dirty="0">
                <a:solidFill>
                  <a:srgbClr val="0879D8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79.1%</a:t>
            </a:r>
            <a:endParaRPr lang="ko-KR" altLang="en-US" sz="3000" b="0" i="0" spc="-60" kern="0" dirty="0">
              <a:solidFill>
                <a:srgbClr val="0879D8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16" name="텍스트: 한발 점프의 무릎 파워 76.4%"/>
          <p:cNvSpPr txBox="1"/>
          <p:nvPr/>
        </p:nvSpPr>
        <p:spPr>
          <a:xfrm>
            <a:off x="2251918" y="7703731"/>
            <a:ext cx="5783014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000" b="0" i="0" spc="-60" kern="0" dirty="0">
                <a:solidFill>
                  <a:srgbClr val="121416"/>
                </a:solidFill>
                <a:latin typeface="RCardnews W650" pitchFamily="34" charset="-127"/>
                <a:ea typeface="RCardnews W650" pitchFamily="34" charset="-127"/>
                <a:cs typeface="RCardnews W650" pitchFamily="34" charset="-127"/>
              </a:rPr>
              <a:t xml:space="preserve">한발 점프의 무릎 파워 </a:t>
            </a:r>
            <a:r>
              <a:rPr lang="ko-KR" altLang="en-US" sz="3000" b="0" i="0" spc="-60" kern="0" dirty="0">
                <a:solidFill>
                  <a:srgbClr val="0879D8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76.4%</a:t>
            </a:r>
            <a:endParaRPr lang="ko-KR" altLang="en-US" sz="3000" b="0" i="0" spc="-60" kern="0" dirty="0">
              <a:solidFill>
                <a:srgbClr val="0879D8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17" name="텍스트: 근력 회복만으로는 보이지 않는"/>
          <p:cNvSpPr txBox="1"/>
          <p:nvPr/>
        </p:nvSpPr>
        <p:spPr>
          <a:xfrm>
            <a:off x="1956792" y="9401467"/>
            <a:ext cx="6373416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121416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근력 회복만으로는 보이지 않는</a:t>
            </a:r>
            <a:endParaRPr lang="ko-KR" altLang="en-US" sz="3300" b="0" i="0" spc="-66" kern="0" dirty="0">
              <a:solidFill>
                <a:srgbClr val="121416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8" name="텍스트: 차이가 있었습니다."/>
          <p:cNvSpPr txBox="1"/>
          <p:nvPr/>
        </p:nvSpPr>
        <p:spPr>
          <a:xfrm>
            <a:off x="2950220" y="9996482"/>
            <a:ext cx="4386411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121416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차이가 있었습니다.</a:t>
            </a:r>
            <a:endParaRPr lang="ko-KR" altLang="en-US" sz="3300" b="0" i="0" spc="-66" kern="0" dirty="0">
              <a:solidFill>
                <a:srgbClr val="121416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9" name="텍스트: 좌우 대칭성(수술한 다리 ÷ 반대 다리) 집"/>
          <p:cNvSpPr txBox="1"/>
          <p:nvPr/>
        </p:nvSpPr>
        <p:spPr>
          <a:xfrm>
            <a:off x="1199108" y="10805999"/>
            <a:ext cx="7888635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-54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좌우 대칭성(수술한 다리 ÷ 반대 다리) 집단 평균</a:t>
            </a:r>
            <a:endParaRPr lang="ko-KR" altLang="en-US" sz="2700" b="0" i="0" spc="-54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20" name="텍스트: 세 값은 서로 다른 검사의 결과입니다"/>
          <p:cNvSpPr txBox="1"/>
          <p:nvPr/>
        </p:nvSpPr>
        <p:spPr>
          <a:xfrm>
            <a:off x="2034332" y="11285970"/>
            <a:ext cx="6218039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-54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세 값은 서로 다른 검사의 결과입니다</a:t>
            </a:r>
            <a:endParaRPr lang="ko-KR" altLang="en-US" sz="2700" b="0" i="0" spc="-54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구분선"/>
          <p:cNvSpPr/>
          <p:nvPr/>
        </p:nvSpPr>
        <p:spPr>
          <a:xfrm>
            <a:off x="914400" y="5265986"/>
            <a:ext cx="8458200" cy="19050"/>
          </a:xfrm>
          <a:prstGeom prst="rect">
            <a:avLst/>
          </a:prstGeom>
          <a:solidFill>
            <a:srgbClr val="D0DCE5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" name="B01 프레임"/>
          <p:cNvSpPr/>
          <p:nvPr/>
        </p:nvSpPr>
        <p:spPr>
          <a:xfrm>
            <a:off x="323850" y="323850"/>
            <a:ext cx="9639300" cy="12211050"/>
          </a:xfrm>
          <a:prstGeom prst="roundRect">
            <a:avLst>
              <a:gd name="adj" fmla="val 2767"/>
            </a:avLst>
          </a:prstGeom>
          <a:noFill/>
          <a:ln w="19050">
            <a:solidFill>
              <a:srgbClr val="D0DCE5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4" name="텍스트: 큰 힘과"/>
          <p:cNvSpPr txBox="1"/>
          <p:nvPr/>
        </p:nvSpPr>
        <p:spPr>
          <a:xfrm>
            <a:off x="3411736" y="1029081"/>
            <a:ext cx="3463379" cy="9620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300" b="0" i="0" spc="-220" kern="0" dirty="0">
                <a:solidFill>
                  <a:srgbClr val="121416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큰 힘과</a:t>
            </a:r>
            <a:endParaRPr lang="ko-KR" altLang="en-US" sz="6300" b="0" i="0" spc="-220" kern="0" dirty="0">
              <a:solidFill>
                <a:srgbClr val="121416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5" name="텍스트: 빠른 힘은 다릅니다"/>
          <p:cNvSpPr txBox="1"/>
          <p:nvPr/>
        </p:nvSpPr>
        <p:spPr>
          <a:xfrm>
            <a:off x="1543496" y="1989171"/>
            <a:ext cx="7199858" cy="9620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300" b="0" i="0" spc="-220" kern="0" dirty="0">
                <a:solidFill>
                  <a:srgbClr val="0879D8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빠른 힘</a:t>
            </a:r>
            <a:r>
              <a:rPr lang="ko-KR" altLang="en-US" sz="6300" b="0" i="0" spc="-220" kern="0" dirty="0">
                <a:solidFill>
                  <a:srgbClr val="121416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은 다릅니다</a:t>
            </a:r>
            <a:endParaRPr lang="ko-KR" altLang="en-US" sz="6300" b="0" i="0" spc="-220" kern="0" dirty="0">
              <a:solidFill>
                <a:srgbClr val="121416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6" name="텍스트: 큰 힘 · 최대 근력"/>
          <p:cNvSpPr txBox="1"/>
          <p:nvPr/>
        </p:nvSpPr>
        <p:spPr>
          <a:xfrm>
            <a:off x="2742605" y="3571434"/>
            <a:ext cx="4801642" cy="6381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200" b="0" i="0" spc="-126" kern="0" dirty="0">
                <a:solidFill>
                  <a:srgbClr val="121416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큰 힘 · 최대 근력</a:t>
            </a:r>
            <a:endParaRPr lang="ko-KR" altLang="en-US" sz="4200" b="0" i="0" spc="-126" kern="0" dirty="0">
              <a:solidFill>
                <a:srgbClr val="121416"/>
              </a:solidFill>
              <a:latin typeface="RCardnews W800" pitchFamily="34" charset="-127"/>
              <a:ea typeface="RCardnews W800" pitchFamily="34" charset="-127"/>
              <a:cs typeface="RCardnews W800" pitchFamily="34" charset="-127"/>
            </a:endParaRPr>
          </a:p>
        </p:txBody>
      </p:sp>
      <p:sp>
        <p:nvSpPr>
          <p:cNvPr id="7" name="텍스트: 얼마나 큰 힘을 낼 수 있는가"/>
          <p:cNvSpPr txBox="1"/>
          <p:nvPr/>
        </p:nvSpPr>
        <p:spPr>
          <a:xfrm>
            <a:off x="2224980" y="4353217"/>
            <a:ext cx="5837039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얼마나 큰 힘을 낼 수 있는가</a:t>
            </a:r>
            <a:endParaRPr lang="ko-KR" altLang="en-US" sz="3300" b="0" i="0" spc="-66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8" name="텍스트: 빠른 힘 · 힘을 올리는 속도"/>
          <p:cNvSpPr txBox="1"/>
          <p:nvPr/>
        </p:nvSpPr>
        <p:spPr>
          <a:xfrm>
            <a:off x="1726555" y="5717090"/>
            <a:ext cx="6833890" cy="6381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200" b="0" i="0" spc="-126" kern="0" dirty="0">
                <a:solidFill>
                  <a:srgbClr val="0879D8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빠른 힘 · 힘을 올리는 속도</a:t>
            </a:r>
            <a:endParaRPr lang="ko-KR" altLang="en-US" sz="4200" b="0" i="0" spc="-126" kern="0" dirty="0">
              <a:solidFill>
                <a:srgbClr val="0879D8"/>
              </a:solidFill>
              <a:latin typeface="RCardnews W800" pitchFamily="34" charset="-127"/>
              <a:ea typeface="RCardnews W800" pitchFamily="34" charset="-127"/>
              <a:cs typeface="RCardnews W800" pitchFamily="34" charset="-127"/>
            </a:endParaRPr>
          </a:p>
        </p:txBody>
      </p:sp>
      <p:sp>
        <p:nvSpPr>
          <p:cNvPr id="9" name="텍스트: 힘을 내기 시작한 뒤 0.1~0.2초 사이"/>
          <p:cNvSpPr txBox="1"/>
          <p:nvPr/>
        </p:nvSpPr>
        <p:spPr>
          <a:xfrm>
            <a:off x="1531293" y="6498872"/>
            <a:ext cx="7224266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힘을 내기 시작한 뒤 0.1~0.2초 사이</a:t>
            </a:r>
            <a:endParaRPr lang="ko-KR" altLang="en-US" sz="3300" b="0" i="0" spc="-66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0" name="텍스트: 얼마나 빨리 힘을 올리는가"/>
          <p:cNvSpPr txBox="1"/>
          <p:nvPr/>
        </p:nvSpPr>
        <p:spPr>
          <a:xfrm>
            <a:off x="2333923" y="7093887"/>
            <a:ext cx="5619006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얼마나 빨리 힘을 올리는가</a:t>
            </a:r>
            <a:endParaRPr lang="ko-KR" altLang="en-US" sz="3300" b="0" i="0" spc="-66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1" name="텍스트: 점프·착지·방향전환처럼 짧은 순간에는"/>
          <p:cNvSpPr txBox="1"/>
          <p:nvPr/>
        </p:nvSpPr>
        <p:spPr>
          <a:xfrm>
            <a:off x="1213247" y="8298501"/>
            <a:ext cx="7860357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121416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점프·착지·방향전환처럼 짧은 순간에는</a:t>
            </a:r>
            <a:endParaRPr lang="ko-KR" altLang="en-US" sz="3300" b="0" i="0" spc="-66" kern="0" dirty="0">
              <a:solidFill>
                <a:srgbClr val="121416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2" name="텍스트: 힘을 빠르게 내는 능력이 필요합니다."/>
          <p:cNvSpPr txBox="1"/>
          <p:nvPr/>
        </p:nvSpPr>
        <p:spPr>
          <a:xfrm>
            <a:off x="1466552" y="8893516"/>
            <a:ext cx="7353746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121416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힘을 빠르게 내는 능력이 필요합니다.</a:t>
            </a:r>
            <a:endParaRPr lang="ko-KR" altLang="en-US" sz="3300" b="0" i="0" spc="-66" kern="0" dirty="0">
              <a:solidFill>
                <a:srgbClr val="121416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3" name="텍스트: 연구진은 빠른 힘 발휘를"/>
          <p:cNvSpPr txBox="1"/>
          <p:nvPr/>
        </p:nvSpPr>
        <p:spPr>
          <a:xfrm>
            <a:off x="2522488" y="9793331"/>
            <a:ext cx="5241875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121416"/>
                </a:solidFill>
                <a:latin typeface="RCardnews W750" pitchFamily="34" charset="-127"/>
                <a:ea typeface="RCardnews W750" pitchFamily="34" charset="-127"/>
                <a:cs typeface="RCardnews W750" pitchFamily="34" charset="-127"/>
              </a:rPr>
              <a:t xml:space="preserve">연구진은 빠른 힘 발휘를</a:t>
            </a:r>
            <a:endParaRPr lang="ko-KR" altLang="en-US" sz="3300" b="0" i="0" spc="-66" kern="0" dirty="0">
              <a:solidFill>
                <a:srgbClr val="121416"/>
              </a:solidFill>
              <a:latin typeface="RCardnews W750" pitchFamily="34" charset="-127"/>
              <a:ea typeface="RCardnews W750" pitchFamily="34" charset="-127"/>
              <a:cs typeface="RCardnews W750" pitchFamily="34" charset="-127"/>
            </a:endParaRPr>
          </a:p>
        </p:txBody>
      </p:sp>
      <p:sp>
        <p:nvSpPr>
          <p:cNvPr id="14" name="텍스트: 재활 전 과정에서 개선하자고 제안합니다."/>
          <p:cNvSpPr txBox="1"/>
          <p:nvPr/>
        </p:nvSpPr>
        <p:spPr>
          <a:xfrm>
            <a:off x="1082278" y="10388346"/>
            <a:ext cx="8122295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121416"/>
                </a:solidFill>
                <a:latin typeface="RCardnews W750" pitchFamily="34" charset="-127"/>
                <a:ea typeface="RCardnews W750" pitchFamily="34" charset="-127"/>
                <a:cs typeface="RCardnews W750" pitchFamily="34" charset="-127"/>
              </a:rPr>
              <a:t xml:space="preserve">재활 전 과정에서 개선하자고 제안합니다.</a:t>
            </a:r>
            <a:endParaRPr lang="ko-KR" altLang="en-US" sz="3300" b="0" i="0" spc="-66" kern="0" dirty="0">
              <a:solidFill>
                <a:srgbClr val="121416"/>
              </a:solidFill>
              <a:latin typeface="RCardnews W750" pitchFamily="34" charset="-127"/>
              <a:ea typeface="RCardnews W750" pitchFamily="34" charset="-127"/>
              <a:cs typeface="RCardnews W750" pitchFamily="34" charset="-12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사진" descr="달리기 훈련을 하는 선수들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291780"/>
            <a:ext cx="8458200" cy="3236863"/>
          </a:xfrm>
          <a:prstGeom prst="rect">
            <a:avLst/>
          </a:prstGeom>
        </p:spPr>
      </p:pic>
      <p:sp>
        <p:nvSpPr>
          <p:cNvPr id="3" name="연한 박스"/>
          <p:cNvSpPr/>
          <p:nvPr/>
        </p:nvSpPr>
        <p:spPr>
          <a:xfrm>
            <a:off x="914400" y="9454455"/>
            <a:ext cx="8458200" cy="2470845"/>
          </a:xfrm>
          <a:prstGeom prst="roundRect">
            <a:avLst>
              <a:gd name="adj" fmla="val 7710"/>
            </a:avLst>
          </a:prstGeom>
          <a:solidFill>
            <a:srgbClr val="F0F7FC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4" name="B01 프레임"/>
          <p:cNvSpPr/>
          <p:nvPr/>
        </p:nvSpPr>
        <p:spPr>
          <a:xfrm>
            <a:off x="323850" y="323850"/>
            <a:ext cx="9639300" cy="12211050"/>
          </a:xfrm>
          <a:prstGeom prst="roundRect">
            <a:avLst>
              <a:gd name="adj" fmla="val 2767"/>
            </a:avLst>
          </a:prstGeom>
          <a:noFill/>
          <a:ln w="19050">
            <a:solidFill>
              <a:srgbClr val="D0DCE5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" name="텍스트: 다음 단계는"/>
          <p:cNvSpPr txBox="1"/>
          <p:nvPr/>
        </p:nvSpPr>
        <p:spPr>
          <a:xfrm>
            <a:off x="2703761" y="1029081"/>
            <a:ext cx="4879479" cy="9620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300" b="0" i="0" spc="-220" kern="0" dirty="0">
                <a:solidFill>
                  <a:srgbClr val="121416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다음 단계는</a:t>
            </a:r>
            <a:endParaRPr lang="ko-KR" altLang="en-US" sz="6300" b="0" i="0" spc="-220" kern="0" dirty="0">
              <a:solidFill>
                <a:srgbClr val="121416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6" name="텍스트: 무엇으로 정할까요?"/>
          <p:cNvSpPr txBox="1"/>
          <p:nvPr/>
        </p:nvSpPr>
        <p:spPr>
          <a:xfrm>
            <a:off x="1442740" y="1989171"/>
            <a:ext cx="7401520" cy="9620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300" b="0" i="0" spc="-220" kern="0" dirty="0">
                <a:solidFill>
                  <a:srgbClr val="121416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무엇으로 정할까요?</a:t>
            </a:r>
            <a:endParaRPr lang="ko-KR" altLang="en-US" sz="6300" b="0" i="0" spc="-220" kern="0" dirty="0">
              <a:solidFill>
                <a:srgbClr val="121416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7" name="텍스트: 근력을 더 키울까?"/>
          <p:cNvSpPr txBox="1"/>
          <p:nvPr/>
        </p:nvSpPr>
        <p:spPr>
          <a:xfrm>
            <a:off x="2919859" y="6956125"/>
            <a:ext cx="4447282" cy="5524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600" b="0" i="0" spc="-108" kern="0" dirty="0">
                <a:solidFill>
                  <a:srgbClr val="121416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근력을 더 키울까?</a:t>
            </a:r>
            <a:endParaRPr lang="ko-KR" altLang="en-US" sz="3600" b="0" i="0" spc="-108" kern="0" dirty="0">
              <a:solidFill>
                <a:srgbClr val="121416"/>
              </a:solidFill>
              <a:latin typeface="RCardnews W800" pitchFamily="34" charset="-127"/>
              <a:ea typeface="RCardnews W800" pitchFamily="34" charset="-127"/>
              <a:cs typeface="RCardnews W800" pitchFamily="34" charset="-127"/>
            </a:endParaRPr>
          </a:p>
        </p:txBody>
      </p:sp>
      <p:sp>
        <p:nvSpPr>
          <p:cNvPr id="8" name="텍스트: 점프·파워를 시작할까?"/>
          <p:cNvSpPr txBox="1"/>
          <p:nvPr/>
        </p:nvSpPr>
        <p:spPr>
          <a:xfrm>
            <a:off x="2439591" y="7721846"/>
            <a:ext cx="5407819" cy="5524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600" b="0" i="0" spc="-108" kern="0" dirty="0">
                <a:solidFill>
                  <a:srgbClr val="121416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점프·파워를 시작할까?</a:t>
            </a:r>
            <a:endParaRPr lang="ko-KR" altLang="en-US" sz="3600" b="0" i="0" spc="-108" kern="0" dirty="0">
              <a:solidFill>
                <a:srgbClr val="121416"/>
              </a:solidFill>
              <a:latin typeface="RCardnews W800" pitchFamily="34" charset="-127"/>
              <a:ea typeface="RCardnews W800" pitchFamily="34" charset="-127"/>
              <a:cs typeface="RCardnews W800" pitchFamily="34" charset="-127"/>
            </a:endParaRPr>
          </a:p>
        </p:txBody>
      </p:sp>
      <p:sp>
        <p:nvSpPr>
          <p:cNvPr id="9" name="텍스트: 달리기·방향전환은 언제?"/>
          <p:cNvSpPr txBox="1"/>
          <p:nvPr/>
        </p:nvSpPr>
        <p:spPr>
          <a:xfrm>
            <a:off x="2236143" y="8487567"/>
            <a:ext cx="5814715" cy="5524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600" b="0" i="0" spc="-108" kern="0" dirty="0">
                <a:solidFill>
                  <a:srgbClr val="121416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달리기·방향전환은 언제?</a:t>
            </a:r>
            <a:endParaRPr lang="ko-KR" altLang="en-US" sz="3600" b="0" i="0" spc="-108" kern="0" dirty="0">
              <a:solidFill>
                <a:srgbClr val="121416"/>
              </a:solidFill>
              <a:latin typeface="RCardnews W800" pitchFamily="34" charset="-127"/>
              <a:ea typeface="RCardnews W800" pitchFamily="34" charset="-127"/>
              <a:cs typeface="RCardnews W800" pitchFamily="34" charset="-127"/>
            </a:endParaRPr>
          </a:p>
        </p:txBody>
      </p:sp>
      <p:sp>
        <p:nvSpPr>
          <p:cNvPr id="10" name="텍스트: 수술 후 시간은 필요하지만"/>
          <p:cNvSpPr txBox="1"/>
          <p:nvPr/>
        </p:nvSpPr>
        <p:spPr>
          <a:xfrm>
            <a:off x="2333923" y="9860601"/>
            <a:ext cx="5619006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121416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수술 후 시간은 필요하지만</a:t>
            </a:r>
            <a:endParaRPr lang="ko-KR" altLang="en-US" sz="3300" b="0" i="0" spc="-66" kern="0" dirty="0">
              <a:solidFill>
                <a:srgbClr val="121416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1" name="텍스트: 그것만으로는 충분하지 않습니다."/>
          <p:cNvSpPr txBox="1"/>
          <p:nvPr/>
        </p:nvSpPr>
        <p:spPr>
          <a:xfrm>
            <a:off x="1764209" y="10455616"/>
            <a:ext cx="6758583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121416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그것만으로는 충분하지 않습니다.</a:t>
            </a:r>
            <a:endParaRPr lang="ko-KR" altLang="en-US" sz="3300" b="0" i="0" spc="-66" kern="0" dirty="0">
              <a:solidFill>
                <a:srgbClr val="121416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2" name="텍스트: 객관적인 평가 기준이 함께 필요합니다."/>
          <p:cNvSpPr txBox="1"/>
          <p:nvPr/>
        </p:nvSpPr>
        <p:spPr>
          <a:xfrm>
            <a:off x="1277987" y="11050631"/>
            <a:ext cx="7731026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0879D8"/>
                </a:solidFill>
                <a:latin typeface="RCardnews W750" pitchFamily="34" charset="-127"/>
                <a:ea typeface="RCardnews W750" pitchFamily="34" charset="-127"/>
                <a:cs typeface="RCardnews W750" pitchFamily="34" charset="-127"/>
              </a:rPr>
              <a:t xml:space="preserve">객관적인 평가 기준</a:t>
            </a:r>
            <a:r>
              <a:rPr lang="ko-KR" altLang="en-US" sz="3300" b="0" i="0" spc="-66" kern="0" dirty="0">
                <a:solidFill>
                  <a:srgbClr val="121416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이 함께 필요합니다.</a:t>
            </a:r>
            <a:endParaRPr lang="ko-KR" altLang="en-US" sz="3300" b="0" i="0" spc="-66" kern="0" dirty="0">
              <a:solidFill>
                <a:srgbClr val="121416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연한 박스"/>
          <p:cNvSpPr/>
          <p:nvPr/>
        </p:nvSpPr>
        <p:spPr>
          <a:xfrm>
            <a:off x="914400" y="5861000"/>
            <a:ext cx="8458200" cy="4447282"/>
          </a:xfrm>
          <a:prstGeom prst="roundRect">
            <a:avLst>
              <a:gd name="adj" fmla="val 4284"/>
            </a:avLst>
          </a:prstGeom>
          <a:solidFill>
            <a:srgbClr val="F0F7FC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" name="B01 프레임"/>
          <p:cNvSpPr/>
          <p:nvPr/>
        </p:nvSpPr>
        <p:spPr>
          <a:xfrm>
            <a:off x="323850" y="323850"/>
            <a:ext cx="9639300" cy="12211050"/>
          </a:xfrm>
          <a:prstGeom prst="roundRect">
            <a:avLst>
              <a:gd name="adj" fmla="val 2767"/>
            </a:avLst>
          </a:prstGeom>
          <a:noFill/>
          <a:ln w="19050">
            <a:solidFill>
              <a:srgbClr val="D0DCE5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4" name="텍스트: ACL 재활,"/>
          <p:cNvSpPr txBox="1"/>
          <p:nvPr/>
        </p:nvSpPr>
        <p:spPr>
          <a:xfrm>
            <a:off x="2925961" y="1029081"/>
            <a:ext cx="4435078" cy="9620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300" b="0" i="0" spc="-220" kern="0" dirty="0">
                <a:solidFill>
                  <a:srgbClr val="121416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ACL 재활,</a:t>
            </a:r>
            <a:endParaRPr lang="ko-KR" altLang="en-US" sz="6300" b="0" i="0" spc="-220" kern="0" dirty="0">
              <a:solidFill>
                <a:srgbClr val="121416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5" name="텍스트: 다음 단계를"/>
          <p:cNvSpPr txBox="1"/>
          <p:nvPr/>
        </p:nvSpPr>
        <p:spPr>
          <a:xfrm>
            <a:off x="2703761" y="1989171"/>
            <a:ext cx="4879479" cy="9620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300" b="0" i="0" spc="-220" kern="0" dirty="0">
                <a:solidFill>
                  <a:srgbClr val="121416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다음 단계를</a:t>
            </a:r>
            <a:endParaRPr lang="ko-KR" altLang="en-US" sz="6300" b="0" i="0" spc="-220" kern="0" dirty="0">
              <a:solidFill>
                <a:srgbClr val="121416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6" name="텍스트: 결정하는 기준"/>
          <p:cNvSpPr txBox="1"/>
          <p:nvPr/>
        </p:nvSpPr>
        <p:spPr>
          <a:xfrm>
            <a:off x="2349698" y="2949261"/>
            <a:ext cx="5587603" cy="9620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300" b="0" i="0" spc="-220" kern="0" dirty="0">
                <a:solidFill>
                  <a:srgbClr val="0879D8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결정하는 기준</a:t>
            </a:r>
            <a:endParaRPr lang="ko-KR" altLang="en-US" sz="6300" b="0" i="0" spc="-220" kern="0" dirty="0">
              <a:solidFill>
                <a:srgbClr val="0879D8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7" name="텍스트: 근력 회복 이후 무엇을 평가하고"/>
          <p:cNvSpPr txBox="1"/>
          <p:nvPr/>
        </p:nvSpPr>
        <p:spPr>
          <a:xfrm>
            <a:off x="1902321" y="4277017"/>
            <a:ext cx="6482358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121416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근력 회복 이후 무엇을 평가하고</a:t>
            </a:r>
            <a:endParaRPr lang="ko-KR" altLang="en-US" sz="3300" b="0" i="0" spc="-66" kern="0" dirty="0">
              <a:solidFill>
                <a:srgbClr val="121416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8" name="텍스트: 어떤 기준으로 진행할까요?"/>
          <p:cNvSpPr txBox="1"/>
          <p:nvPr/>
        </p:nvSpPr>
        <p:spPr>
          <a:xfrm>
            <a:off x="2289274" y="4872032"/>
            <a:ext cx="5708303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121416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어떤 기준으로 진행할까요?</a:t>
            </a:r>
            <a:endParaRPr lang="ko-KR" altLang="en-US" sz="3300" b="0" i="0" spc="-66" kern="0" dirty="0">
              <a:solidFill>
                <a:srgbClr val="121416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9" name="텍스트: 2027 Criteria Based ACL "/>
          <p:cNvSpPr txBox="1"/>
          <p:nvPr/>
        </p:nvSpPr>
        <p:spPr>
          <a:xfrm>
            <a:off x="1226195" y="6253049"/>
            <a:ext cx="7834610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-54" kern="0" dirty="0">
                <a:solidFill>
                  <a:srgbClr val="121416"/>
                </a:solidFill>
                <a:latin typeface="RCardnews W650" pitchFamily="34" charset="-127"/>
                <a:ea typeface="RCardnews W650" pitchFamily="34" charset="-127"/>
                <a:cs typeface="RCardnews W650" pitchFamily="34" charset="-127"/>
              </a:rPr>
              <a:t xml:space="preserve">2027 Criteria Based ACL Rehab Workshop</a:t>
            </a:r>
            <a:endParaRPr lang="ko-KR" altLang="en-US" sz="2700" b="0" i="0" spc="-54" kern="0" dirty="0">
              <a:solidFill>
                <a:srgbClr val="121416"/>
              </a:solidFill>
              <a:latin typeface="RCardnews W650" pitchFamily="34" charset="-127"/>
              <a:ea typeface="RCardnews W650" pitchFamily="34" charset="-127"/>
              <a:cs typeface="RCardnews W650" pitchFamily="34" charset="-127"/>
            </a:endParaRPr>
          </a:p>
        </p:txBody>
      </p:sp>
      <p:sp>
        <p:nvSpPr>
          <p:cNvPr id="10" name="텍스트: 사전 웨비나"/>
          <p:cNvSpPr txBox="1"/>
          <p:nvPr/>
        </p:nvSpPr>
        <p:spPr>
          <a:xfrm>
            <a:off x="3755827" y="6733020"/>
            <a:ext cx="2775347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-54" kern="0" dirty="0">
                <a:solidFill>
                  <a:srgbClr val="121416"/>
                </a:solidFill>
                <a:latin typeface="RCardnews W650" pitchFamily="34" charset="-127"/>
                <a:ea typeface="RCardnews W650" pitchFamily="34" charset="-127"/>
                <a:cs typeface="RCardnews W650" pitchFamily="34" charset="-127"/>
              </a:rPr>
              <a:t xml:space="preserve">사전 웨비나</a:t>
            </a:r>
            <a:endParaRPr lang="ko-KR" altLang="en-US" sz="2700" b="0" i="0" spc="-54" kern="0" dirty="0">
              <a:solidFill>
                <a:srgbClr val="121416"/>
              </a:solidFill>
              <a:latin typeface="RCardnews W650" pitchFamily="34" charset="-127"/>
              <a:ea typeface="RCardnews W650" pitchFamily="34" charset="-127"/>
              <a:cs typeface="RCardnews W650" pitchFamily="34" charset="-127"/>
            </a:endParaRPr>
          </a:p>
        </p:txBody>
      </p:sp>
      <p:sp>
        <p:nvSpPr>
          <p:cNvPr id="11" name="텍스트: 12.7(월) 오후 9시 · Zoom"/>
          <p:cNvSpPr txBox="1"/>
          <p:nvPr/>
        </p:nvSpPr>
        <p:spPr>
          <a:xfrm>
            <a:off x="1668661" y="7386346"/>
            <a:ext cx="6949678" cy="6381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200" b="0" i="0" spc="-126" kern="0" dirty="0">
                <a:solidFill>
                  <a:srgbClr val="121416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12.7(월) 오후 9시 · Zoom</a:t>
            </a:r>
            <a:endParaRPr lang="ko-KR" altLang="en-US" sz="4200" b="0" i="0" spc="-126" kern="0" dirty="0">
              <a:solidFill>
                <a:srgbClr val="121416"/>
              </a:solidFill>
              <a:latin typeface="RCardnews W800" pitchFamily="34" charset="-127"/>
              <a:ea typeface="RCardnews W800" pitchFamily="34" charset="-127"/>
              <a:cs typeface="RCardnews W800" pitchFamily="34" charset="-127"/>
            </a:endParaRPr>
          </a:p>
        </p:txBody>
      </p:sp>
      <p:sp>
        <p:nvSpPr>
          <p:cNvPr id="12" name="텍스트: 1차 Andreas Bjerregaard"/>
          <p:cNvSpPr txBox="1"/>
          <p:nvPr/>
        </p:nvSpPr>
        <p:spPr>
          <a:xfrm>
            <a:off x="2249091" y="8263378"/>
            <a:ext cx="5788670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121416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1차 Andreas Bjerregaard</a:t>
            </a:r>
            <a:endParaRPr lang="ko-KR" altLang="en-US" sz="3300" b="0" i="0" spc="-66" kern="0" dirty="0">
              <a:solidFill>
                <a:srgbClr val="121416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3" name="텍스트: Aspetar ACL 재활 가이드라인 공저자"/>
          <p:cNvSpPr txBox="1"/>
          <p:nvPr/>
        </p:nvSpPr>
        <p:spPr>
          <a:xfrm>
            <a:off x="1364903" y="8858393"/>
            <a:ext cx="7557046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121416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Aspetar ACL 재활 가이드라인 공저자</a:t>
            </a:r>
            <a:endParaRPr lang="ko-KR" altLang="en-US" sz="3300" b="0" i="0" spc="-66" kern="0" dirty="0">
              <a:solidFill>
                <a:srgbClr val="121416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4" name="텍스트: 영어 강의 · 통역 제공 · 60분"/>
          <p:cNvSpPr txBox="1"/>
          <p:nvPr/>
        </p:nvSpPr>
        <p:spPr>
          <a:xfrm>
            <a:off x="2555974" y="9534561"/>
            <a:ext cx="5174903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-54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영어 강의 · 통역 제공 · 60분</a:t>
            </a:r>
            <a:endParaRPr lang="ko-KR" altLang="en-US" sz="2700" b="0" i="0" spc="-54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5" name="텍스트: 신청은 프로필 링크에서"/>
          <p:cNvSpPr txBox="1"/>
          <p:nvPr/>
        </p:nvSpPr>
        <p:spPr>
          <a:xfrm>
            <a:off x="2064990" y="10816536"/>
            <a:ext cx="6157020" cy="6381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200" b="0" i="0" spc="-126" kern="0" dirty="0">
                <a:solidFill>
                  <a:srgbClr val="0879D8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신청은 프로필 링크에서</a:t>
            </a:r>
            <a:endParaRPr lang="ko-KR" altLang="en-US" sz="4200" b="0" i="0" spc="-126" kern="0" dirty="0">
              <a:solidFill>
                <a:srgbClr val="0879D8"/>
              </a:solidFill>
              <a:latin typeface="RCardnews W800" pitchFamily="34" charset="-127"/>
              <a:ea typeface="RCardnews W800" pitchFamily="34" charset="-127"/>
              <a:cs typeface="RCardnews W800" pitchFamily="34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Cardnews">
  <a:themeElements>
    <a:clrScheme name="RCardnews">
      <a:dk1>
        <a:srgbClr val="121416"/>
      </a:dk1>
      <a:lt1>
        <a:srgbClr val="FFFFFF"/>
      </a:lt1>
      <a:dk2>
        <a:srgbClr val="5E6570"/>
      </a:dk2>
      <a:lt2>
        <a:srgbClr val="F0F7FC"/>
      </a:lt2>
      <a:accent1>
        <a:srgbClr val="0879D8"/>
      </a:accent1>
      <a:accent2>
        <a:srgbClr val="CC414A"/>
      </a:accent2>
      <a:accent3>
        <a:srgbClr val="D0DCE5"/>
      </a:accent3>
      <a:accent4>
        <a:srgbClr val="5E6570"/>
      </a:accent4>
      <a:accent5>
        <a:srgbClr val="F0F7FC"/>
      </a:accent5>
      <a:accent6>
        <a:srgbClr val="121416"/>
      </a:accent6>
      <a:hlink>
        <a:srgbClr val="0879D8"/>
      </a:hlink>
      <a:folHlink>
        <a:srgbClr val="5E6570"/>
      </a:folHlink>
    </a:clrScheme>
    <a:fontScheme name="RCardnews">
      <a:majorFont>
        <a:latin typeface="RCardnews W850"/>
        <a:ea typeface="RCardnews W850"/>
        <a:cs typeface="RCardnews W850"/>
      </a:majorFont>
      <a:minorFont>
        <a:latin typeface="RCardnews W500"/>
        <a:ea typeface="RCardnews W500"/>
        <a:cs typeface="RCardnews W500"/>
      </a:minorFont>
    </a:fontScheme>
    <a:fmtScheme name="RCardnew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lides>6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acl-rtd-webinar-2026</dc:title>
  <dc:creator>R스포츠재활센터</dc:creator>
</cp:coreProperties>
</file>