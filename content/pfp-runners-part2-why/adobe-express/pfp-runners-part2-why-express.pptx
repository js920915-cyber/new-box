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3"/>
  </p:sldIdLst>
  <p:sldSz cx="10287000" cy="12858750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연한 박스"/>
          <p:cNvSpPr/>
          <p:nvPr/>
        </p:nvSpPr>
        <p:spPr>
          <a:xfrm>
            <a:off x="914400" y="3291780"/>
            <a:ext cx="8458200" cy="1958280"/>
          </a:xfrm>
          <a:prstGeom prst="roundRect">
            <a:avLst>
              <a:gd name="adj" fmla="val 9728"/>
            </a:avLst>
          </a:prstGeom>
          <a:solidFill>
            <a:srgbClr val="F0F7FC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" name="B01 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7"/>
            </a:avLst>
          </a:prstGeom>
          <a:noFill/>
          <a:ln w="19050">
            <a:solidFill>
              <a:srgbClr val="D0DCE5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" name="텍스트: 무릎 앞 통증,"/>
          <p:cNvSpPr txBox="1"/>
          <p:nvPr/>
        </p:nvSpPr>
        <p:spPr>
          <a:xfrm>
            <a:off x="2481262" y="1029081"/>
            <a:ext cx="5324475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무릎 앞 통증,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5" name="텍스트: 왜 생길까요?"/>
          <p:cNvSpPr txBox="1"/>
          <p:nvPr/>
        </p:nvSpPr>
        <p:spPr>
          <a:xfrm>
            <a:off x="2504777" y="1989171"/>
            <a:ext cx="5277296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0879D8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왜</a:t>
            </a: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 생길까요?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6" name="텍스트: 무릎뼈 관절 압박"/>
          <p:cNvSpPr txBox="1"/>
          <p:nvPr/>
        </p:nvSpPr>
        <p:spPr>
          <a:xfrm>
            <a:off x="2776984" y="3628584"/>
            <a:ext cx="4732883" cy="6381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200" b="0" i="0" spc="-126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무릎뼈 관절 압박</a:t>
            </a:r>
            <a:endParaRPr lang="ko-KR" altLang="en-US" sz="4200" b="0" i="0" spc="-126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7" name="텍스트: = 누르는 힘 ÷ 닿는 면적"/>
          <p:cNvSpPr txBox="1"/>
          <p:nvPr/>
        </p:nvSpPr>
        <p:spPr>
          <a:xfrm>
            <a:off x="1929259" y="4321975"/>
            <a:ext cx="6428482" cy="6381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200" b="0" i="0" spc="-126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= 누르는 힘 ÷ 닿는 면적</a:t>
            </a:r>
            <a:endParaRPr lang="ko-KR" altLang="en-US" sz="4200" b="0" i="0" spc="-126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8" name="텍스트: 누르는 힘이 커질 때"/>
          <p:cNvSpPr txBox="1"/>
          <p:nvPr/>
        </p:nvSpPr>
        <p:spPr>
          <a:xfrm>
            <a:off x="2772817" y="5677543"/>
            <a:ext cx="4741218" cy="5524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b="0" i="0" spc="-108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누르는 힘이 커질 때</a:t>
            </a:r>
            <a:endParaRPr lang="ko-KR" altLang="en-US" sz="3600" b="0" i="0" spc="-108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9" name="텍스트: 무릎 펴는 근육이 크게 일할 때"/>
          <p:cNvSpPr txBox="1"/>
          <p:nvPr/>
        </p:nvSpPr>
        <p:spPr>
          <a:xfrm>
            <a:off x="2497336" y="6331631"/>
            <a:ext cx="5292179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무릎 펴는 근육이 크게 일할 때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0" name="텍스트: 예: 상체를 꼿꼿이 세우고 달리기"/>
          <p:cNvSpPr txBox="1"/>
          <p:nvPr/>
        </p:nvSpPr>
        <p:spPr>
          <a:xfrm>
            <a:off x="2339876" y="6811601"/>
            <a:ext cx="5607248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예: 상체를 꼿꼿이 세우고 달리기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1" name="텍스트: 닿는 면적이 작아질 때"/>
          <p:cNvSpPr txBox="1"/>
          <p:nvPr/>
        </p:nvSpPr>
        <p:spPr>
          <a:xfrm>
            <a:off x="2569369" y="7555605"/>
            <a:ext cx="5148114" cy="5524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b="0" i="0" spc="-108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닿는 면적이 작아질 때</a:t>
            </a:r>
            <a:endParaRPr lang="ko-KR" altLang="en-US" sz="3600" b="0" i="0" spc="-108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12" name="텍스트: 무릎뼈가 바깥으로 치우치거나"/>
          <p:cNvSpPr txBox="1"/>
          <p:nvPr/>
        </p:nvSpPr>
        <p:spPr>
          <a:xfrm>
            <a:off x="2476798" y="8209693"/>
            <a:ext cx="5333256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무릎뼈가 바깥으로 치우치거나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3" name="텍스트: 허벅지가 안으로 돌아갈 때"/>
          <p:cNvSpPr txBox="1"/>
          <p:nvPr/>
        </p:nvSpPr>
        <p:spPr>
          <a:xfrm>
            <a:off x="2740819" y="8689663"/>
            <a:ext cx="4805214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허벅지가 안으로 돌아갈 때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4" name="텍스트: 과한 압박이 반복되면 무릎뼈 속 압력이"/>
          <p:cNvSpPr txBox="1"/>
          <p:nvPr/>
        </p:nvSpPr>
        <p:spPr>
          <a:xfrm>
            <a:off x="1282005" y="9564731"/>
            <a:ext cx="7722989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과한 압박이 반복되면 무릎뼈 속 압력이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5" name="텍스트: 올라 아플 수 있다고 추정합니다."/>
          <p:cNvSpPr txBox="1"/>
          <p:nvPr/>
        </p:nvSpPr>
        <p:spPr>
          <a:xfrm>
            <a:off x="1843832" y="10159746"/>
            <a:ext cx="6599337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올라 아플 수 있다고 추정합니다.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6" name="텍스트: 아직 가설이며, 통증에는 신경이 예민해지는 "/>
          <p:cNvSpPr txBox="1"/>
          <p:nvPr/>
        </p:nvSpPr>
        <p:spPr>
          <a:xfrm>
            <a:off x="1369368" y="10874014"/>
            <a:ext cx="7548116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아직 가설이며, 통증에는 신경이 예민해지는 등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7" name="텍스트: 다른 요인도 함께 작용합니다"/>
          <p:cNvSpPr txBox="1"/>
          <p:nvPr/>
        </p:nvSpPr>
        <p:spPr>
          <a:xfrm>
            <a:off x="2586484" y="11353985"/>
            <a:ext cx="5113883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다른 요인도 함께 작용합니다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Cardnews">
  <a:themeElements>
    <a:clrScheme name="RCardnews">
      <a:dk1>
        <a:srgbClr val="121416"/>
      </a:dk1>
      <a:lt1>
        <a:srgbClr val="FFFFFF"/>
      </a:lt1>
      <a:dk2>
        <a:srgbClr val="5E6570"/>
      </a:dk2>
      <a:lt2>
        <a:srgbClr val="F0F7FC"/>
      </a:lt2>
      <a:accent1>
        <a:srgbClr val="0879D8"/>
      </a:accent1>
      <a:accent2>
        <a:srgbClr val="CC414A"/>
      </a:accent2>
      <a:accent3>
        <a:srgbClr val="D0DCE5"/>
      </a:accent3>
      <a:accent4>
        <a:srgbClr val="5E6570"/>
      </a:accent4>
      <a:accent5>
        <a:srgbClr val="F0F7FC"/>
      </a:accent5>
      <a:accent6>
        <a:srgbClr val="121416"/>
      </a:accent6>
      <a:hlink>
        <a:srgbClr val="0879D8"/>
      </a:hlink>
      <a:folHlink>
        <a:srgbClr val="5E6570"/>
      </a:folHlink>
    </a:clrScheme>
    <a:fontScheme name="RCardnews">
      <a:majorFont>
        <a:latin typeface="RCardnews W850"/>
        <a:ea typeface="RCardnews W850"/>
        <a:cs typeface="RCardnews W850"/>
      </a:majorFont>
      <a:minorFont>
        <a:latin typeface="RCardnews W500"/>
        <a:ea typeface="RCardnews W500"/>
        <a:cs typeface="RCardnews W500"/>
      </a:minorFont>
    </a:fontScheme>
    <a:fmtScheme name="RCardnew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PFP 2탄 추가 — 무릎 앞 통증은 왜 생길까</dc:title>
  <dc:creator>R스포츠재활센터</dc:creator>
</cp:coreProperties>
</file>