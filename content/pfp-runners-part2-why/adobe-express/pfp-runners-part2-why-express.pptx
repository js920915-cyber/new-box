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eg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3"/>
  </p:sldIdLst>
  <p:sldSz cx="10287000" cy="12858750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01-photo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연한 박스"/>
          <p:cNvSpPr/>
          <p:nvPr/>
        </p:nvSpPr>
        <p:spPr>
          <a:xfrm>
            <a:off x="914400" y="3253680"/>
            <a:ext cx="8458200" cy="1188690"/>
          </a:xfrm>
          <a:prstGeom prst="roundRect">
            <a:avLst>
              <a:gd name="adj" fmla="val 16026"/>
            </a:avLst>
          </a:prstGeom>
          <a:solidFill>
            <a:srgbClr val="F0F7FC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pic>
        <p:nvPicPr>
          <p:cNvPr id="3" name="사진" descr="무릎 굽힘 각도별 무릎뼈와 넙다리뼈의 접촉 부위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250" y="4785271"/>
            <a:ext cx="7048500" cy="4238625"/>
          </a:xfrm>
          <a:prstGeom prst="rect">
            <a:avLst/>
          </a:prstGeom>
        </p:spPr>
      </p:pic>
      <p:sp>
        <p:nvSpPr>
          <p:cNvPr id="4" name="B01 프레임"/>
          <p:cNvSpPr/>
          <p:nvPr/>
        </p:nvSpPr>
        <p:spPr>
          <a:xfrm>
            <a:off x="323850" y="323850"/>
            <a:ext cx="9639300" cy="12211050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D0DCE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5" name="텍스트: 무릎 앞 통증,"/>
          <p:cNvSpPr txBox="1"/>
          <p:nvPr/>
        </p:nvSpPr>
        <p:spPr>
          <a:xfrm>
            <a:off x="2481262" y="1029081"/>
            <a:ext cx="5324475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무릎 앞 통증,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6" name="텍스트: 왜 생길까요?"/>
          <p:cNvSpPr txBox="1"/>
          <p:nvPr/>
        </p:nvSpPr>
        <p:spPr>
          <a:xfrm>
            <a:off x="2504777" y="1989171"/>
            <a:ext cx="5277296" cy="9620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6300" b="0" i="0" spc="-220" kern="0" dirty="0">
                <a:solidFill>
                  <a:srgbClr val="0879D8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왜</a:t>
            </a:r>
            <a:r>
              <a:rPr lang="ko-KR" altLang="en-US" sz="6300" b="0" i="0" spc="-220" kern="0" dirty="0">
                <a:solidFill>
                  <a:srgbClr val="121416"/>
                </a:solidFill>
                <a:latin typeface="RCardnews W850" pitchFamily="34" charset="-127"/>
                <a:ea typeface="RCardnews W850" pitchFamily="34" charset="-127"/>
                <a:cs typeface="RCardnews W850" pitchFamily="34" charset="-127"/>
              </a:rPr>
              <a:t xml:space="preserve"> 생길까요?</a:t>
            </a:r>
            <a:endParaRPr lang="ko-KR" altLang="en-US" sz="6300" b="0" i="0" spc="-220" kern="0" dirty="0">
              <a:solidFill>
                <a:srgbClr val="121416"/>
              </a:solidFill>
              <a:latin typeface="RCardnews W850" pitchFamily="34" charset="-127"/>
              <a:ea typeface="RCardnews W850" pitchFamily="34" charset="-127"/>
              <a:cs typeface="RCardnews W850" pitchFamily="34" charset="-127"/>
            </a:endParaRPr>
          </a:p>
        </p:txBody>
      </p:sp>
      <p:sp>
        <p:nvSpPr>
          <p:cNvPr id="7" name="텍스트: 압박 = 누르는 힘 ÷ 닿는 면적"/>
          <p:cNvSpPr txBox="1"/>
          <p:nvPr/>
        </p:nvSpPr>
        <p:spPr>
          <a:xfrm>
            <a:off x="1387822" y="3552384"/>
            <a:ext cx="7511355" cy="6381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4200" b="0" i="0" spc="-126" kern="0" dirty="0">
                <a:solidFill>
                  <a:srgbClr val="121416"/>
                </a:solidFill>
                <a:latin typeface="RCardnews W800" pitchFamily="34" charset="-127"/>
                <a:ea typeface="RCardnews W800" pitchFamily="34" charset="-127"/>
                <a:cs typeface="RCardnews W800" pitchFamily="34" charset="-127"/>
              </a:rPr>
              <a:t xml:space="preserve">압박 = 누르는 힘 ÷ 닿는 면적</a:t>
            </a:r>
            <a:endParaRPr lang="ko-KR" altLang="en-US" sz="4200" b="0" i="0" spc="-126" kern="0" dirty="0">
              <a:solidFill>
                <a:srgbClr val="121416"/>
              </a:solidFill>
              <a:latin typeface="RCardnews W800" pitchFamily="34" charset="-127"/>
              <a:ea typeface="RCardnews W800" pitchFamily="34" charset="-127"/>
              <a:cs typeface="RCardnews W800" pitchFamily="34" charset="-127"/>
            </a:endParaRPr>
          </a:p>
        </p:txBody>
      </p:sp>
      <p:sp>
        <p:nvSpPr>
          <p:cNvPr id="8" name="텍스트: 무릎을 굽히는 각도에 따라 닿는 자리와 면적"/>
          <p:cNvSpPr txBox="1"/>
          <p:nvPr/>
        </p:nvSpPr>
        <p:spPr>
          <a:xfrm>
            <a:off x="710803" y="9206395"/>
            <a:ext cx="8865245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무릎을 굽히는 각도에 따라 닿는 자리와 면적이 바뀝니다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9" name="텍스트: 과한 압박이 반복되면 무릎뼈 속 압력이"/>
          <p:cNvSpPr txBox="1"/>
          <p:nvPr/>
        </p:nvSpPr>
        <p:spPr>
          <a:xfrm>
            <a:off x="1282005" y="9986212"/>
            <a:ext cx="7722989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과한 압박이 반복되면 무릎뼈 속 압력이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0" name="텍스트: 올라 아플 수 있다고 추정합니다."/>
          <p:cNvSpPr txBox="1"/>
          <p:nvPr/>
        </p:nvSpPr>
        <p:spPr>
          <a:xfrm>
            <a:off x="1843832" y="10581227"/>
            <a:ext cx="6599337" cy="50482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300" b="0" i="0" spc="-66" kern="0" dirty="0">
                <a:solidFill>
                  <a:srgbClr val="121416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올라 아플 수 있다고 추정합니다.</a:t>
            </a:r>
            <a:endParaRPr lang="ko-KR" altLang="en-US" sz="3300" b="0" i="0" spc="-66" kern="0" dirty="0">
              <a:solidFill>
                <a:srgbClr val="121416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  <p:sp>
        <p:nvSpPr>
          <p:cNvPr id="11" name="텍스트: 아직 가설이며, 신경이 예민해지는 등 다른 "/>
          <p:cNvSpPr txBox="1"/>
          <p:nvPr/>
        </p:nvSpPr>
        <p:spPr>
          <a:xfrm>
            <a:off x="508695" y="11276445"/>
            <a:ext cx="9269462" cy="409575"/>
          </a:xfrm>
          <a:prstGeom prst="rect">
            <a:avLst/>
          </a:prstGeom>
          <a:noFill/>
          <a:ln>
            <a:noFill/>
          </a:ln>
        </p:spPr>
        <p:txBody>
          <a:bodyPr vert="horz" wrap="none" lIns="0" tIns="0" rIns="0" bIns="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700" b="0" i="0" spc="-54" kern="0" dirty="0">
                <a:solidFill>
                  <a:srgbClr val="5E6570"/>
                </a:solidFill>
                <a:latin typeface="RCardnews W500" pitchFamily="34" charset="-127"/>
                <a:ea typeface="RCardnews W500" pitchFamily="34" charset="-127"/>
                <a:cs typeface="RCardnews W500" pitchFamily="34" charset="-127"/>
              </a:rPr>
              <a:t xml:space="preserve">아직 가설이며, 신경이 예민해지는 등 다른 요인도 있습니다</a:t>
            </a:r>
            <a:endParaRPr lang="ko-KR" altLang="en-US" sz="2700" b="0" i="0" spc="-54" kern="0" dirty="0">
              <a:solidFill>
                <a:srgbClr val="5E6570"/>
              </a:solidFill>
              <a:latin typeface="RCardnews W500" pitchFamily="34" charset="-127"/>
              <a:ea typeface="RCardnews W500" pitchFamily="34" charset="-127"/>
              <a:cs typeface="RCardnews W500" pitchFamily="34" charset="-12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Cardnews">
  <a:themeElements>
    <a:clrScheme name="RCardnews">
      <a:dk1>
        <a:srgbClr val="121416"/>
      </a:dk1>
      <a:lt1>
        <a:srgbClr val="FFFFFF"/>
      </a:lt1>
      <a:dk2>
        <a:srgbClr val="5E6570"/>
      </a:dk2>
      <a:lt2>
        <a:srgbClr val="F0F7FC"/>
      </a:lt2>
      <a:accent1>
        <a:srgbClr val="0879D8"/>
      </a:accent1>
      <a:accent2>
        <a:srgbClr val="CC414A"/>
      </a:accent2>
      <a:accent3>
        <a:srgbClr val="D0DCE5"/>
      </a:accent3>
      <a:accent4>
        <a:srgbClr val="5E6570"/>
      </a:accent4>
      <a:accent5>
        <a:srgbClr val="F0F7FC"/>
      </a:accent5>
      <a:accent6>
        <a:srgbClr val="121416"/>
      </a:accent6>
      <a:hlink>
        <a:srgbClr val="0879D8"/>
      </a:hlink>
      <a:folHlink>
        <a:srgbClr val="5E6570"/>
      </a:folHlink>
    </a:clrScheme>
    <a:fontScheme name="RCardnews">
      <a:majorFont>
        <a:latin typeface="RCardnews W850"/>
        <a:ea typeface="RCardnews W850"/>
        <a:cs typeface="RCardnews W850"/>
      </a:majorFont>
      <a:minorFont>
        <a:latin typeface="RCardnews W500"/>
        <a:ea typeface="RCardnews W500"/>
        <a:cs typeface="RCardnews W500"/>
      </a:minorFont>
    </a:fontScheme>
    <a:fmtScheme name="RCardnew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PFP 2탄 추가 — 무릎 앞 통증은 왜 생길까</dc:title>
  <dc:creator>R스포츠재활센터</dc:creator>
</cp:coreProperties>
</file>