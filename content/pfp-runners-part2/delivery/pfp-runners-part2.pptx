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1-photo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3-photo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4-photo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6-photo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8-photo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TRX 끈을 잡고 스쿼트하는 여성 옆모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76589"/>
            <a:ext cx="8458200" cy="4953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스쿼트 vs"/>
          <p:cNvSpPr txBox="1"/>
          <p:nvPr/>
        </p:nvSpPr>
        <p:spPr>
          <a:xfrm>
            <a:off x="2922836" y="1021842"/>
            <a:ext cx="4441329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스쿼트 vs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레그 익스텐션,"/>
          <p:cNvSpPr txBox="1"/>
          <p:nvPr/>
        </p:nvSpPr>
        <p:spPr>
          <a:xfrm>
            <a:off x="2113508" y="2010805"/>
            <a:ext cx="6059984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레그 익스텐션,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무릎에 덜 부담인 건?"/>
          <p:cNvSpPr txBox="1"/>
          <p:nvPr/>
        </p:nvSpPr>
        <p:spPr>
          <a:xfrm>
            <a:off x="1088380" y="2999768"/>
            <a:ext cx="8110240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</a:t>
            </a: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에 덜 부담인 건?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정답은 운동 이름이 아니라"/>
          <p:cNvSpPr txBox="1"/>
          <p:nvPr/>
        </p:nvSpPr>
        <p:spPr>
          <a:xfrm>
            <a:off x="2333923" y="9811935"/>
            <a:ext cx="56190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정답은 운동 이름이 아니라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‘무릎 각도’에 있습니다"/>
          <p:cNvSpPr txBox="1"/>
          <p:nvPr/>
        </p:nvSpPr>
        <p:spPr>
          <a:xfrm>
            <a:off x="2634258" y="10406950"/>
            <a:ext cx="501818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‘무릎 각도’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에 있습니다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텍스트: 같은 근육을 써도"/>
          <p:cNvSpPr txBox="1"/>
          <p:nvPr/>
        </p:nvSpPr>
        <p:spPr>
          <a:xfrm>
            <a:off x="1897559" y="1029081"/>
            <a:ext cx="649173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같은 근육을 써도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4" name="텍스트: 무릎 압박은 다릅니다"/>
          <p:cNvSpPr txBox="1"/>
          <p:nvPr/>
        </p:nvSpPr>
        <p:spPr>
          <a:xfrm>
            <a:off x="1189434" y="1989171"/>
            <a:ext cx="790798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 압박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은 다릅니다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1탄에서 근거가 확인된 위험 요인은"/>
          <p:cNvSpPr txBox="1"/>
          <p:nvPr/>
        </p:nvSpPr>
        <p:spPr>
          <a:xfrm>
            <a:off x="1598414" y="3316926"/>
            <a:ext cx="709002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1탄에서 근거가 확인된 위험 요인은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6" name="텍스트: 허벅지 앞(무릎 폄) 근력 약화였죠."/>
          <p:cNvSpPr txBox="1"/>
          <p:nvPr/>
        </p:nvSpPr>
        <p:spPr>
          <a:xfrm>
            <a:off x="1702891" y="3911941"/>
            <a:ext cx="6880920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허벅지 앞(무릎 폄) 근력 약화였죠.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스쿼트"/>
          <p:cNvSpPr txBox="1"/>
          <p:nvPr/>
        </p:nvSpPr>
        <p:spPr>
          <a:xfrm>
            <a:off x="3961358" y="4985492"/>
            <a:ext cx="2363837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스쿼트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8" name="텍스트: 발이 바닥에 고정 · CKC"/>
          <p:cNvSpPr txBox="1"/>
          <p:nvPr/>
        </p:nvSpPr>
        <p:spPr>
          <a:xfrm>
            <a:off x="2945457" y="5639580"/>
            <a:ext cx="439578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발이 바닥에 고정 · CKC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발목 중량 무릎 펴기"/>
          <p:cNvSpPr txBox="1"/>
          <p:nvPr/>
        </p:nvSpPr>
        <p:spPr>
          <a:xfrm>
            <a:off x="2772817" y="6402634"/>
            <a:ext cx="4741218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발목 중량 무릎 펴기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의자에 앉아 발목에 중량 · OKC"/>
          <p:cNvSpPr txBox="1"/>
          <p:nvPr/>
        </p:nvSpPr>
        <p:spPr>
          <a:xfrm>
            <a:off x="2419499" y="7056721"/>
            <a:ext cx="544785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의자에 앉아 발목에 중량 · OKC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고정 저항 기계 무릎 펴기"/>
          <p:cNvSpPr txBox="1"/>
          <p:nvPr/>
        </p:nvSpPr>
        <p:spPr>
          <a:xfrm>
            <a:off x="2308771" y="7819775"/>
            <a:ext cx="5669310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고정 저항 기계 무릎 펴기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연구용 동력계 · OKC"/>
          <p:cNvSpPr txBox="1"/>
          <p:nvPr/>
        </p:nvSpPr>
        <p:spPr>
          <a:xfrm>
            <a:off x="3125837" y="8473863"/>
            <a:ext cx="403502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연구용 동력계 · OKC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3" name="텍스트: 건강한 성인 10명이 세 운동을"/>
          <p:cNvSpPr txBox="1"/>
          <p:nvPr/>
        </p:nvSpPr>
        <p:spPr>
          <a:xfrm>
            <a:off x="2048917" y="9463230"/>
            <a:ext cx="618901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건강한 성인 10명이 세 운동을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4" name="텍스트: 같은 근육 활성도로 맞추고"/>
          <p:cNvSpPr txBox="1"/>
          <p:nvPr/>
        </p:nvSpPr>
        <p:spPr>
          <a:xfrm>
            <a:off x="2333923" y="10058245"/>
            <a:ext cx="56190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같은 근육 활성도로 맞추고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0~90°에서 무릎뼈 압박을 비교했습니다."/>
          <p:cNvSpPr txBox="1"/>
          <p:nvPr/>
        </p:nvSpPr>
        <p:spPr>
          <a:xfrm>
            <a:off x="1171724" y="10653260"/>
            <a:ext cx="794340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0~90°에서 무릎뼈 압박을 비교했습니다.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무릎 각도별 무릎뼈 관절 압박 그래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06080"/>
            <a:ext cx="8458200" cy="5334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각도에 따라"/>
          <p:cNvSpPr txBox="1"/>
          <p:nvPr/>
        </p:nvSpPr>
        <p:spPr>
          <a:xfrm>
            <a:off x="2703761" y="1029081"/>
            <a:ext cx="48794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각도에 따라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압박이 뒤집힙니다"/>
          <p:cNvSpPr txBox="1"/>
          <p:nvPr/>
        </p:nvSpPr>
        <p:spPr>
          <a:xfrm>
            <a:off x="1641574" y="1989171"/>
            <a:ext cx="700385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압박이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뒤집힙니다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깊게 굽힐수록 스쿼트, 펼수록"/>
          <p:cNvSpPr txBox="1"/>
          <p:nvPr/>
        </p:nvSpPr>
        <p:spPr>
          <a:xfrm>
            <a:off x="2086868" y="9336726"/>
            <a:ext cx="611311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깊게 굽힐수록 스쿼트, 펼수록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발목 중량 무릎 펴기의 압박이 컸고"/>
          <p:cNvSpPr txBox="1"/>
          <p:nvPr/>
        </p:nvSpPr>
        <p:spPr>
          <a:xfrm>
            <a:off x="1659136" y="9931741"/>
            <a:ext cx="696857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발목 중량 무릎 펴기의 압박이 컸고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45°에서는 차이가 없었습니다."/>
          <p:cNvSpPr txBox="1"/>
          <p:nvPr/>
        </p:nvSpPr>
        <p:spPr>
          <a:xfrm>
            <a:off x="2000696" y="10526756"/>
            <a:ext cx="628545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45°에서는 차이가 없었습니다.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스쿼트 0~45도와 무릎 펴기 45~90도 조합 그래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780"/>
            <a:ext cx="8458200" cy="5334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얕게는 스쿼트,"/>
          <p:cNvSpPr txBox="1"/>
          <p:nvPr/>
        </p:nvSpPr>
        <p:spPr>
          <a:xfrm>
            <a:off x="2225278" y="1029081"/>
            <a:ext cx="583644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얕게는 스쿼트,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깊게는 무릎 펴기"/>
          <p:cNvSpPr txBox="1"/>
          <p:nvPr/>
        </p:nvSpPr>
        <p:spPr>
          <a:xfrm>
            <a:off x="1897559" y="1989171"/>
            <a:ext cx="6491883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깊게는 </a:t>
            </a: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 펴기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스쿼트는 0~45°, 무릎 펴기는 90~45"/>
          <p:cNvSpPr txBox="1"/>
          <p:nvPr/>
        </p:nvSpPr>
        <p:spPr>
          <a:xfrm>
            <a:off x="1348680" y="9070026"/>
            <a:ext cx="758963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스쿼트는 0~45°, 무릎 펴기는 90~45°.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이 조합에서 압박이"/>
          <p:cNvSpPr txBox="1"/>
          <p:nvPr/>
        </p:nvSpPr>
        <p:spPr>
          <a:xfrm>
            <a:off x="2954238" y="9665041"/>
            <a:ext cx="437852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이 조합에서 압박이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약 4 MPa 이하였습니다."/>
          <p:cNvSpPr txBox="1"/>
          <p:nvPr/>
        </p:nvSpPr>
        <p:spPr>
          <a:xfrm>
            <a:off x="2486323" y="10260056"/>
            <a:ext cx="53142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약 4 MPa 이하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였습니다.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4 MPa: 계단을 오르내릴 때 보고된 최대"/>
          <p:cNvSpPr txBox="1"/>
          <p:nvPr/>
        </p:nvSpPr>
        <p:spPr>
          <a:xfrm>
            <a:off x="1315492" y="10993374"/>
            <a:ext cx="765586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4 MPa: 계단을 오르내릴 때 보고된 최대치 수준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9383167"/>
            <a:ext cx="8458200" cy="2113211"/>
          </a:xfrm>
          <a:prstGeom prst="roundRect">
            <a:avLst>
              <a:gd name="adj" fmla="val 9015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그대로 처방하기 전에"/>
          <p:cNvSpPr txBox="1"/>
          <p:nvPr/>
        </p:nvSpPr>
        <p:spPr>
          <a:xfrm>
            <a:off x="1189434" y="1029081"/>
            <a:ext cx="790798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그대로 처방하기 전에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알아둘 것"/>
          <p:cNvSpPr txBox="1"/>
          <p:nvPr/>
        </p:nvSpPr>
        <p:spPr>
          <a:xfrm>
            <a:off x="3057674" y="1989171"/>
            <a:ext cx="417150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알아둘 것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통증 없는 성인 10명"/>
          <p:cNvSpPr txBox="1"/>
          <p:nvPr/>
        </p:nvSpPr>
        <p:spPr>
          <a:xfrm>
            <a:off x="2716113" y="3452562"/>
            <a:ext cx="4854625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통증 없는 성인 10명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7" name="텍스트: PFP가 있으면 접촉 면적이 작아"/>
          <p:cNvSpPr txBox="1"/>
          <p:nvPr/>
        </p:nvSpPr>
        <p:spPr>
          <a:xfrm>
            <a:off x="2387352" y="4106650"/>
            <a:ext cx="5512296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PFP가 있으면 접촉 면적이 작아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압박이 더 클 수 있습니다"/>
          <p:cNvSpPr txBox="1"/>
          <p:nvPr/>
        </p:nvSpPr>
        <p:spPr>
          <a:xfrm>
            <a:off x="2850505" y="4586621"/>
            <a:ext cx="458584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압박이 더 클 수 있습니다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모델로 계산한 추정값"/>
          <p:cNvSpPr txBox="1"/>
          <p:nvPr/>
        </p:nvSpPr>
        <p:spPr>
          <a:xfrm>
            <a:off x="2626519" y="5406825"/>
            <a:ext cx="5033814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모델로 계산한 추정값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올라오는 구간만 계산했고"/>
          <p:cNvSpPr txBox="1"/>
          <p:nvPr/>
        </p:nvSpPr>
        <p:spPr>
          <a:xfrm>
            <a:off x="2785318" y="6060912"/>
            <a:ext cx="4716066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올라오는 구간만 계산했고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직접 잰 값이 아닙니다"/>
          <p:cNvSpPr txBox="1"/>
          <p:nvPr/>
        </p:nvSpPr>
        <p:spPr>
          <a:xfrm>
            <a:off x="3049339" y="6540883"/>
            <a:ext cx="418802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직접 잰 값이 아닙니다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2" name="텍스트: 고정 저항 기계는 전 구간 4 MPa 이상"/>
          <p:cNvSpPr txBox="1"/>
          <p:nvPr/>
        </p:nvSpPr>
        <p:spPr>
          <a:xfrm>
            <a:off x="1142107" y="7361087"/>
            <a:ext cx="8002786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고정 저항 기계는 전 구간 4 MPa 이상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3" name="텍스트: 연구용 장비라 헬스장 기계와"/>
          <p:cNvSpPr txBox="1"/>
          <p:nvPr/>
        </p:nvSpPr>
        <p:spPr>
          <a:xfrm>
            <a:off x="2586484" y="8015174"/>
            <a:ext cx="511388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연구용 장비라 헬스장 기계와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4" name="텍스트: 같다고 볼 수 없습니다"/>
          <p:cNvSpPr txBox="1"/>
          <p:nvPr/>
        </p:nvSpPr>
        <p:spPr>
          <a:xfrm>
            <a:off x="3049339" y="8495145"/>
            <a:ext cx="418802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같다고 볼 수 없습니다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각도는 출발점입니다."/>
          <p:cNvSpPr txBox="1"/>
          <p:nvPr/>
        </p:nvSpPr>
        <p:spPr>
          <a:xfrm>
            <a:off x="3003649" y="9719209"/>
            <a:ext cx="4279702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각도는 출발점입니다.</a:t>
            </a:r>
            <a:endParaRPr lang="ko-KR" altLang="en-US" sz="2850" b="0" i="0" spc="-57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6" name="텍스트: 운동 중·다음 날 통증 반응으로"/>
          <p:cNvSpPr txBox="1"/>
          <p:nvPr/>
        </p:nvSpPr>
        <p:spPr>
          <a:xfrm>
            <a:off x="2373809" y="10233112"/>
            <a:ext cx="5539383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운동 중·다음 날 통증 반응으로</a:t>
            </a:r>
            <a:endParaRPr lang="ko-KR" altLang="en-US" sz="2850" b="0" i="0" spc="-57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7" name="텍스트: 범위와 무게를 조절하세요."/>
          <p:cNvSpPr txBox="1"/>
          <p:nvPr/>
        </p:nvSpPr>
        <p:spPr>
          <a:xfrm>
            <a:off x="2630835" y="10747016"/>
            <a:ext cx="5025330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범위와 무게를 조절하세요.</a:t>
            </a:r>
            <a:endParaRPr lang="ko-KR" altLang="en-US" sz="2850" b="0" i="0" spc="-57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무릎을 살짝 굽힌 미니 스쿼트 옆모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780"/>
            <a:ext cx="8458200" cy="5334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스쿼트는"/>
          <p:cNvSpPr txBox="1"/>
          <p:nvPr/>
        </p:nvSpPr>
        <p:spPr>
          <a:xfrm>
            <a:off x="3155752" y="1029081"/>
            <a:ext cx="397549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스쿼트는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무릎 45°까지"/>
          <p:cNvSpPr txBox="1"/>
          <p:nvPr/>
        </p:nvSpPr>
        <p:spPr>
          <a:xfrm>
            <a:off x="2449264" y="1989171"/>
            <a:ext cx="5388471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 45°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까지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무릎을 깊게 굽히지 않는"/>
          <p:cNvSpPr txBox="1"/>
          <p:nvPr/>
        </p:nvSpPr>
        <p:spPr>
          <a:xfrm>
            <a:off x="2522488" y="9070026"/>
            <a:ext cx="524187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무릎을 깊게 굽히지 않는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얕은 범위에서 시작합니다."/>
          <p:cNvSpPr txBox="1"/>
          <p:nvPr/>
        </p:nvSpPr>
        <p:spPr>
          <a:xfrm>
            <a:off x="2329904" y="9665041"/>
            <a:ext cx="5627043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얕은 범위에서 시작합니다.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높은 박스에 엉덩이가 닿을 때까지만."/>
          <p:cNvSpPr txBox="1"/>
          <p:nvPr/>
        </p:nvSpPr>
        <p:spPr>
          <a:xfrm>
            <a:off x="2031057" y="10436459"/>
            <a:ext cx="622458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높은 박스에 엉덩이가 닿을 때까지만.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박스 높이는 사람마다 45°에 맞춰 조정"/>
          <p:cNvSpPr txBox="1"/>
          <p:nvPr/>
        </p:nvSpPr>
        <p:spPr>
          <a:xfrm>
            <a:off x="1937593" y="10916430"/>
            <a:ext cx="641166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박스 높이는 사람마다 45°에 맞춰 조정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연한 박스"/>
          <p:cNvSpPr/>
          <p:nvPr/>
        </p:nvSpPr>
        <p:spPr>
          <a:xfrm>
            <a:off x="914400" y="3291780"/>
            <a:ext cx="8458200" cy="5524500"/>
          </a:xfrm>
          <a:prstGeom prst="roundRect">
            <a:avLst>
              <a:gd name="adj" fmla="val 3448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무릎 펴기는"/>
          <p:cNvSpPr txBox="1"/>
          <p:nvPr/>
        </p:nvSpPr>
        <p:spPr>
          <a:xfrm>
            <a:off x="2703761" y="1029081"/>
            <a:ext cx="4879479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 펴기는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90°→45°까지"/>
          <p:cNvSpPr txBox="1"/>
          <p:nvPr/>
        </p:nvSpPr>
        <p:spPr>
          <a:xfrm>
            <a:off x="2260848" y="1989171"/>
            <a:ext cx="576530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90°→45°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까지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사진 넣는 자리"/>
          <p:cNvSpPr txBox="1"/>
          <p:nvPr/>
        </p:nvSpPr>
        <p:spPr>
          <a:xfrm>
            <a:off x="3529459" y="5307693"/>
            <a:ext cx="322793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0879D8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사진 넣는 자리</a:t>
            </a:r>
            <a:endParaRPr lang="ko-KR" altLang="en-US" sz="2700" b="0" i="0" spc="0" kern="0" dirty="0">
              <a:solidFill>
                <a:srgbClr val="0879D8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7" name="텍스트: 의자에 앉아 발목에 중량 · 옆모습"/>
          <p:cNvSpPr txBox="1"/>
          <p:nvPr/>
        </p:nvSpPr>
        <p:spPr>
          <a:xfrm>
            <a:off x="2230041" y="5915358"/>
            <a:ext cx="582677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의자에 앉아 발목에 중량 · 옆모습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무릎 90°에서 시작 → 45°에서 멈춤"/>
          <p:cNvSpPr txBox="1"/>
          <p:nvPr/>
        </p:nvSpPr>
        <p:spPr>
          <a:xfrm>
            <a:off x="2060228" y="6402175"/>
            <a:ext cx="616654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0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 90°에서 시작 → 45°에서 멈춤</a:t>
            </a:r>
            <a:endParaRPr lang="ko-KR" altLang="en-US" sz="2700" b="0" i="0" spc="0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발목에 중량을 달고 앉아서"/>
          <p:cNvSpPr txBox="1"/>
          <p:nvPr/>
        </p:nvSpPr>
        <p:spPr>
          <a:xfrm>
            <a:off x="2333923" y="9260526"/>
            <a:ext cx="56190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발목에 중량을 달고 앉아서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무릎 45°에서 멈춥니다."/>
          <p:cNvSpPr txBox="1"/>
          <p:nvPr/>
        </p:nvSpPr>
        <p:spPr>
          <a:xfrm>
            <a:off x="2588716" y="9855541"/>
            <a:ext cx="510941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 45°에서 멈춥니다.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다리를 끝까지 펴지 않습니다"/>
          <p:cNvSpPr txBox="1"/>
          <p:nvPr/>
        </p:nvSpPr>
        <p:spPr>
          <a:xfrm>
            <a:off x="1959025" y="10624292"/>
            <a:ext cx="6368951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다리를 끝까지 펴지 않습니다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케틀벨을 든 싱글 레그 데드리프트 옆모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780"/>
            <a:ext cx="8458200" cy="45720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움직임은"/>
          <p:cNvSpPr txBox="1"/>
          <p:nvPr/>
        </p:nvSpPr>
        <p:spPr>
          <a:xfrm>
            <a:off x="3155603" y="1029081"/>
            <a:ext cx="3975497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움직임은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한 발로 연습합니다"/>
          <p:cNvSpPr txBox="1"/>
          <p:nvPr/>
        </p:nvSpPr>
        <p:spPr>
          <a:xfrm>
            <a:off x="1543496" y="1989171"/>
            <a:ext cx="7199858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한 발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로 연습합니다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싱글 레그 데드리프트"/>
          <p:cNvSpPr txBox="1"/>
          <p:nvPr/>
        </p:nvSpPr>
        <p:spPr>
          <a:xfrm>
            <a:off x="2626519" y="8253162"/>
            <a:ext cx="5033814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싱글 레그 데드리프트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7" name="텍스트: 엉덩이가 먼저 뒤로, 골반은 수평"/>
          <p:cNvSpPr txBox="1"/>
          <p:nvPr/>
        </p:nvSpPr>
        <p:spPr>
          <a:xfrm>
            <a:off x="1843832" y="8978497"/>
            <a:ext cx="659933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엉덩이가 먼저 뒤로, 골반은 수평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8" name="텍스트: 무릎은 둘째 발가락 방향"/>
          <p:cNvSpPr txBox="1"/>
          <p:nvPr/>
        </p:nvSpPr>
        <p:spPr>
          <a:xfrm>
            <a:off x="2522488" y="9573512"/>
            <a:ext cx="524187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무릎은 둘째 발가락 방향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1탄의 몸통 기울어짐·허벅지가 안으로"/>
          <p:cNvSpPr txBox="1"/>
          <p:nvPr/>
        </p:nvSpPr>
        <p:spPr>
          <a:xfrm>
            <a:off x="1981498" y="10306830"/>
            <a:ext cx="632400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1탄의 몸통 기울어짐·허벅지가 안으로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모이는 움직임을 한 발로 조절합니다"/>
          <p:cNvSpPr txBox="1"/>
          <p:nvPr/>
        </p:nvSpPr>
        <p:spPr>
          <a:xfrm>
            <a:off x="2078980" y="10786801"/>
            <a:ext cx="612889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모이는 움직임을 한 발로 조절합니다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3" name="텍스트: 무릎 앞이 아픈 러너,"/>
          <p:cNvSpPr txBox="1"/>
          <p:nvPr/>
        </p:nvSpPr>
        <p:spPr>
          <a:xfrm>
            <a:off x="1321147" y="1029081"/>
            <a:ext cx="7644705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무릎 앞이 아픈 러너,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4" name="텍스트: 이렇게 시작합니다"/>
          <p:cNvSpPr txBox="1"/>
          <p:nvPr/>
        </p:nvSpPr>
        <p:spPr>
          <a:xfrm>
            <a:off x="1641574" y="1989171"/>
            <a:ext cx="7003852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이렇게 시작</a:t>
            </a: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합니다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얕게는 스쿼트"/>
          <p:cNvSpPr txBox="1"/>
          <p:nvPr/>
        </p:nvSpPr>
        <p:spPr>
          <a:xfrm>
            <a:off x="3080891" y="3685734"/>
            <a:ext cx="4124920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얕게는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스쿼트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6" name="텍스트: 무릎 0~45° 범위"/>
          <p:cNvSpPr txBox="1"/>
          <p:nvPr/>
        </p:nvSpPr>
        <p:spPr>
          <a:xfrm>
            <a:off x="3170486" y="4448467"/>
            <a:ext cx="3945582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무릎 0~45° 범위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7" name="텍스트: 깊게는 무릎 펴기"/>
          <p:cNvSpPr txBox="1"/>
          <p:nvPr/>
        </p:nvSpPr>
        <p:spPr>
          <a:xfrm>
            <a:off x="2776835" y="5526590"/>
            <a:ext cx="4733032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깊게는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무릎 펴기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8" name="텍스트: 발목 중량, 90°에서 45°까지"/>
          <p:cNvSpPr txBox="1"/>
          <p:nvPr/>
        </p:nvSpPr>
        <p:spPr>
          <a:xfrm>
            <a:off x="2227213" y="6289322"/>
            <a:ext cx="583242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발목 중량, 90°에서 45°까지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조절은 한 발로"/>
          <p:cNvSpPr txBox="1"/>
          <p:nvPr/>
        </p:nvSpPr>
        <p:spPr>
          <a:xfrm>
            <a:off x="3014216" y="7367445"/>
            <a:ext cx="4258270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조절은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한 발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로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0" name="텍스트: 싱글 레그 데드리프트"/>
          <p:cNvSpPr txBox="1"/>
          <p:nvPr/>
        </p:nvSpPr>
        <p:spPr>
          <a:xfrm>
            <a:off x="2765524" y="8130177"/>
            <a:ext cx="475565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싱글 레그 데드리프트</a:t>
            </a:r>
            <a:endParaRPr lang="ko-KR" altLang="en-US" sz="3300" b="0" i="0" spc="-66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1" name="텍스트: 통증이 커지거나 다음 날까지 남으면"/>
          <p:cNvSpPr txBox="1"/>
          <p:nvPr/>
        </p:nvSpPr>
        <p:spPr>
          <a:xfrm>
            <a:off x="1940570" y="9398038"/>
            <a:ext cx="6405860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CC414A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통증이 커지거나 다음 날까지 남으면</a:t>
            </a:r>
            <a:endParaRPr lang="ko-KR" altLang="en-US" sz="2850" b="0" i="0" spc="-57" kern="0" dirty="0">
              <a:solidFill>
                <a:srgbClr val="CC414A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2" name="텍스트: 범위·무게를 줄이고 담당 트레이너와"/>
          <p:cNvSpPr txBox="1"/>
          <p:nvPr/>
        </p:nvSpPr>
        <p:spPr>
          <a:xfrm>
            <a:off x="1932236" y="9911941"/>
            <a:ext cx="6422529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CC414A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범위·무게를 줄이고 담당 트레이너와</a:t>
            </a:r>
            <a:endParaRPr lang="ko-KR" altLang="en-US" sz="2850" b="0" i="0" spc="-57" kern="0" dirty="0">
              <a:solidFill>
                <a:srgbClr val="CC414A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3" name="텍스트: 조정하세요."/>
          <p:cNvSpPr txBox="1"/>
          <p:nvPr/>
        </p:nvSpPr>
        <p:spPr>
          <a:xfrm>
            <a:off x="3702100" y="10425845"/>
            <a:ext cx="2882652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CC414A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조정하세요.</a:t>
            </a:r>
            <a:endParaRPr lang="ko-KR" altLang="en-US" sz="2850" b="0" i="0" spc="-57" kern="0" dirty="0">
              <a:solidFill>
                <a:srgbClr val="CC414A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PFP 2탄 — 각도별 OKC·CKC와 싱글 레그 데드리프트</dc:title>
  <dc:creator>R스포츠재활센터</dc:creator>
</cp:coreProperties>
</file>