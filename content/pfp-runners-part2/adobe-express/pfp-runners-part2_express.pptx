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01_그림배경_1"/>
          <p:cNvSpPr/>
          <p:nvPr/>
        </p:nvSpPr>
        <p:spPr>
          <a:xfrm>
            <a:off x="914400" y="3463826"/>
            <a:ext cx="8458200" cy="4953000"/>
          </a:xfrm>
          <a:prstGeom prst="roundRect">
            <a:avLst>
              <a:gd name="adj" fmla="val 4615"/>
            </a:avLst>
          </a:prstGeom>
          <a:solidFill>
            <a:srgbClr val="F0F7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01_도식" descr="c01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63826"/>
            <a:ext cx="8458200" cy="4953000"/>
          </a:xfrm>
          <a:prstGeom prst="rect">
            <a:avLst/>
          </a:prstGeom>
        </p:spPr>
      </p:pic>
      <p:sp>
        <p:nvSpPr>
          <p:cNvPr id="4" name="01_headline_01"/>
          <p:cNvSpPr txBox="1"/>
          <p:nvPr/>
        </p:nvSpPr>
        <p:spPr>
          <a:xfrm>
            <a:off x="552152" y="988314"/>
            <a:ext cx="9182695" cy="10896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 i="0" spc="-231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스쿼트 vs 레그 익스텐션,</a:t>
            </a:r>
          </a:p>
        </p:txBody>
      </p:sp>
      <p:sp>
        <p:nvSpPr>
          <p:cNvPr id="5" name="01_headline_02"/>
          <p:cNvSpPr txBox="1"/>
          <p:nvPr/>
        </p:nvSpPr>
        <p:spPr>
          <a:xfrm>
            <a:off x="1278880" y="1977277"/>
            <a:ext cx="7729240" cy="10896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 i="0" spc="-231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무릎</a:t>
            </a:r>
            <a:r>
              <a:rPr sz="6600" b="0" i="0" spc="-231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에 덜 부담인 건?</a:t>
            </a:r>
          </a:p>
        </p:txBody>
      </p:sp>
      <p:sp>
        <p:nvSpPr>
          <p:cNvPr id="6" name="01_lead_03"/>
          <p:cNvSpPr txBox="1"/>
          <p:nvPr/>
        </p:nvSpPr>
        <p:spPr>
          <a:xfrm>
            <a:off x="2352973" y="9035570"/>
            <a:ext cx="5580906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700"/>
                <a:ea typeface="Noto Sans KR W700"/>
                <a:cs typeface="Noto Sans KR W700"/>
              </a:rPr>
              <a:t>정답은 운동 이름이 아니라</a:t>
            </a:r>
          </a:p>
        </p:txBody>
      </p:sp>
      <p:sp>
        <p:nvSpPr>
          <p:cNvPr id="7" name="01_lead_04"/>
          <p:cNvSpPr txBox="1"/>
          <p:nvPr/>
        </p:nvSpPr>
        <p:spPr>
          <a:xfrm>
            <a:off x="2681585" y="9675531"/>
            <a:ext cx="4923532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700"/>
                <a:ea typeface="Noto Sans KR W700"/>
                <a:cs typeface="Noto Sans KR W700"/>
              </a:rPr>
              <a:t>‘무릎 각도’에 있습니다</a:t>
            </a:r>
          </a:p>
        </p:txBody>
      </p:sp>
      <p:sp>
        <p:nvSpPr>
          <p:cNvPr id="8" name="01_note_05"/>
          <p:cNvSpPr txBox="1"/>
          <p:nvPr/>
        </p:nvSpPr>
        <p:spPr>
          <a:xfrm>
            <a:off x="1758851" y="10522756"/>
            <a:ext cx="6769298" cy="4457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54" lang="ko-KR" altLang="en-US">
                <a:solidFill>
                  <a:srgbClr val="5E6570"/>
                </a:solidFill>
                <a:latin typeface="Noto Sans KR W500"/>
                <a:ea typeface="Noto Sans KR W500"/>
                <a:cs typeface="Noto Sans KR W500"/>
              </a:rPr>
              <a:t>PFP 2탄 · 1탄 ‘러너의 무릎 앞 통증’ 이어서</a:t>
            </a:r>
          </a:p>
        </p:txBody>
      </p:sp>
      <p:sp>
        <p:nvSpPr>
          <p:cNvPr id="9" name="01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2_도식" descr="c02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5129510"/>
            <a:ext cx="2628900" cy="3143250"/>
          </a:xfrm>
          <a:prstGeom prst="rect">
            <a:avLst/>
          </a:prstGeom>
        </p:spPr>
      </p:pic>
      <p:pic>
        <p:nvPicPr>
          <p:cNvPr id="3" name="02_도식" descr="c02-pi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50" y="5129510"/>
            <a:ext cx="2628900" cy="3143250"/>
          </a:xfrm>
          <a:prstGeom prst="rect">
            <a:avLst/>
          </a:prstGeom>
        </p:spPr>
      </p:pic>
      <p:pic>
        <p:nvPicPr>
          <p:cNvPr id="4" name="02_도식" descr="c02-pi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5129510"/>
            <a:ext cx="2628900" cy="3143250"/>
          </a:xfrm>
          <a:prstGeom prst="rect">
            <a:avLst/>
          </a:prstGeom>
        </p:spPr>
      </p:pic>
      <p:sp>
        <p:nvSpPr>
          <p:cNvPr id="5" name="02_headline_01"/>
          <p:cNvSpPr txBox="1"/>
          <p:nvPr/>
        </p:nvSpPr>
        <p:spPr>
          <a:xfrm>
            <a:off x="3250257" y="997077"/>
            <a:ext cx="3786485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1탄 결론,</a:t>
            </a:r>
          </a:p>
        </p:txBody>
      </p:sp>
      <p:sp>
        <p:nvSpPr>
          <p:cNvPr id="6" name="02_headline_02"/>
          <p:cNvSpPr txBox="1"/>
          <p:nvPr/>
        </p:nvSpPr>
        <p:spPr>
          <a:xfrm>
            <a:off x="1282005" y="1957167"/>
            <a:ext cx="7722989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허벅지 앞 근육</a:t>
            </a: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 키우기</a:t>
            </a:r>
          </a:p>
        </p:txBody>
      </p:sp>
      <p:sp>
        <p:nvSpPr>
          <p:cNvPr id="7" name="02_body_03"/>
          <p:cNvSpPr txBox="1"/>
          <p:nvPr/>
        </p:nvSpPr>
        <p:spPr>
          <a:xfrm>
            <a:off x="1904107" y="3376362"/>
            <a:ext cx="6478637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발생 위험 요인으로 확인된 예외가</a:t>
            </a:r>
          </a:p>
        </p:txBody>
      </p:sp>
      <p:sp>
        <p:nvSpPr>
          <p:cNvPr id="8" name="02_body_04"/>
          <p:cNvSpPr txBox="1"/>
          <p:nvPr/>
        </p:nvSpPr>
        <p:spPr>
          <a:xfrm>
            <a:off x="1557933" y="3971377"/>
            <a:ext cx="7170986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무릎 폄 근력이었죠. 어떻게 키울까요?</a:t>
            </a:r>
          </a:p>
        </p:txBody>
      </p:sp>
      <p:sp>
        <p:nvSpPr>
          <p:cNvPr id="9" name="02_item-h_05"/>
          <p:cNvSpPr txBox="1"/>
          <p:nvPr/>
        </p:nvSpPr>
        <p:spPr>
          <a:xfrm>
            <a:off x="1345406" y="8300192"/>
            <a:ext cx="1881039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99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스쿼트</a:t>
            </a:r>
          </a:p>
        </p:txBody>
      </p:sp>
      <p:sp>
        <p:nvSpPr>
          <p:cNvPr id="10" name="02_note_06"/>
          <p:cNvSpPr txBox="1"/>
          <p:nvPr/>
        </p:nvSpPr>
        <p:spPr>
          <a:xfrm>
            <a:off x="697260" y="8909673"/>
            <a:ext cx="3177480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-51" lang="ko-KR" altLang="en-US">
                <a:solidFill>
                  <a:srgbClr val="121416"/>
                </a:solidFill>
                <a:latin typeface="Noto Sans KR W600"/>
                <a:ea typeface="Noto Sans KR W600"/>
                <a:cs typeface="Noto Sans KR W600"/>
              </a:rPr>
              <a:t>CKC · 발이 바닥에</a:t>
            </a:r>
          </a:p>
        </p:txBody>
      </p:sp>
      <p:sp>
        <p:nvSpPr>
          <p:cNvPr id="11" name="02_item-h_07"/>
          <p:cNvSpPr txBox="1"/>
          <p:nvPr/>
        </p:nvSpPr>
        <p:spPr>
          <a:xfrm>
            <a:off x="3964037" y="8300192"/>
            <a:ext cx="2358777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99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무릎 펴기</a:t>
            </a:r>
          </a:p>
        </p:txBody>
      </p:sp>
      <p:sp>
        <p:nvSpPr>
          <p:cNvPr id="12" name="02_note_08"/>
          <p:cNvSpPr txBox="1"/>
          <p:nvPr/>
        </p:nvSpPr>
        <p:spPr>
          <a:xfrm>
            <a:off x="3682454" y="8909673"/>
            <a:ext cx="2921943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-51" lang="ko-KR" altLang="en-US">
                <a:solidFill>
                  <a:srgbClr val="121416"/>
                </a:solidFill>
                <a:latin typeface="Noto Sans KR W600"/>
                <a:ea typeface="Noto Sans KR W600"/>
                <a:cs typeface="Noto Sans KR W600"/>
              </a:rPr>
              <a:t>OKC · 발목 중량</a:t>
            </a:r>
          </a:p>
        </p:txBody>
      </p:sp>
      <p:sp>
        <p:nvSpPr>
          <p:cNvPr id="13" name="02_item-h_09"/>
          <p:cNvSpPr txBox="1"/>
          <p:nvPr/>
        </p:nvSpPr>
        <p:spPr>
          <a:xfrm>
            <a:off x="6821537" y="8300192"/>
            <a:ext cx="2358777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99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무릎 펴기</a:t>
            </a:r>
          </a:p>
        </p:txBody>
      </p:sp>
      <p:sp>
        <p:nvSpPr>
          <p:cNvPr id="14" name="02_note_10"/>
          <p:cNvSpPr txBox="1"/>
          <p:nvPr/>
        </p:nvSpPr>
        <p:spPr>
          <a:xfrm>
            <a:off x="6539954" y="8909673"/>
            <a:ext cx="2921943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-51" lang="ko-KR" altLang="en-US">
                <a:solidFill>
                  <a:srgbClr val="121416"/>
                </a:solidFill>
                <a:latin typeface="Noto Sans KR W600"/>
                <a:ea typeface="Noto Sans KR W600"/>
                <a:cs typeface="Noto Sans KR W600"/>
              </a:rPr>
              <a:t>OKC · 고정 저항</a:t>
            </a:r>
          </a:p>
        </p:txBody>
      </p:sp>
      <p:sp>
        <p:nvSpPr>
          <p:cNvPr id="15" name="02_body_11"/>
          <p:cNvSpPr txBox="1"/>
          <p:nvPr/>
        </p:nvSpPr>
        <p:spPr>
          <a:xfrm>
            <a:off x="1661071" y="9990433"/>
            <a:ext cx="6964710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세 운동을 같은 근육 활성도로 맞추고</a:t>
            </a:r>
          </a:p>
        </p:txBody>
      </p:sp>
      <p:sp>
        <p:nvSpPr>
          <p:cNvPr id="16" name="02_body_12"/>
          <p:cNvSpPr txBox="1"/>
          <p:nvPr/>
        </p:nvSpPr>
        <p:spPr>
          <a:xfrm>
            <a:off x="1099542" y="10585448"/>
            <a:ext cx="8087916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0~90° 각도별 무릎뼈 압박을 비교했습니다.</a:t>
            </a:r>
          </a:p>
        </p:txBody>
      </p:sp>
      <p:sp>
        <p:nvSpPr>
          <p:cNvPr id="17" name="02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3_도식" descr="c03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6096000"/>
          </a:xfrm>
          <a:prstGeom prst="rect">
            <a:avLst/>
          </a:prstGeom>
        </p:spPr>
      </p:pic>
      <p:sp>
        <p:nvSpPr>
          <p:cNvPr id="3" name="03_headline_01"/>
          <p:cNvSpPr txBox="1"/>
          <p:nvPr/>
        </p:nvSpPr>
        <p:spPr>
          <a:xfrm>
            <a:off x="2894261" y="997077"/>
            <a:ext cx="4498479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각도에 따라</a:t>
            </a:r>
          </a:p>
        </p:txBody>
      </p:sp>
      <p:sp>
        <p:nvSpPr>
          <p:cNvPr id="4" name="03_headline_02"/>
          <p:cNvSpPr txBox="1"/>
          <p:nvPr/>
        </p:nvSpPr>
        <p:spPr>
          <a:xfrm>
            <a:off x="1832074" y="1957167"/>
            <a:ext cx="6622852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압박이 </a:t>
            </a: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뒤집힙니다</a:t>
            </a:r>
          </a:p>
        </p:txBody>
      </p:sp>
      <p:sp>
        <p:nvSpPr>
          <p:cNvPr id="5" name="03_body_03"/>
          <p:cNvSpPr txBox="1"/>
          <p:nvPr/>
        </p:nvSpPr>
        <p:spPr>
          <a:xfrm>
            <a:off x="2088654" y="9748587"/>
            <a:ext cx="6109395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깊게 굽힐수록 스쿼트가, 펼수록</a:t>
            </a:r>
          </a:p>
        </p:txBody>
      </p:sp>
      <p:sp>
        <p:nvSpPr>
          <p:cNvPr id="6" name="03_body_04"/>
          <p:cNvSpPr txBox="1"/>
          <p:nvPr/>
        </p:nvSpPr>
        <p:spPr>
          <a:xfrm>
            <a:off x="1849636" y="10343602"/>
            <a:ext cx="6587579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발목 중량 무릎 펴기가 압박이 컸고</a:t>
            </a:r>
          </a:p>
        </p:txBody>
      </p:sp>
      <p:sp>
        <p:nvSpPr>
          <p:cNvPr id="7" name="03_key_05"/>
          <p:cNvSpPr txBox="1"/>
          <p:nvPr/>
        </p:nvSpPr>
        <p:spPr>
          <a:xfrm>
            <a:off x="1991618" y="11053679"/>
            <a:ext cx="6303764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45°에서는 차이가 없었습니다.</a:t>
            </a:r>
          </a:p>
        </p:txBody>
      </p:sp>
      <p:sp>
        <p:nvSpPr>
          <p:cNvPr id="8" name="03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4_도식" descr="c04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6096000"/>
          </a:xfrm>
          <a:prstGeom prst="rect">
            <a:avLst/>
          </a:prstGeom>
        </p:spPr>
      </p:pic>
      <p:sp>
        <p:nvSpPr>
          <p:cNvPr id="3" name="04_headline_01"/>
          <p:cNvSpPr txBox="1"/>
          <p:nvPr/>
        </p:nvSpPr>
        <p:spPr>
          <a:xfrm>
            <a:off x="2366367" y="997077"/>
            <a:ext cx="5554117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0~45°는 CKC,</a:t>
            </a:r>
          </a:p>
        </p:txBody>
      </p:sp>
      <p:sp>
        <p:nvSpPr>
          <p:cNvPr id="4" name="04_headline_02"/>
          <p:cNvSpPr txBox="1"/>
          <p:nvPr/>
        </p:nvSpPr>
        <p:spPr>
          <a:xfrm>
            <a:off x="2215902" y="1957167"/>
            <a:ext cx="5855047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45~90°는 </a:t>
            </a: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OKC</a:t>
            </a:r>
          </a:p>
        </p:txBody>
      </p:sp>
      <p:sp>
        <p:nvSpPr>
          <p:cNvPr id="5" name="04_body_03"/>
          <p:cNvSpPr txBox="1"/>
          <p:nvPr/>
        </p:nvSpPr>
        <p:spPr>
          <a:xfrm>
            <a:off x="1621482" y="9748587"/>
            <a:ext cx="7043886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얕은 스쿼트 + 굽힌 구간의 무릎 펴기,</a:t>
            </a:r>
          </a:p>
        </p:txBody>
      </p:sp>
      <p:sp>
        <p:nvSpPr>
          <p:cNvPr id="6" name="04_body_04"/>
          <p:cNvSpPr txBox="1"/>
          <p:nvPr/>
        </p:nvSpPr>
        <p:spPr>
          <a:xfrm>
            <a:off x="1025426" y="10343602"/>
            <a:ext cx="8236000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이 조합에서 압박이 약 4 MPa 아래였습니다.</a:t>
            </a:r>
          </a:p>
        </p:txBody>
      </p:sp>
      <p:sp>
        <p:nvSpPr>
          <p:cNvPr id="7" name="04_note_05"/>
          <p:cNvSpPr txBox="1"/>
          <p:nvPr/>
        </p:nvSpPr>
        <p:spPr>
          <a:xfrm>
            <a:off x="1505992" y="11089493"/>
            <a:ext cx="7274868" cy="4457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54" lang="ko-KR" altLang="en-US">
                <a:solidFill>
                  <a:srgbClr val="5E6570"/>
                </a:solidFill>
                <a:latin typeface="Noto Sans KR W500"/>
                <a:ea typeface="Noto Sans KR W500"/>
                <a:cs typeface="Noto Sans KR W500"/>
              </a:rPr>
              <a:t>4 MPa: 계단을 오르내릴 때 보고된 최대치 수준</a:t>
            </a:r>
          </a:p>
        </p:txBody>
      </p:sp>
      <p:sp>
        <p:nvSpPr>
          <p:cNvPr id="8" name="04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05_강조박스_1"/>
          <p:cNvSpPr/>
          <p:nvPr/>
        </p:nvSpPr>
        <p:spPr>
          <a:xfrm>
            <a:off x="914400" y="9815364"/>
            <a:ext cx="8458200" cy="1707356"/>
          </a:xfrm>
          <a:prstGeom prst="roundRect">
            <a:avLst>
              <a:gd name="adj" fmla="val 13389"/>
            </a:avLst>
          </a:prstGeom>
          <a:solidFill>
            <a:srgbClr val="F0F7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05_구분선_2"/>
          <p:cNvCxnSpPr/>
          <p:nvPr/>
        </p:nvCxnSpPr>
        <p:spPr>
          <a:xfrm>
            <a:off x="914400" y="5304383"/>
            <a:ext cx="8458200" cy="0"/>
          </a:xfrm>
          <a:prstGeom prst="line">
            <a:avLst/>
          </a:prstGeom>
          <a:ln w="19050">
            <a:solidFill>
              <a:srgbClr val="E6ECF1"/>
            </a:solidFill>
          </a:ln>
          <a:effectLst/>
        </p:spPr>
      </p:cxnSp>
      <p:cxnSp>
        <p:nvCxnSpPr>
          <p:cNvPr id="4" name="05_구분선_3"/>
          <p:cNvCxnSpPr/>
          <p:nvPr/>
        </p:nvCxnSpPr>
        <p:spPr>
          <a:xfrm>
            <a:off x="914400" y="7421761"/>
            <a:ext cx="8458200" cy="0"/>
          </a:xfrm>
          <a:prstGeom prst="line">
            <a:avLst/>
          </a:prstGeom>
          <a:ln w="19050">
            <a:solidFill>
              <a:srgbClr val="E6ECF1"/>
            </a:solidFill>
          </a:ln>
          <a:effectLst/>
        </p:spPr>
      </p:cxnSp>
      <p:sp>
        <p:nvSpPr>
          <p:cNvPr id="5" name="05_headline_01"/>
          <p:cNvSpPr txBox="1"/>
          <p:nvPr/>
        </p:nvSpPr>
        <p:spPr>
          <a:xfrm>
            <a:off x="1379934" y="997077"/>
            <a:ext cx="7526982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그대로 처방하기 전에</a:t>
            </a:r>
          </a:p>
        </p:txBody>
      </p:sp>
      <p:sp>
        <p:nvSpPr>
          <p:cNvPr id="6" name="05_headline_02"/>
          <p:cNvSpPr txBox="1"/>
          <p:nvPr/>
        </p:nvSpPr>
        <p:spPr>
          <a:xfrm>
            <a:off x="3248174" y="1957167"/>
            <a:ext cx="3790504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알아둘 것</a:t>
            </a:r>
          </a:p>
        </p:txBody>
      </p:sp>
      <p:sp>
        <p:nvSpPr>
          <p:cNvPr id="7" name="05_item-h_03"/>
          <p:cNvSpPr txBox="1"/>
          <p:nvPr/>
        </p:nvSpPr>
        <p:spPr>
          <a:xfrm>
            <a:off x="3427363" y="3386649"/>
            <a:ext cx="3432125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고정 저항 기계</a:t>
            </a:r>
          </a:p>
        </p:txBody>
      </p:sp>
      <p:sp>
        <p:nvSpPr>
          <p:cNvPr id="8" name="05_body_04"/>
          <p:cNvSpPr txBox="1"/>
          <p:nvPr/>
        </p:nvSpPr>
        <p:spPr>
          <a:xfrm>
            <a:off x="2795290" y="4065502"/>
            <a:ext cx="4696271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전 구간 4 MPa 이상이라</a:t>
            </a:r>
          </a:p>
        </p:txBody>
      </p:sp>
      <p:sp>
        <p:nvSpPr>
          <p:cNvPr id="9" name="05_body_05"/>
          <p:cNvSpPr txBox="1"/>
          <p:nvPr/>
        </p:nvSpPr>
        <p:spPr>
          <a:xfrm>
            <a:off x="2442270" y="4617506"/>
            <a:ext cx="5402312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연구진도 주의를 권했습니다.</a:t>
            </a:r>
          </a:p>
        </p:txBody>
      </p:sp>
      <p:sp>
        <p:nvSpPr>
          <p:cNvPr id="10" name="05_item-h_06"/>
          <p:cNvSpPr txBox="1"/>
          <p:nvPr/>
        </p:nvSpPr>
        <p:spPr>
          <a:xfrm>
            <a:off x="3167211" y="5504027"/>
            <a:ext cx="3952429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건강한 성인 10명</a:t>
            </a:r>
          </a:p>
        </p:txBody>
      </p:sp>
      <p:sp>
        <p:nvSpPr>
          <p:cNvPr id="11" name="05_body_07"/>
          <p:cNvSpPr txBox="1"/>
          <p:nvPr/>
        </p:nvSpPr>
        <p:spPr>
          <a:xfrm>
            <a:off x="2393752" y="6182880"/>
            <a:ext cx="5499497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PFP 환자는 접촉 면적이 작아</a:t>
            </a:r>
          </a:p>
        </p:txBody>
      </p:sp>
      <p:sp>
        <p:nvSpPr>
          <p:cNvPr id="12" name="05_body_08"/>
          <p:cNvSpPr txBox="1"/>
          <p:nvPr/>
        </p:nvSpPr>
        <p:spPr>
          <a:xfrm>
            <a:off x="2698403" y="6734883"/>
            <a:ext cx="4890195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압박이 더 클 수 있습니다.</a:t>
            </a:r>
          </a:p>
        </p:txBody>
      </p:sp>
      <p:sp>
        <p:nvSpPr>
          <p:cNvPr id="13" name="05_item-h_09"/>
          <p:cNvSpPr txBox="1"/>
          <p:nvPr/>
        </p:nvSpPr>
        <p:spPr>
          <a:xfrm>
            <a:off x="3687961" y="7621405"/>
            <a:ext cx="2910929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모델 추정값</a:t>
            </a:r>
          </a:p>
        </p:txBody>
      </p:sp>
      <p:sp>
        <p:nvSpPr>
          <p:cNvPr id="14" name="05_body_10"/>
          <p:cNvSpPr txBox="1"/>
          <p:nvPr/>
        </p:nvSpPr>
        <p:spPr>
          <a:xfrm>
            <a:off x="2678162" y="8300258"/>
            <a:ext cx="4930527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올라오는 구간만 계산했고</a:t>
            </a:r>
          </a:p>
        </p:txBody>
      </p:sp>
      <p:sp>
        <p:nvSpPr>
          <p:cNvPr id="15" name="05_body_11"/>
          <p:cNvSpPr txBox="1"/>
          <p:nvPr/>
        </p:nvSpPr>
        <p:spPr>
          <a:xfrm>
            <a:off x="2802434" y="8852261"/>
            <a:ext cx="4682133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실제 측정값이 아닙니다.</a:t>
            </a:r>
          </a:p>
        </p:txBody>
      </p:sp>
      <p:sp>
        <p:nvSpPr>
          <p:cNvPr id="16" name="05_body_12"/>
          <p:cNvSpPr txBox="1"/>
          <p:nvPr/>
        </p:nvSpPr>
        <p:spPr>
          <a:xfrm>
            <a:off x="3030438" y="10147215"/>
            <a:ext cx="4226123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각도는 출발점입니다.</a:t>
            </a:r>
          </a:p>
        </p:txBody>
      </p:sp>
      <p:sp>
        <p:nvSpPr>
          <p:cNvPr id="17" name="05_body_13"/>
          <p:cNvSpPr txBox="1"/>
          <p:nvPr/>
        </p:nvSpPr>
        <p:spPr>
          <a:xfrm>
            <a:off x="1322338" y="10715143"/>
            <a:ext cx="7642175" cy="5200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0" i="0" spc="-63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운동 중·다음 날 통증 반응으로 조절하세요.</a:t>
            </a:r>
          </a:p>
        </p:txBody>
      </p:sp>
      <p:sp>
        <p:nvSpPr>
          <p:cNvPr id="18" name="05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06_그림배경_1"/>
          <p:cNvSpPr/>
          <p:nvPr/>
        </p:nvSpPr>
        <p:spPr>
          <a:xfrm>
            <a:off x="914400" y="4767560"/>
            <a:ext cx="8458200" cy="3143250"/>
          </a:xfrm>
          <a:prstGeom prst="roundRect">
            <a:avLst>
              <a:gd name="adj" fmla="val 7272"/>
            </a:avLst>
          </a:prstGeom>
          <a:solidFill>
            <a:srgbClr val="F0F7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06_도식" descr="c06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67560"/>
            <a:ext cx="8458200" cy="3143250"/>
          </a:xfrm>
          <a:prstGeom prst="rect">
            <a:avLst/>
          </a:prstGeom>
        </p:spPr>
      </p:pic>
      <p:sp>
        <p:nvSpPr>
          <p:cNvPr id="4" name="06_headline_01"/>
          <p:cNvSpPr txBox="1"/>
          <p:nvPr/>
        </p:nvSpPr>
        <p:spPr>
          <a:xfrm>
            <a:off x="2540198" y="997077"/>
            <a:ext cx="5206603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움직임 패턴은</a:t>
            </a:r>
          </a:p>
        </p:txBody>
      </p:sp>
      <p:sp>
        <p:nvSpPr>
          <p:cNvPr id="5" name="06_headline_02"/>
          <p:cNvSpPr txBox="1"/>
          <p:nvPr/>
        </p:nvSpPr>
        <p:spPr>
          <a:xfrm>
            <a:off x="2638127" y="1957167"/>
            <a:ext cx="5010745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엉덩관절</a:t>
            </a: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에서</a:t>
            </a:r>
          </a:p>
        </p:txBody>
      </p:sp>
      <p:sp>
        <p:nvSpPr>
          <p:cNvPr id="6" name="06_body_03"/>
          <p:cNvSpPr txBox="1"/>
          <p:nvPr/>
        </p:nvSpPr>
        <p:spPr>
          <a:xfrm>
            <a:off x="2409230" y="3281112"/>
            <a:ext cx="5468541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1탄에서 본 몸통 기울어짐과</a:t>
            </a:r>
          </a:p>
        </p:txBody>
      </p:sp>
      <p:sp>
        <p:nvSpPr>
          <p:cNvPr id="7" name="06_body_04"/>
          <p:cNvSpPr txBox="1"/>
          <p:nvPr/>
        </p:nvSpPr>
        <p:spPr>
          <a:xfrm>
            <a:off x="2088803" y="3876127"/>
            <a:ext cx="6109395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허벅지가 안으로 모이는 움직임,</a:t>
            </a:r>
          </a:p>
        </p:txBody>
      </p:sp>
      <p:sp>
        <p:nvSpPr>
          <p:cNvPr id="8" name="06_key_05"/>
          <p:cNvSpPr txBox="1"/>
          <p:nvPr/>
        </p:nvSpPr>
        <p:spPr>
          <a:xfrm>
            <a:off x="2434530" y="8282666"/>
            <a:ext cx="5417939" cy="6438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0" spc="-117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싱글 레그 데드리프트로</a:t>
            </a:r>
          </a:p>
        </p:txBody>
      </p:sp>
      <p:sp>
        <p:nvSpPr>
          <p:cNvPr id="9" name="06_key_06"/>
          <p:cNvSpPr txBox="1"/>
          <p:nvPr/>
        </p:nvSpPr>
        <p:spPr>
          <a:xfrm>
            <a:off x="2372618" y="8926497"/>
            <a:ext cx="5541764" cy="6438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0" spc="-117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한 발 조절을 연습합니다</a:t>
            </a:r>
          </a:p>
        </p:txBody>
      </p:sp>
      <p:sp>
        <p:nvSpPr>
          <p:cNvPr id="10" name="06_body_07"/>
          <p:cNvSpPr txBox="1"/>
          <p:nvPr/>
        </p:nvSpPr>
        <p:spPr>
          <a:xfrm>
            <a:off x="1036886" y="9797403"/>
            <a:ext cx="8213229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엉덩이 근육을 크게 쓰는 동작으로 보고되고,</a:t>
            </a:r>
          </a:p>
        </p:txBody>
      </p:sp>
      <p:sp>
        <p:nvSpPr>
          <p:cNvPr id="11" name="06_body_08"/>
          <p:cNvSpPr txBox="1"/>
          <p:nvPr/>
        </p:nvSpPr>
        <p:spPr>
          <a:xfrm>
            <a:off x="1407765" y="10392418"/>
            <a:ext cx="7471470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엉덩관절+무릎 운동 병행이 권장됩니다.</a:t>
            </a:r>
          </a:p>
        </p:txBody>
      </p:sp>
      <p:sp>
        <p:nvSpPr>
          <p:cNvPr id="12" name="06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7_도식" descr="c07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3124200"/>
            <a:ext cx="8229600" cy="4629150"/>
          </a:xfrm>
          <a:prstGeom prst="rect">
            <a:avLst/>
          </a:prstGeom>
        </p:spPr>
      </p:pic>
      <p:sp>
        <p:nvSpPr>
          <p:cNvPr id="3" name="07_headline_01"/>
          <p:cNvSpPr txBox="1"/>
          <p:nvPr/>
        </p:nvSpPr>
        <p:spPr>
          <a:xfrm>
            <a:off x="1255514" y="997077"/>
            <a:ext cx="7775823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싱글 레그 데드리프트,</a:t>
            </a:r>
          </a:p>
        </p:txBody>
      </p:sp>
      <p:sp>
        <p:nvSpPr>
          <p:cNvPr id="4" name="07_headline_02"/>
          <p:cNvSpPr txBox="1"/>
          <p:nvPr/>
        </p:nvSpPr>
        <p:spPr>
          <a:xfrm>
            <a:off x="2540050" y="1957167"/>
            <a:ext cx="5206752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이것만</a:t>
            </a: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 보세요</a:t>
            </a:r>
          </a:p>
        </p:txBody>
      </p:sp>
      <p:sp>
        <p:nvSpPr>
          <p:cNvPr id="5" name="07_key_03"/>
          <p:cNvSpPr txBox="1"/>
          <p:nvPr/>
        </p:nvSpPr>
        <p:spPr>
          <a:xfrm>
            <a:off x="3165128" y="8136255"/>
            <a:ext cx="3956745" cy="742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0" b="0" i="0" spc="-135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엉덩이가 먼저</a:t>
            </a:r>
          </a:p>
        </p:txBody>
      </p:sp>
      <p:sp>
        <p:nvSpPr>
          <p:cNvPr id="6" name="07_key_04"/>
          <p:cNvSpPr txBox="1"/>
          <p:nvPr/>
        </p:nvSpPr>
        <p:spPr>
          <a:xfrm>
            <a:off x="3276005" y="8844826"/>
            <a:ext cx="3734991" cy="742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0" b="0" i="0" spc="-135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뒤로 가나요?</a:t>
            </a:r>
          </a:p>
        </p:txBody>
      </p:sp>
      <p:sp>
        <p:nvSpPr>
          <p:cNvPr id="7" name="07_item-h_05"/>
          <p:cNvSpPr txBox="1"/>
          <p:nvPr/>
        </p:nvSpPr>
        <p:spPr>
          <a:xfrm>
            <a:off x="2179588" y="9895332"/>
            <a:ext cx="1508075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99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무릎</a:t>
            </a:r>
          </a:p>
        </p:txBody>
      </p:sp>
      <p:sp>
        <p:nvSpPr>
          <p:cNvPr id="8" name="07_body_06"/>
          <p:cNvSpPr txBox="1"/>
          <p:nvPr/>
        </p:nvSpPr>
        <p:spPr>
          <a:xfrm>
            <a:off x="1200299" y="10505956"/>
            <a:ext cx="3466802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둘째 발가락 방향,</a:t>
            </a:r>
          </a:p>
        </p:txBody>
      </p:sp>
      <p:sp>
        <p:nvSpPr>
          <p:cNvPr id="9" name="07_body_07"/>
          <p:cNvSpPr txBox="1"/>
          <p:nvPr/>
        </p:nvSpPr>
        <p:spPr>
          <a:xfrm>
            <a:off x="1081980" y="11024027"/>
            <a:ext cx="370343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안으로 모이지 않게</a:t>
            </a:r>
          </a:p>
        </p:txBody>
      </p:sp>
      <p:sp>
        <p:nvSpPr>
          <p:cNvPr id="10" name="07_item-h_08"/>
          <p:cNvSpPr txBox="1"/>
          <p:nvPr/>
        </p:nvSpPr>
        <p:spPr>
          <a:xfrm>
            <a:off x="6599188" y="9895332"/>
            <a:ext cx="1508075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99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골반</a:t>
            </a:r>
          </a:p>
        </p:txBody>
      </p:sp>
      <p:sp>
        <p:nvSpPr>
          <p:cNvPr id="11" name="07_body_09"/>
          <p:cNvSpPr txBox="1"/>
          <p:nvPr/>
        </p:nvSpPr>
        <p:spPr>
          <a:xfrm>
            <a:off x="6065490" y="10505956"/>
            <a:ext cx="25756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양쪽 높이를</a:t>
            </a:r>
          </a:p>
        </p:txBody>
      </p:sp>
      <p:sp>
        <p:nvSpPr>
          <p:cNvPr id="12" name="07_body_10"/>
          <p:cNvSpPr txBox="1"/>
          <p:nvPr/>
        </p:nvSpPr>
        <p:spPr>
          <a:xfrm>
            <a:off x="5894040" y="11024027"/>
            <a:ext cx="29185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수평으로 유지</a:t>
            </a:r>
          </a:p>
        </p:txBody>
      </p:sp>
      <p:sp>
        <p:nvSpPr>
          <p:cNvPr id="13" name="07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08_구간막대_1"/>
          <p:cNvSpPr/>
          <p:nvPr/>
        </p:nvSpPr>
        <p:spPr>
          <a:xfrm>
            <a:off x="914400" y="3444180"/>
            <a:ext cx="4210050" cy="800100"/>
          </a:xfrm>
          <a:prstGeom prst="roundRect">
            <a:avLst>
              <a:gd name="adj" fmla="val 0"/>
            </a:avLst>
          </a:prstGeom>
          <a:solidFill>
            <a:srgbClr val="1214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08_구간막대_2"/>
          <p:cNvSpPr/>
          <p:nvPr/>
        </p:nvSpPr>
        <p:spPr>
          <a:xfrm>
            <a:off x="5162550" y="3444180"/>
            <a:ext cx="4210050" cy="800100"/>
          </a:xfrm>
          <a:prstGeom prst="roundRect">
            <a:avLst>
              <a:gd name="adj" fmla="val 0"/>
            </a:avLst>
          </a:prstGeom>
          <a:solidFill>
            <a:srgbClr val="0879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08_headline_01"/>
          <p:cNvSpPr txBox="1"/>
          <p:nvPr/>
        </p:nvSpPr>
        <p:spPr>
          <a:xfrm>
            <a:off x="1511647" y="997077"/>
            <a:ext cx="7263705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무릎 앞이 아픈 러너,</a:t>
            </a:r>
          </a:p>
        </p:txBody>
      </p:sp>
      <p:sp>
        <p:nvSpPr>
          <p:cNvPr id="5" name="08_headline_02"/>
          <p:cNvSpPr txBox="1"/>
          <p:nvPr/>
        </p:nvSpPr>
        <p:spPr>
          <a:xfrm>
            <a:off x="1832074" y="1957167"/>
            <a:ext cx="6622852" cy="1040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0" i="0" spc="-220" lang="ko-KR" altLang="en-US">
                <a:solidFill>
                  <a:srgbClr val="0879D8"/>
                </a:solidFill>
                <a:latin typeface="Noto Sans KR W850"/>
                <a:ea typeface="Noto Sans KR W850"/>
                <a:cs typeface="Noto Sans KR W850"/>
              </a:rPr>
              <a:t>이렇게 시작</a:t>
            </a:r>
            <a:r>
              <a:rPr sz="6300" b="0" i="0" spc="-220" lang="ko-KR" altLang="en-US">
                <a:solidFill>
                  <a:srgbClr val="121416"/>
                </a:solidFill>
                <a:latin typeface="Noto Sans KR W850"/>
                <a:ea typeface="Noto Sans KR W850"/>
                <a:cs typeface="Noto Sans KR W850"/>
              </a:rPr>
              <a:t>합니다</a:t>
            </a:r>
          </a:p>
        </p:txBody>
      </p:sp>
      <p:sp>
        <p:nvSpPr>
          <p:cNvPr id="6" name="08_div_03"/>
          <p:cNvSpPr txBox="1"/>
          <p:nvPr/>
        </p:nvSpPr>
        <p:spPr>
          <a:xfrm>
            <a:off x="1707952" y="3623250"/>
            <a:ext cx="2622798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FFFFFF"/>
                </a:solidFill>
                <a:latin typeface="Noto Sans KR W800"/>
                <a:ea typeface="Noto Sans KR W800"/>
                <a:cs typeface="Noto Sans KR W800"/>
              </a:rPr>
              <a:t>CKC 스쿼트</a:t>
            </a:r>
          </a:p>
        </p:txBody>
      </p:sp>
      <p:sp>
        <p:nvSpPr>
          <p:cNvPr id="7" name="08_div_04"/>
          <p:cNvSpPr txBox="1"/>
          <p:nvPr/>
        </p:nvSpPr>
        <p:spPr>
          <a:xfrm>
            <a:off x="5713065" y="3623250"/>
            <a:ext cx="3108871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 lang="ko-KR" altLang="en-US">
                <a:solidFill>
                  <a:srgbClr val="FFFFFF"/>
                </a:solidFill>
                <a:latin typeface="Noto Sans KR W800"/>
                <a:ea typeface="Noto Sans KR W800"/>
                <a:cs typeface="Noto Sans KR W800"/>
              </a:rPr>
              <a:t>OKC 발목 중량</a:t>
            </a:r>
          </a:p>
        </p:txBody>
      </p:sp>
      <p:sp>
        <p:nvSpPr>
          <p:cNvPr id="8" name="08_span_05"/>
          <p:cNvSpPr txBox="1"/>
          <p:nvPr/>
        </p:nvSpPr>
        <p:spPr>
          <a:xfrm>
            <a:off x="533400" y="4365057"/>
            <a:ext cx="1077516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0" lang="ko-KR" altLang="en-US">
                <a:solidFill>
                  <a:srgbClr val="5E6570"/>
                </a:solidFill>
                <a:latin typeface="Noto Sans KR W600"/>
                <a:ea typeface="Noto Sans KR W600"/>
                <a:cs typeface="Noto Sans KR W600"/>
              </a:rPr>
              <a:t>0°</a:t>
            </a:r>
          </a:p>
        </p:txBody>
      </p:sp>
      <p:sp>
        <p:nvSpPr>
          <p:cNvPr id="9" name="08_span_06"/>
          <p:cNvSpPr txBox="1"/>
          <p:nvPr/>
        </p:nvSpPr>
        <p:spPr>
          <a:xfrm>
            <a:off x="4416921" y="4365057"/>
            <a:ext cx="1265337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0" lang="ko-KR" altLang="en-US">
                <a:solidFill>
                  <a:srgbClr val="5E6570"/>
                </a:solidFill>
                <a:latin typeface="Noto Sans KR W600"/>
                <a:ea typeface="Noto Sans KR W600"/>
                <a:cs typeface="Noto Sans KR W600"/>
              </a:rPr>
              <a:t>45°</a:t>
            </a:r>
          </a:p>
        </p:txBody>
      </p:sp>
      <p:sp>
        <p:nvSpPr>
          <p:cNvPr id="10" name="08_span_07"/>
          <p:cNvSpPr txBox="1"/>
          <p:nvPr/>
        </p:nvSpPr>
        <p:spPr>
          <a:xfrm>
            <a:off x="8488263" y="4365057"/>
            <a:ext cx="1265337" cy="42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0" spc="0" lang="ko-KR" altLang="en-US">
                <a:solidFill>
                  <a:srgbClr val="5E6570"/>
                </a:solidFill>
                <a:latin typeface="Noto Sans KR W600"/>
                <a:ea typeface="Noto Sans KR W600"/>
                <a:cs typeface="Noto Sans KR W600"/>
              </a:rPr>
              <a:t>90°</a:t>
            </a:r>
          </a:p>
        </p:txBody>
      </p:sp>
      <p:sp>
        <p:nvSpPr>
          <p:cNvPr id="11" name="08_item-h_08"/>
          <p:cNvSpPr txBox="1"/>
          <p:nvPr/>
        </p:nvSpPr>
        <p:spPr>
          <a:xfrm>
            <a:off x="3662065" y="5348799"/>
            <a:ext cx="2962870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얕게는 CKC</a:t>
            </a:r>
          </a:p>
        </p:txBody>
      </p:sp>
      <p:sp>
        <p:nvSpPr>
          <p:cNvPr id="12" name="08_body_09"/>
          <p:cNvSpPr txBox="1"/>
          <p:nvPr/>
        </p:nvSpPr>
        <p:spPr>
          <a:xfrm>
            <a:off x="2175123" y="6037558"/>
            <a:ext cx="5936754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스쿼트는 무릎 0~45° 범위에서</a:t>
            </a:r>
          </a:p>
        </p:txBody>
      </p:sp>
      <p:sp>
        <p:nvSpPr>
          <p:cNvPr id="13" name="08_item-h_10"/>
          <p:cNvSpPr txBox="1"/>
          <p:nvPr/>
        </p:nvSpPr>
        <p:spPr>
          <a:xfrm>
            <a:off x="3635425" y="7014335"/>
            <a:ext cx="3016002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깊게는 OKC</a:t>
            </a:r>
          </a:p>
        </p:txBody>
      </p:sp>
      <p:sp>
        <p:nvSpPr>
          <p:cNvPr id="14" name="08_body_11"/>
          <p:cNvSpPr txBox="1"/>
          <p:nvPr/>
        </p:nvSpPr>
        <p:spPr>
          <a:xfrm>
            <a:off x="1816745" y="7703094"/>
            <a:ext cx="6653361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발목 중량 무릎 펴기는 90~45°에서</a:t>
            </a:r>
          </a:p>
        </p:txBody>
      </p:sp>
      <p:sp>
        <p:nvSpPr>
          <p:cNvPr id="15" name="08_item-h_12"/>
          <p:cNvSpPr txBox="1"/>
          <p:nvPr/>
        </p:nvSpPr>
        <p:spPr>
          <a:xfrm>
            <a:off x="3427363" y="8679871"/>
            <a:ext cx="3432125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108" lang="ko-KR" altLang="en-US">
                <a:solidFill>
                  <a:srgbClr val="121416"/>
                </a:solidFill>
                <a:latin typeface="Noto Sans KR W800"/>
                <a:ea typeface="Noto Sans KR W800"/>
                <a:cs typeface="Noto Sans KR W800"/>
              </a:rPr>
              <a:t>조절은 한 발로</a:t>
            </a:r>
          </a:p>
        </p:txBody>
      </p:sp>
      <p:sp>
        <p:nvSpPr>
          <p:cNvPr id="16" name="08_body_13"/>
          <p:cNvSpPr txBox="1"/>
          <p:nvPr/>
        </p:nvSpPr>
        <p:spPr>
          <a:xfrm>
            <a:off x="1526977" y="9368629"/>
            <a:ext cx="7232898" cy="544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 spc="-66" lang="ko-KR" altLang="en-US">
                <a:solidFill>
                  <a:srgbClr val="121416"/>
                </a:solidFill>
                <a:latin typeface="Noto Sans KR W500"/>
                <a:ea typeface="Noto Sans KR W500"/>
                <a:cs typeface="Noto Sans KR W500"/>
              </a:rPr>
              <a:t>싱글 레그 데드리프트로 엉덩관절 연습</a:t>
            </a:r>
          </a:p>
        </p:txBody>
      </p:sp>
      <p:sp>
        <p:nvSpPr>
          <p:cNvPr id="17" name="08_safety_14"/>
          <p:cNvSpPr txBox="1"/>
          <p:nvPr/>
        </p:nvSpPr>
        <p:spPr>
          <a:xfrm>
            <a:off x="1717477" y="10457420"/>
            <a:ext cx="6852047" cy="4457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54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통증이 운동 중 커지거나 다음 날까지 남으면</a:t>
            </a:r>
          </a:p>
        </p:txBody>
      </p:sp>
      <p:sp>
        <p:nvSpPr>
          <p:cNvPr id="18" name="08_safety_15"/>
          <p:cNvSpPr txBox="1"/>
          <p:nvPr/>
        </p:nvSpPr>
        <p:spPr>
          <a:xfrm>
            <a:off x="1247924" y="10944237"/>
            <a:ext cx="7791152" cy="4457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54" lang="ko-KR" altLang="en-US">
                <a:solidFill>
                  <a:srgbClr val="121416"/>
                </a:solidFill>
                <a:latin typeface="Noto Sans KR W650"/>
                <a:ea typeface="Noto Sans KR W650"/>
                <a:cs typeface="Noto Sans KR W650"/>
              </a:rPr>
              <a:t>범위와 무게를 줄이고 담당 트레이너와 조정하세요.</a:t>
            </a:r>
          </a:p>
        </p:txBody>
      </p:sp>
      <p:sp>
        <p:nvSpPr>
          <p:cNvPr id="19" name="08_B01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6"/>
            </a:avLst>
          </a:prstGeom>
          <a:noFill/>
          <a:ln w="19050">
            <a:solidFill>
              <a:srgbClr val="D0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PFP 2탄 — 각도별 OKC·CKC와 싱글 레그 데드리프트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