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1-photo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3-photo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4-photo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6-photo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7-photo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도로 마라톤에서 무리 지어 달리는 러너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76589"/>
            <a:ext cx="8458200" cy="4953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무릎에 띠 하나"/>
          <p:cNvSpPr txBox="1"/>
          <p:nvPr/>
        </p:nvSpPr>
        <p:spPr>
          <a:xfrm>
            <a:off x="2141041" y="1021842"/>
            <a:ext cx="6004620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무릎에 </a:t>
            </a:r>
            <a:r>
              <a:rPr lang="ko-KR" altLang="en-US" sz="6600" b="0" i="0" spc="-231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띠 하나</a:t>
            </a:r>
            <a:endParaRPr lang="ko-KR" altLang="en-US" sz="6600" b="0" i="0" spc="-231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감았을 뿐인데"/>
          <p:cNvSpPr txBox="1"/>
          <p:nvPr/>
        </p:nvSpPr>
        <p:spPr>
          <a:xfrm>
            <a:off x="2243733" y="2010805"/>
            <a:ext cx="5799237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감았을 뿐인데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왜 덜 아플까요?"/>
          <p:cNvSpPr txBox="1"/>
          <p:nvPr/>
        </p:nvSpPr>
        <p:spPr>
          <a:xfrm>
            <a:off x="1932831" y="2999768"/>
            <a:ext cx="6421189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왜 덜 아플까요?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효과는 진짜입니다."/>
          <p:cNvSpPr txBox="1"/>
          <p:nvPr/>
        </p:nvSpPr>
        <p:spPr>
          <a:xfrm>
            <a:off x="2950220" y="9811935"/>
            <a:ext cx="4386411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효과는 진짜입니다.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다만 이유가 생각과 다릅니다."/>
          <p:cNvSpPr txBox="1"/>
          <p:nvPr/>
        </p:nvSpPr>
        <p:spPr>
          <a:xfrm>
            <a:off x="2079724" y="10406950"/>
            <a:ext cx="612740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다만 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이유가 생각과 다릅니다.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3291780"/>
            <a:ext cx="8458200" cy="5524500"/>
          </a:xfrm>
          <a:prstGeom prst="roundRect">
            <a:avLst>
              <a:gd name="adj" fmla="val 3448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무릎뼈 바로 아래를"/>
          <p:cNvSpPr txBox="1"/>
          <p:nvPr/>
        </p:nvSpPr>
        <p:spPr>
          <a:xfrm>
            <a:off x="1543496" y="1029081"/>
            <a:ext cx="720000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무릎뼈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바로 아래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꾹 누르는 띠"/>
          <p:cNvSpPr txBox="1"/>
          <p:nvPr/>
        </p:nvSpPr>
        <p:spPr>
          <a:xfrm>
            <a:off x="2605683" y="1989171"/>
            <a:ext cx="507563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꾹 누르는 띠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사진 넣는 자리"/>
          <p:cNvSpPr txBox="1"/>
          <p:nvPr/>
        </p:nvSpPr>
        <p:spPr>
          <a:xfrm>
            <a:off x="3529459" y="5307693"/>
            <a:ext cx="322793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사진 넣는 자리</a:t>
            </a:r>
            <a:endParaRPr lang="ko-KR" altLang="en-US" sz="2700" b="0" i="0" spc="0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7" name="텍스트: 스트랩을 찬 무릎 · 정면 또는 옆모습"/>
          <p:cNvSpPr txBox="1"/>
          <p:nvPr/>
        </p:nvSpPr>
        <p:spPr>
          <a:xfrm>
            <a:off x="2024360" y="5915358"/>
            <a:ext cx="623828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스트랩을 찬 무릎 · 정면 또는 옆모습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띠가 무릎뼈 바로 아래 힘줄 위를 지나게"/>
          <p:cNvSpPr txBox="1"/>
          <p:nvPr/>
        </p:nvSpPr>
        <p:spPr>
          <a:xfrm>
            <a:off x="1760190" y="6402175"/>
            <a:ext cx="676662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띠가 무릎뼈 바로 아래 힘줄 위를 지나게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무릎뼈와 정강이를 잇는 힘줄 위를"/>
          <p:cNvSpPr txBox="1"/>
          <p:nvPr/>
        </p:nvSpPr>
        <p:spPr>
          <a:xfrm>
            <a:off x="1713607" y="9298626"/>
            <a:ext cx="685963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무릎뼈와 정강이를 잇는 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힘줄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 위를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지나갑니다. 점프·착지에서 이 힘줄이"/>
          <p:cNvSpPr txBox="1"/>
          <p:nvPr/>
        </p:nvSpPr>
        <p:spPr>
          <a:xfrm>
            <a:off x="1462683" y="9893641"/>
            <a:ext cx="736163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지나갑니다. 점프·착지에서 이 힘줄이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아픈 ‘점퍼 무릎’에서 주로 연구됐습니다."/>
          <p:cNvSpPr txBox="1"/>
          <p:nvPr/>
        </p:nvSpPr>
        <p:spPr>
          <a:xfrm>
            <a:off x="1161157" y="10488656"/>
            <a:ext cx="796468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아픈 ‘점퍼 무릎’에서 주로 연구됐습니다.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0~10 얼굴 통증 척도: 진짜 스트랩 3.5에서 2.7, 가짜 테이프 3.4에서 2.7로 감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37571"/>
            <a:ext cx="8458200" cy="3657600"/>
          </a:xfrm>
          <a:prstGeom prst="rect">
            <a:avLst/>
          </a:prstGeom>
        </p:spPr>
      </p:pic>
      <p:sp>
        <p:nvSpPr>
          <p:cNvPr id="3" name="연한 박스"/>
          <p:cNvSpPr/>
          <p:nvPr/>
        </p:nvSpPr>
        <p:spPr>
          <a:xfrm>
            <a:off x="914400" y="8998893"/>
            <a:ext cx="8458200" cy="2531120"/>
          </a:xfrm>
          <a:prstGeom prst="roundRect">
            <a:avLst>
              <a:gd name="adj" fmla="val 7526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텍스트: 진짜 스트랩 vs"/>
          <p:cNvSpPr txBox="1"/>
          <p:nvPr/>
        </p:nvSpPr>
        <p:spPr>
          <a:xfrm>
            <a:off x="2191643" y="1029081"/>
            <a:ext cx="590371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진짜 스트랩 vs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가짜 테이프"/>
          <p:cNvSpPr txBox="1"/>
          <p:nvPr/>
        </p:nvSpPr>
        <p:spPr>
          <a:xfrm>
            <a:off x="2703761" y="1989171"/>
            <a:ext cx="48794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가짜 테이프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실험해 봤습니다"/>
          <p:cNvSpPr txBox="1"/>
          <p:nvPr/>
        </p:nvSpPr>
        <p:spPr>
          <a:xfrm>
            <a:off x="1995636" y="2949261"/>
            <a:ext cx="62957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실험해 봤습니다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8" name="텍스트: 슬개건병증 선수 · 1주는 그냥, 2주째는 "/>
          <p:cNvSpPr txBox="1"/>
          <p:nvPr/>
        </p:nvSpPr>
        <p:spPr>
          <a:xfrm>
            <a:off x="1298674" y="7946809"/>
            <a:ext cx="7689652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-48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슬개건병증 선수 · 1주는 그냥, 2주째는 착용하고 운동</a:t>
            </a:r>
            <a:endParaRPr lang="ko-KR" altLang="en-US" sz="2400" b="0" i="0" spc="-48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운동 2시간 뒤 통증 (가짜 테이프 = 힘줄"/>
          <p:cNvSpPr txBox="1"/>
          <p:nvPr/>
        </p:nvSpPr>
        <p:spPr>
          <a:xfrm>
            <a:off x="750987" y="8358170"/>
            <a:ext cx="8785027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-48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운동 2시간 뒤 통증 (가짜 테이프 = 힘줄을 누르지 않는 테이프)</a:t>
            </a:r>
            <a:endParaRPr lang="ko-KR" altLang="en-US" sz="2400" b="0" i="0" spc="-48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둘 다 0.7~0.8점 줄었습니다"/>
          <p:cNvSpPr txBox="1"/>
          <p:nvPr/>
        </p:nvSpPr>
        <p:spPr>
          <a:xfrm>
            <a:off x="1547961" y="9335697"/>
            <a:ext cx="7190929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둘 다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0.7~0.8점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 줄었습니다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1" name="텍스트: 진짜 스트랩의 효과가 가짜 테이프와"/>
          <p:cNvSpPr txBox="1"/>
          <p:nvPr/>
        </p:nvSpPr>
        <p:spPr>
          <a:xfrm>
            <a:off x="1525042" y="10117479"/>
            <a:ext cx="723676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진짜 스트랩의 효과가 가짜 테이프와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크게 다르지 않았다는 뜻입니다"/>
          <p:cNvSpPr txBox="1"/>
          <p:nvPr/>
        </p:nvSpPr>
        <p:spPr>
          <a:xfrm>
            <a:off x="1956643" y="10712494"/>
            <a:ext cx="637356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크게 다르지 않았다는 뜻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입니다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de Vries A et al. Scand "/>
          <p:cNvSpPr txBox="1"/>
          <p:nvPr/>
        </p:nvSpPr>
        <p:spPr>
          <a:xfrm>
            <a:off x="1334542" y="11651480"/>
            <a:ext cx="7617916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de Vries A et al. Scand J Med Sci Sports 2016;26(10):1217–24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무릎 옆모습 X선, 무릎뼈 축과 슬개건 사이 각도(PPTA) 표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3139380"/>
            <a:ext cx="4171950" cy="3629025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기전 가설 ①"/>
          <p:cNvSpPr txBox="1"/>
          <p:nvPr/>
        </p:nvSpPr>
        <p:spPr>
          <a:xfrm>
            <a:off x="2573536" y="1029081"/>
            <a:ext cx="5139630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기전 가설 ①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힘줄이 덜 당겨진다?"/>
          <p:cNvSpPr txBox="1"/>
          <p:nvPr/>
        </p:nvSpPr>
        <p:spPr>
          <a:xfrm>
            <a:off x="1344662" y="1989171"/>
            <a:ext cx="75975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힘줄이 덜 당겨진다?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슬개건 스트랩 착용"/>
          <p:cNvSpPr txBox="1"/>
          <p:nvPr/>
        </p:nvSpPr>
        <p:spPr>
          <a:xfrm>
            <a:off x="3047702" y="7078158"/>
            <a:ext cx="4191446" cy="4762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0" i="0" spc="-94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슬개건 스트랩 착용</a:t>
            </a:r>
            <a:endParaRPr lang="ko-KR" altLang="en-US" sz="3150" b="0" i="0" spc="-94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7" name="텍스트: ↓"/>
          <p:cNvSpPr txBox="1"/>
          <p:nvPr/>
        </p:nvSpPr>
        <p:spPr>
          <a:xfrm>
            <a:off x="4409926" y="7545967"/>
            <a:ext cx="1466850" cy="3905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0" i="0" spc="0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↓</a:t>
            </a:r>
            <a:endParaRPr lang="ko-KR" altLang="en-US" sz="2550" b="0" i="0" spc="0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8" name="텍스트: 슬개건에 국소 압박"/>
          <p:cNvSpPr txBox="1"/>
          <p:nvPr/>
        </p:nvSpPr>
        <p:spPr>
          <a:xfrm>
            <a:off x="3047702" y="7938087"/>
            <a:ext cx="4191446" cy="4762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0" i="0" spc="-94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슬개건에 국소 압박</a:t>
            </a:r>
            <a:endParaRPr lang="ko-KR" altLang="en-US" sz="3150" b="0" i="0" spc="-94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9" name="텍스트: ↓"/>
          <p:cNvSpPr txBox="1"/>
          <p:nvPr/>
        </p:nvSpPr>
        <p:spPr>
          <a:xfrm>
            <a:off x="4409926" y="8405896"/>
            <a:ext cx="1466850" cy="3905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0" i="0" spc="0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↓</a:t>
            </a:r>
            <a:endParaRPr lang="ko-KR" altLang="en-US" sz="2550" b="0" i="0" spc="0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슬개골–슬개건 각도·유효 길이 변화"/>
          <p:cNvSpPr txBox="1"/>
          <p:nvPr/>
        </p:nvSpPr>
        <p:spPr>
          <a:xfrm>
            <a:off x="1767334" y="8798016"/>
            <a:ext cx="6752183" cy="4762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0" i="0" spc="-94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슬개골–슬개건 각도·유효 길이 변화</a:t>
            </a:r>
            <a:endParaRPr lang="ko-KR" altLang="en-US" sz="3150" b="0" i="0" spc="-94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1" name="텍스트: 각도 = PPTA (patella–patel"/>
          <p:cNvSpPr txBox="1"/>
          <p:nvPr/>
        </p:nvSpPr>
        <p:spPr>
          <a:xfrm>
            <a:off x="1565225" y="9302782"/>
            <a:ext cx="7156400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-48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각도 = PPTA (patella–patellar tendon angle)</a:t>
            </a:r>
            <a:endParaRPr lang="ko-KR" altLang="en-US" sz="2400" b="0" i="0" spc="-48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↓"/>
          <p:cNvSpPr txBox="1"/>
          <p:nvPr/>
        </p:nvSpPr>
        <p:spPr>
          <a:xfrm>
            <a:off x="4409926" y="9662005"/>
            <a:ext cx="1466850" cy="3905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0" i="0" spc="0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↓</a:t>
            </a:r>
            <a:endParaRPr lang="ko-KR" altLang="en-US" sz="2550" b="0" i="0" spc="0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3" name="텍스트: 슬개건 변형률(strain) 감소 가능성"/>
          <p:cNvSpPr txBox="1"/>
          <p:nvPr/>
        </p:nvSpPr>
        <p:spPr>
          <a:xfrm>
            <a:off x="1787872" y="10054126"/>
            <a:ext cx="6711107" cy="4762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0" i="0" spc="-94" kern="0" dirty="0">
                <a:solidFill>
                  <a:srgbClr val="0879D8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슬개건 변형률(strain) 감소 가능성</a:t>
            </a:r>
            <a:endParaRPr lang="ko-KR" altLang="en-US" sz="3150" b="0" i="0" spc="-94" kern="0" dirty="0">
              <a:solidFill>
                <a:srgbClr val="0879D8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4" name="텍스트: 그런데 이것 때문에 통증이 줄었는지는 아직 "/>
          <p:cNvSpPr txBox="1"/>
          <p:nvPr/>
        </p:nvSpPr>
        <p:spPr>
          <a:xfrm>
            <a:off x="659457" y="10745581"/>
            <a:ext cx="8968085" cy="4762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0" i="0" spc="-63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그런데 이것 때문에 통증이 줄었는지는 </a:t>
            </a:r>
            <a:r>
              <a:rPr lang="ko-KR" altLang="en-US" sz="3150" b="0" i="0" spc="-63" kern="0" dirty="0">
                <a:solidFill>
                  <a:srgbClr val="CC414A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아직 모름</a:t>
            </a:r>
            <a:endParaRPr lang="ko-KR" altLang="en-US" sz="3150" b="0" i="0" spc="-63" kern="0" dirty="0">
              <a:solidFill>
                <a:srgbClr val="CC414A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5" name="텍스트: Lavagnino M et al. Sport"/>
          <p:cNvSpPr txBox="1"/>
          <p:nvPr/>
        </p:nvSpPr>
        <p:spPr>
          <a:xfrm>
            <a:off x="1820466" y="11651480"/>
            <a:ext cx="6645920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Lavagnino M et al. Sports Health 2011;3(3):296–302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8999041"/>
            <a:ext cx="8458200" cy="2358033"/>
          </a:xfrm>
          <a:prstGeom prst="roundRect">
            <a:avLst>
              <a:gd name="adj" fmla="val 8079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부딪힌 팔꿈치를"/>
          <p:cNvSpPr txBox="1"/>
          <p:nvPr/>
        </p:nvSpPr>
        <p:spPr>
          <a:xfrm>
            <a:off x="1995636" y="1029081"/>
            <a:ext cx="62957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부딪힌 팔꿈치를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문지르면 덜 아픈 것처럼"/>
          <p:cNvSpPr txBox="1"/>
          <p:nvPr/>
        </p:nvSpPr>
        <p:spPr>
          <a:xfrm>
            <a:off x="737443" y="1989171"/>
            <a:ext cx="881211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문지르면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 덜 아픈 것처럼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피부를 누르는 감각이"/>
          <p:cNvSpPr txBox="1"/>
          <p:nvPr/>
        </p:nvSpPr>
        <p:spPr>
          <a:xfrm>
            <a:off x="2302222" y="4200084"/>
            <a:ext cx="568225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피부를 누르는 감각이</a:t>
            </a:r>
            <a:endParaRPr lang="ko-KR" altLang="en-US" sz="4200" b="0" i="0" spc="-12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7" name="텍스트: 통증 신호를 덮을 수 있습니다"/>
          <p:cNvSpPr txBox="1"/>
          <p:nvPr/>
        </p:nvSpPr>
        <p:spPr>
          <a:xfrm>
            <a:off x="1456730" y="4893475"/>
            <a:ext cx="7373392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통증 신호를 덮을 수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 있습니다</a:t>
            </a:r>
            <a:endParaRPr lang="ko-KR" altLang="en-US" sz="4200" b="0" i="0" spc="-12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8" name="텍스트: 여기에 ‘차면 덜 아파’"/>
          <p:cNvSpPr txBox="1"/>
          <p:nvPr/>
        </p:nvSpPr>
        <p:spPr>
          <a:xfrm>
            <a:off x="2311301" y="6425065"/>
            <a:ext cx="5664250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여기에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‘차면 덜 아파’</a:t>
            </a:r>
            <a:endParaRPr lang="ko-KR" altLang="en-US" sz="4200" b="0" i="0" spc="-126" kern="0" dirty="0">
              <a:solidFill>
                <a:srgbClr val="0879D8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9" name="텍스트: 기대도 더해질 수 있습니다"/>
          <p:cNvSpPr txBox="1"/>
          <p:nvPr/>
        </p:nvSpPr>
        <p:spPr>
          <a:xfrm>
            <a:off x="1760934" y="7118455"/>
            <a:ext cx="6765131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기대도 더해질 수 있습니다</a:t>
            </a:r>
            <a:endParaRPr lang="ko-KR" altLang="en-US" sz="4200" b="0" i="0" spc="-12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0" name="텍스트: 논문 저자들의 해석"/>
          <p:cNvSpPr txBox="1"/>
          <p:nvPr/>
        </p:nvSpPr>
        <p:spPr>
          <a:xfrm>
            <a:off x="3174802" y="9468433"/>
            <a:ext cx="3937397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논문 저자들의 해석</a:t>
            </a:r>
            <a:endParaRPr lang="ko-KR" altLang="en-US" sz="2850" b="0" i="0" spc="-5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1" name="텍스트: 뭐든 붙이면 피부가 자극돼 통증 신호가 바뀐"/>
          <p:cNvSpPr txBox="1"/>
          <p:nvPr/>
        </p:nvSpPr>
        <p:spPr>
          <a:xfrm>
            <a:off x="1194941" y="9975044"/>
            <a:ext cx="7897118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뭐든 붙이면 피부가 자극돼 통증 신호가 바뀐다</a:t>
            </a:r>
            <a:endParaRPr lang="ko-KR" altLang="en-US" sz="2850" b="0" i="0" spc="-57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스트랩은 힘줄 압박이 조금 더 보탰을 수 있"/>
          <p:cNvSpPr txBox="1"/>
          <p:nvPr/>
        </p:nvSpPr>
        <p:spPr>
          <a:xfrm>
            <a:off x="1310729" y="10481655"/>
            <a:ext cx="7665393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스트랩은 힘줄 압박이 조금 더 보탰을 수 있다</a:t>
            </a:r>
            <a:endParaRPr lang="ko-KR" altLang="en-US" sz="2850" b="0" i="0" spc="-57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de Vries A et al. Scand "/>
          <p:cNvSpPr txBox="1"/>
          <p:nvPr/>
        </p:nvSpPr>
        <p:spPr>
          <a:xfrm>
            <a:off x="1334542" y="11651480"/>
            <a:ext cx="7617916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de Vries A et al. Scand J Med Sci Sports 2016;26(10):1217–24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내리막을 걷는 사람의 무릎, 무릎뼈 바로 아래에 빨간 원 표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77480"/>
            <a:ext cx="8458200" cy="466725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슬개건병증,"/>
          <p:cNvSpPr txBox="1"/>
          <p:nvPr/>
        </p:nvSpPr>
        <p:spPr>
          <a:xfrm>
            <a:off x="2677269" y="1029081"/>
            <a:ext cx="493231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슬개건병증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여기가 아프다면"/>
          <p:cNvSpPr txBox="1"/>
          <p:nvPr/>
        </p:nvSpPr>
        <p:spPr>
          <a:xfrm>
            <a:off x="1995636" y="1989171"/>
            <a:ext cx="62957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여기가 아프다면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점프·착지·내리막에서 아픈 자리."/>
          <p:cNvSpPr txBox="1"/>
          <p:nvPr/>
        </p:nvSpPr>
        <p:spPr>
          <a:xfrm>
            <a:off x="1835795" y="8288976"/>
            <a:ext cx="6615261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점프·착지·내리막에서 아픈 자리.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스트랩을 차면 단기 통증 감소가 보고됐습니다"/>
          <p:cNvSpPr txBox="1"/>
          <p:nvPr/>
        </p:nvSpPr>
        <p:spPr>
          <a:xfrm>
            <a:off x="657671" y="8883991"/>
            <a:ext cx="897150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스트랩을 차면 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단기 통증 감소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가 보고됐습니다.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무릎뼈 주변·뒤가 아픈 슬개대퇴통증에는"/>
          <p:cNvSpPr txBox="1"/>
          <p:nvPr/>
        </p:nvSpPr>
        <p:spPr>
          <a:xfrm>
            <a:off x="1767185" y="9579209"/>
            <a:ext cx="675263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무릎뼈 주변·뒤가 아픈 슬개대퇴통증에는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가이드라인이 스트랩을 권하지 않습니다"/>
          <p:cNvSpPr txBox="1"/>
          <p:nvPr/>
        </p:nvSpPr>
        <p:spPr>
          <a:xfrm>
            <a:off x="1814959" y="10059180"/>
            <a:ext cx="665693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가이드라인이 스트랩을 권하지 않습니다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de Vries A et al. Scand "/>
          <p:cNvSpPr txBox="1"/>
          <p:nvPr/>
        </p:nvSpPr>
        <p:spPr>
          <a:xfrm>
            <a:off x="1334542" y="11057358"/>
            <a:ext cx="7617916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de Vries A et al. Scand J Med Sci Sports 2016;26(10):1217–24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Dar G, Mei-Dan E. Prosth"/>
          <p:cNvSpPr txBox="1"/>
          <p:nvPr/>
        </p:nvSpPr>
        <p:spPr>
          <a:xfrm>
            <a:off x="1707654" y="11354419"/>
            <a:ext cx="6871692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Dar G, Mei-Dan E. Prosthet Orthot Int 2019;43(1):21–7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Willy RW et al. J Orthop"/>
          <p:cNvSpPr txBox="1"/>
          <p:nvPr/>
        </p:nvSpPr>
        <p:spPr>
          <a:xfrm>
            <a:off x="1251347" y="11651480"/>
            <a:ext cx="7784157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Willy RW et al. J Orthop Sports Phys Ther 2019;49(9):CPG1–95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무릎을 살짝 굽힌 미니 스쿼트 옆모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15580"/>
            <a:ext cx="8458200" cy="47625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힘줄은 점진적인 부하로"/>
          <p:cNvSpPr txBox="1"/>
          <p:nvPr/>
        </p:nvSpPr>
        <p:spPr>
          <a:xfrm>
            <a:off x="835372" y="1029081"/>
            <a:ext cx="861610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힘줄은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점진적인 부하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로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좋아집니다"/>
          <p:cNvSpPr txBox="1"/>
          <p:nvPr/>
        </p:nvSpPr>
        <p:spPr>
          <a:xfrm>
            <a:off x="2801689" y="1989171"/>
            <a:ext cx="468347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좋아집니다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통증이 버틸 만한 범위에서 무게와 강도를"/>
          <p:cNvSpPr txBox="1"/>
          <p:nvPr/>
        </p:nvSpPr>
        <p:spPr>
          <a:xfrm>
            <a:off x="1093440" y="8498526"/>
            <a:ext cx="8100120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통증이 버틸 만한 범위에서 무게와 강도를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조금씩 늘려 힘줄에 부하를 주는 운동,"/>
          <p:cNvSpPr txBox="1"/>
          <p:nvPr/>
        </p:nvSpPr>
        <p:spPr>
          <a:xfrm>
            <a:off x="1412081" y="9093541"/>
            <a:ext cx="746268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조금씩 늘려 힘줄에 부하를 주는 운동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,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이게 회복의 핵심입니다."/>
          <p:cNvSpPr txBox="1"/>
          <p:nvPr/>
        </p:nvSpPr>
        <p:spPr>
          <a:xfrm>
            <a:off x="2518618" y="9688556"/>
            <a:ext cx="524976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이게 회복의 핵심입니다.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무릎뼈 주변 통증 → 엉덩이 + 허벅지 근력"/>
          <p:cNvSpPr txBox="1"/>
          <p:nvPr/>
        </p:nvSpPr>
        <p:spPr>
          <a:xfrm>
            <a:off x="822275" y="10421874"/>
            <a:ext cx="864230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무릎뼈 주변 통증 → 엉덩이 + 허벅지 근력 운동을 함께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Breda SJ et al. Br J Spo"/>
          <p:cNvSpPr txBox="1"/>
          <p:nvPr/>
        </p:nvSpPr>
        <p:spPr>
          <a:xfrm>
            <a:off x="2116187" y="11354419"/>
            <a:ext cx="6054626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Breda SJ et al. Br J Sports Med 2021;55:501–9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Collins NJ et al. Br J S"/>
          <p:cNvSpPr txBox="1"/>
          <p:nvPr/>
        </p:nvSpPr>
        <p:spPr>
          <a:xfrm>
            <a:off x="1989832" y="11651480"/>
            <a:ext cx="6307187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Collins NJ et al. Br J Sports Med 2018;52:1170–8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3253680"/>
            <a:ext cx="8458200" cy="4476750"/>
          </a:xfrm>
          <a:prstGeom prst="roundRect">
            <a:avLst>
              <a:gd name="adj" fmla="val 4255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2,500원 언더랩으로"/>
          <p:cNvSpPr txBox="1"/>
          <p:nvPr/>
        </p:nvSpPr>
        <p:spPr>
          <a:xfrm>
            <a:off x="1314748" y="1029081"/>
            <a:ext cx="7657505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2,500원 언더랩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으로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대신해 보세요"/>
          <p:cNvSpPr txBox="1"/>
          <p:nvPr/>
        </p:nvSpPr>
        <p:spPr>
          <a:xfrm>
            <a:off x="2349698" y="1989171"/>
            <a:ext cx="558760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대신해 보세요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사진 넣는 자리"/>
          <p:cNvSpPr txBox="1"/>
          <p:nvPr/>
        </p:nvSpPr>
        <p:spPr>
          <a:xfrm>
            <a:off x="3529459" y="4745718"/>
            <a:ext cx="322793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사진 넣는 자리</a:t>
            </a:r>
            <a:endParaRPr lang="ko-KR" altLang="en-US" sz="2700" b="0" i="0" spc="0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7" name="텍스트: 언더랩을 띠처럼 말아"/>
          <p:cNvSpPr txBox="1"/>
          <p:nvPr/>
        </p:nvSpPr>
        <p:spPr>
          <a:xfrm>
            <a:off x="3056186" y="5353383"/>
            <a:ext cx="417433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언더랩을 띠처럼 말아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무릎뼈 바로 아래에 감은 모습"/>
          <p:cNvSpPr txBox="1"/>
          <p:nvPr/>
        </p:nvSpPr>
        <p:spPr>
          <a:xfrm>
            <a:off x="2487067" y="5840200"/>
            <a:ext cx="531271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무릎뼈 바로 아래에 감은 모습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가짜 테이프도 스트랩과 비슷하게"/>
          <p:cNvSpPr txBox="1"/>
          <p:nvPr/>
        </p:nvSpPr>
        <p:spPr>
          <a:xfrm>
            <a:off x="1768078" y="8136576"/>
            <a:ext cx="675069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가짜 테이프도 스트랩과 비슷하게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줄었다면, 비싼 스트랩이 꼭 필요하진 않습니"/>
          <p:cNvSpPr txBox="1"/>
          <p:nvPr/>
        </p:nvSpPr>
        <p:spPr>
          <a:xfrm>
            <a:off x="592187" y="8731591"/>
            <a:ext cx="910262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줄었다면, 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비싼 스트랩이 꼭 필요하진 않습니다.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1" name="텍스트: 언더랩 자체를 시험한 연구는 없습니다 · 저"/>
          <p:cNvSpPr txBox="1"/>
          <p:nvPr/>
        </p:nvSpPr>
        <p:spPr>
          <a:xfrm>
            <a:off x="663029" y="9464909"/>
            <a:ext cx="896079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언더랩 자체를 시험한 연구는 없습니다 · 저리면 느슨하게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덜 아프다고 무리하면 힘줄이 더 상할 수 있"/>
          <p:cNvSpPr txBox="1"/>
          <p:nvPr/>
        </p:nvSpPr>
        <p:spPr>
          <a:xfrm>
            <a:off x="929580" y="10212723"/>
            <a:ext cx="8427690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CC414A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덜 아프다고 무리하면 힘줄이 더 상할 수 있습니다.</a:t>
            </a:r>
            <a:endParaRPr lang="ko-KR" altLang="en-US" sz="2850" b="0" i="0" spc="-57" kern="0" dirty="0">
              <a:solidFill>
                <a:srgbClr val="CC414A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3" name="텍스트: 붓기·밤 통증이 있으면 진료가 먼저입니다."/>
          <p:cNvSpPr txBox="1"/>
          <p:nvPr/>
        </p:nvSpPr>
        <p:spPr>
          <a:xfrm>
            <a:off x="1503908" y="10726626"/>
            <a:ext cx="7278886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CC414A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붓기·밤 통증이 있으면 진료가 먼저입니다.</a:t>
            </a:r>
            <a:endParaRPr lang="ko-KR" altLang="en-US" sz="2850" b="0" i="0" spc="-57" kern="0" dirty="0">
              <a:solidFill>
                <a:srgbClr val="CC414A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4" name="텍스트: de Vries A et al. Scand "/>
          <p:cNvSpPr txBox="1"/>
          <p:nvPr/>
        </p:nvSpPr>
        <p:spPr>
          <a:xfrm>
            <a:off x="1334542" y="11651480"/>
            <a:ext cx="7617916" cy="276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spc="-18" kern="0" dirty="0">
                <a:solidFill>
                  <a:srgbClr val="8A929C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de Vries A et al. Scand J Med Sci Sports 2016;26(10):1217–24</a:t>
            </a:r>
            <a:endParaRPr lang="ko-KR" altLang="en-US" sz="1800" b="0" i="0" spc="-18" kern="0" dirty="0">
              <a:solidFill>
                <a:srgbClr val="8A929C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patellar-strap-runners</dc:title>
  <dc:creator>R스포츠재활센터</dc:creator>
</cp:coreProperties>
</file>