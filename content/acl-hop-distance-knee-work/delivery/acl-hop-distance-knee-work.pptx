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3425726"/>
            <a:ext cx="8458200" cy="6477000"/>
          </a:xfrm>
          <a:prstGeom prst="roundRect">
            <a:avLst>
              <a:gd name="adj" fmla="val 2941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점프 거리가 같으면"/>
          <p:cNvSpPr txBox="1"/>
          <p:nvPr/>
        </p:nvSpPr>
        <p:spPr>
          <a:xfrm>
            <a:off x="1399282" y="1021842"/>
            <a:ext cx="7488287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점프 거리가 같으면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무릎도 회복된 걸까?"/>
          <p:cNvSpPr txBox="1"/>
          <p:nvPr/>
        </p:nvSpPr>
        <p:spPr>
          <a:xfrm>
            <a:off x="1191071" y="2010805"/>
            <a:ext cx="7904857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</a:t>
            </a: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도 회복된 걸까?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사진 넣는 자리"/>
          <p:cNvSpPr txBox="1"/>
          <p:nvPr/>
        </p:nvSpPr>
        <p:spPr>
          <a:xfrm>
            <a:off x="3529459" y="5917888"/>
            <a:ext cx="322793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사진 넣는 자리</a:t>
            </a:r>
            <a:endParaRPr lang="ko-KR" altLang="en-US" sz="2700" b="0" i="0" spc="0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7" name="텍스트: 한국인 성인 선수 · 한 발 멀리뛰기"/>
          <p:cNvSpPr txBox="1"/>
          <p:nvPr/>
        </p:nvSpPr>
        <p:spPr>
          <a:xfrm>
            <a:off x="2144316" y="6525554"/>
            <a:ext cx="599822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한국인 성인 선수 · 한 발 멀리뛰기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옆에서 전신 · 도약 직후 공중 장면"/>
          <p:cNvSpPr txBox="1"/>
          <p:nvPr/>
        </p:nvSpPr>
        <p:spPr>
          <a:xfrm>
            <a:off x="2144316" y="7012370"/>
            <a:ext cx="599822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옆에서 전신 · 도약 직후 공중 장면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ACL 재활에서 놓치기 쉬운 평가"/>
          <p:cNvSpPr txBox="1"/>
          <p:nvPr/>
        </p:nvSpPr>
        <p:spPr>
          <a:xfrm>
            <a:off x="1660029" y="10406408"/>
            <a:ext cx="6966793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72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ACL 재활에서 놓치기 쉬운 평가</a:t>
            </a:r>
            <a:endParaRPr lang="ko-KR" altLang="en-US" sz="3600" b="0" i="0" spc="-72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4743301"/>
            <a:ext cx="8458200" cy="8382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연한 박스"/>
          <p:cNvSpPr/>
          <p:nvPr/>
        </p:nvSpPr>
        <p:spPr>
          <a:xfrm>
            <a:off x="914400" y="4743301"/>
            <a:ext cx="8204746" cy="838200"/>
          </a:xfrm>
          <a:prstGeom prst="rect">
            <a:avLst/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연한 박스"/>
          <p:cNvSpPr/>
          <p:nvPr/>
        </p:nvSpPr>
        <p:spPr>
          <a:xfrm>
            <a:off x="914400" y="6648301"/>
            <a:ext cx="8458200" cy="8382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연한 박스"/>
          <p:cNvSpPr/>
          <p:nvPr/>
        </p:nvSpPr>
        <p:spPr>
          <a:xfrm>
            <a:off x="914400" y="6648301"/>
            <a:ext cx="5835848" cy="838200"/>
          </a:xfrm>
          <a:prstGeom prst="rect">
            <a:avLst/>
          </a:prstGeom>
          <a:solidFill>
            <a:srgbClr val="CC41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연한 박스"/>
          <p:cNvSpPr/>
          <p:nvPr/>
        </p:nvSpPr>
        <p:spPr>
          <a:xfrm>
            <a:off x="914400" y="7619851"/>
            <a:ext cx="8458200" cy="1905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연한 박스"/>
          <p:cNvSpPr/>
          <p:nvPr/>
        </p:nvSpPr>
        <p:spPr>
          <a:xfrm>
            <a:off x="914400" y="7619851"/>
            <a:ext cx="19050" cy="11430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연한 박스"/>
          <p:cNvSpPr/>
          <p:nvPr/>
        </p:nvSpPr>
        <p:spPr>
          <a:xfrm>
            <a:off x="5133975" y="7619851"/>
            <a:ext cx="19050" cy="11430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연한 박스"/>
          <p:cNvSpPr/>
          <p:nvPr/>
        </p:nvSpPr>
        <p:spPr>
          <a:xfrm>
            <a:off x="9353550" y="7619851"/>
            <a:ext cx="19050" cy="11430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: 점프 거리는 97%"/>
          <p:cNvSpPr txBox="1"/>
          <p:nvPr/>
        </p:nvSpPr>
        <p:spPr>
          <a:xfrm>
            <a:off x="1772245" y="1029081"/>
            <a:ext cx="6742361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점프 거리는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97%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2" name="텍스트: 무릎이 수행한 일은 69%"/>
          <p:cNvSpPr txBox="1"/>
          <p:nvPr/>
        </p:nvSpPr>
        <p:spPr>
          <a:xfrm>
            <a:off x="612130" y="1989171"/>
            <a:ext cx="9062591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무릎이 수행한 일은 </a:t>
            </a:r>
            <a:r>
              <a:rPr lang="ko-KR" altLang="en-US" sz="6300" b="0" i="0" spc="-220" kern="0" dirty="0">
                <a:solidFill>
                  <a:srgbClr val="CC414A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69%</a:t>
            </a:r>
            <a:endParaRPr lang="ko-KR" altLang="en-US" sz="6300" b="0" i="0" spc="-220" kern="0" dirty="0">
              <a:solidFill>
                <a:srgbClr val="CC414A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3" name="텍스트: LSI: 수술한 다리 ÷ 반대쪽 다리 × 1"/>
          <p:cNvSpPr txBox="1"/>
          <p:nvPr/>
        </p:nvSpPr>
        <p:spPr>
          <a:xfrm>
            <a:off x="1812875" y="3188529"/>
            <a:ext cx="6661249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LSI: 수술한 다리 ÷ 반대쪽 다리 × 100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4" name="텍스트: 홉 거리 LSI"/>
          <p:cNvSpPr txBox="1"/>
          <p:nvPr/>
        </p:nvSpPr>
        <p:spPr>
          <a:xfrm>
            <a:off x="3682603" y="4194661"/>
            <a:ext cx="2921645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홉 거리 LSI</a:t>
            </a:r>
            <a:endParaRPr lang="ko-KR" altLang="en-US" sz="3000" b="0" i="0" spc="-6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5" name="텍스트: 97%"/>
          <p:cNvSpPr txBox="1"/>
          <p:nvPr/>
        </p:nvSpPr>
        <p:spPr>
          <a:xfrm>
            <a:off x="7315795" y="4887319"/>
            <a:ext cx="2197001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78" kern="0" dirty="0">
                <a:solidFill>
                  <a:srgbClr val="FFFFFF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97%</a:t>
            </a:r>
            <a:endParaRPr lang="ko-KR" altLang="en-US" sz="3900" b="0" i="0" spc="-78" kern="0" dirty="0">
              <a:solidFill>
                <a:srgbClr val="FFFFFF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6" name="텍스트: 도약 시 무릎 관절 일 LSI"/>
          <p:cNvSpPr txBox="1"/>
          <p:nvPr/>
        </p:nvSpPr>
        <p:spPr>
          <a:xfrm>
            <a:off x="2676823" y="6099661"/>
            <a:ext cx="4933355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도약 시 무릎 관절 일 LSI</a:t>
            </a:r>
            <a:endParaRPr lang="ko-KR" altLang="en-US" sz="3000" b="0" i="0" spc="-6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7" name="텍스트: 69%"/>
          <p:cNvSpPr txBox="1"/>
          <p:nvPr/>
        </p:nvSpPr>
        <p:spPr>
          <a:xfrm>
            <a:off x="4946898" y="6792319"/>
            <a:ext cx="2197001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78" kern="0" dirty="0">
                <a:solidFill>
                  <a:srgbClr val="FFFFFF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69%</a:t>
            </a:r>
            <a:endParaRPr lang="ko-KR" altLang="en-US" sz="3900" b="0" i="0" spc="-78" kern="0" dirty="0">
              <a:solidFill>
                <a:srgbClr val="FFFFFF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8" name="텍스트: 0"/>
          <p:cNvSpPr txBox="1"/>
          <p:nvPr/>
        </p:nvSpPr>
        <p:spPr>
          <a:xfrm>
            <a:off x="370284" y="7800064"/>
            <a:ext cx="1316831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0</a:t>
            </a:r>
            <a:endParaRPr lang="ko-KR" altLang="en-US" sz="24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50"/>
          <p:cNvSpPr txBox="1"/>
          <p:nvPr/>
        </p:nvSpPr>
        <p:spPr>
          <a:xfrm>
            <a:off x="4398169" y="7800064"/>
            <a:ext cx="1490514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50</a:t>
            </a:r>
            <a:endParaRPr lang="ko-KR" altLang="en-US" sz="24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0" name="텍스트: 100%"/>
          <p:cNvSpPr txBox="1"/>
          <p:nvPr/>
        </p:nvSpPr>
        <p:spPr>
          <a:xfrm>
            <a:off x="7940129" y="7800064"/>
            <a:ext cx="1950541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100%</a:t>
            </a:r>
            <a:endParaRPr lang="ko-KR" altLang="en-US" sz="24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1" name="텍스트: Aspetar 연구진(2022)이 측정한"/>
          <p:cNvSpPr txBox="1"/>
          <p:nvPr/>
        </p:nvSpPr>
        <p:spPr>
          <a:xfrm>
            <a:off x="1804690" y="8768947"/>
            <a:ext cx="6677471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Aspetar 연구진(2022)이 측정한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2" name="텍스트: ACL 재건술 후 남성 선수 26명,"/>
          <p:cNvSpPr txBox="1"/>
          <p:nvPr/>
        </p:nvSpPr>
        <p:spPr>
          <a:xfrm>
            <a:off x="1923752" y="9363962"/>
            <a:ext cx="643934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ACL 재건술 후 남성 선수 26명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,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3" name="텍스트: 모두 스포츠 복귀 승인을 받은 상태였습니다."/>
          <p:cNvSpPr txBox="1"/>
          <p:nvPr/>
        </p:nvSpPr>
        <p:spPr>
          <a:xfrm>
            <a:off x="846386" y="9958977"/>
            <a:ext cx="859422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모두 스포츠 복귀 승인을 받은 상태였습니다.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4" name="텍스트: 69%는 근력이나 무릎 기능 전체가 아니라"/>
          <p:cNvSpPr txBox="1"/>
          <p:nvPr/>
        </p:nvSpPr>
        <p:spPr>
          <a:xfrm>
            <a:off x="1688306" y="10806595"/>
            <a:ext cx="691038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69%는 근력이나 무릎 기능 전체가 아니라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5" name="텍스트: 도약할 때 무릎이 한 ‘일’의 좌우 비율입니"/>
          <p:cNvSpPr txBox="1"/>
          <p:nvPr/>
        </p:nvSpPr>
        <p:spPr>
          <a:xfrm>
            <a:off x="1537841" y="11286565"/>
            <a:ext cx="721131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도약할 때 무릎이 한 ‘일’의 좌우 비율입니다.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1371600" y="7328297"/>
            <a:ext cx="1905000" cy="1663005"/>
          </a:xfrm>
          <a:prstGeom prst="rect">
            <a:avLst/>
          </a:prstGeom>
          <a:solidFill>
            <a:srgbClr val="CC41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연한 박스"/>
          <p:cNvSpPr/>
          <p:nvPr/>
        </p:nvSpPr>
        <p:spPr>
          <a:xfrm>
            <a:off x="2305050" y="6659612"/>
            <a:ext cx="38100" cy="1337221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연한 박스"/>
          <p:cNvSpPr/>
          <p:nvPr/>
        </p:nvSpPr>
        <p:spPr>
          <a:xfrm>
            <a:off x="2095500" y="6640562"/>
            <a:ext cx="457200" cy="3810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연한 박스"/>
          <p:cNvSpPr/>
          <p:nvPr/>
        </p:nvSpPr>
        <p:spPr>
          <a:xfrm>
            <a:off x="2095500" y="7977932"/>
            <a:ext cx="457200" cy="3810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연한 박스"/>
          <p:cNvSpPr/>
          <p:nvPr/>
        </p:nvSpPr>
        <p:spPr>
          <a:xfrm>
            <a:off x="4191000" y="6676876"/>
            <a:ext cx="1905000" cy="2314575"/>
          </a:xfrm>
          <a:prstGeom prst="rect">
            <a:avLst/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연한 박스"/>
          <p:cNvSpPr/>
          <p:nvPr/>
        </p:nvSpPr>
        <p:spPr>
          <a:xfrm>
            <a:off x="5124450" y="5991076"/>
            <a:ext cx="38100" cy="137160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연한 박스"/>
          <p:cNvSpPr/>
          <p:nvPr/>
        </p:nvSpPr>
        <p:spPr>
          <a:xfrm>
            <a:off x="4914900" y="5972026"/>
            <a:ext cx="457200" cy="3810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연한 박스"/>
          <p:cNvSpPr/>
          <p:nvPr/>
        </p:nvSpPr>
        <p:spPr>
          <a:xfrm>
            <a:off x="4914900" y="7343626"/>
            <a:ext cx="457200" cy="3810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연한 박스"/>
          <p:cNvSpPr/>
          <p:nvPr/>
        </p:nvSpPr>
        <p:spPr>
          <a:xfrm>
            <a:off x="7010400" y="6951166"/>
            <a:ext cx="1905000" cy="2040136"/>
          </a:xfrm>
          <a:prstGeom prst="rect">
            <a:avLst/>
          </a:prstGeom>
          <a:solidFill>
            <a:srgbClr val="A7B0B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연한 박스"/>
          <p:cNvSpPr/>
          <p:nvPr/>
        </p:nvSpPr>
        <p:spPr>
          <a:xfrm>
            <a:off x="7943850" y="6230987"/>
            <a:ext cx="38100" cy="1440061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연한 박스"/>
          <p:cNvSpPr/>
          <p:nvPr/>
        </p:nvSpPr>
        <p:spPr>
          <a:xfrm>
            <a:off x="7734300" y="6211937"/>
            <a:ext cx="457200" cy="3810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연한 박스"/>
          <p:cNvSpPr/>
          <p:nvPr/>
        </p:nvSpPr>
        <p:spPr>
          <a:xfrm>
            <a:off x="7734300" y="7652147"/>
            <a:ext cx="457200" cy="3810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연한 박스"/>
          <p:cNvSpPr/>
          <p:nvPr/>
        </p:nvSpPr>
        <p:spPr>
          <a:xfrm>
            <a:off x="914400" y="8991451"/>
            <a:ext cx="8458200" cy="28575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연한 박스"/>
          <p:cNvSpPr/>
          <p:nvPr/>
        </p:nvSpPr>
        <p:spPr>
          <a:xfrm>
            <a:off x="2324100" y="4657576"/>
            <a:ext cx="2819400" cy="28575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연한 박스"/>
          <p:cNvSpPr/>
          <p:nvPr/>
        </p:nvSpPr>
        <p:spPr>
          <a:xfrm>
            <a:off x="2309812" y="4657576"/>
            <a:ext cx="28575" cy="763786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연한 박스"/>
          <p:cNvSpPr/>
          <p:nvPr/>
        </p:nvSpPr>
        <p:spPr>
          <a:xfrm>
            <a:off x="5129212" y="4657576"/>
            <a:ext cx="28575" cy="133350"/>
          </a:xfrm>
          <a:prstGeom prst="rect">
            <a:avLst/>
          </a:prstGeom>
          <a:solidFill>
            <a:srgbClr val="12141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텍스트: 비슷한 점프 거리,"/>
          <p:cNvSpPr txBox="1"/>
          <p:nvPr/>
        </p:nvSpPr>
        <p:spPr>
          <a:xfrm>
            <a:off x="1773138" y="1029081"/>
            <a:ext cx="6740575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비슷한 점프 거리,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20" name="텍스트: 다른 무릎의 기여"/>
          <p:cNvSpPr txBox="1"/>
          <p:nvPr/>
        </p:nvSpPr>
        <p:spPr>
          <a:xfrm>
            <a:off x="1897559" y="1989171"/>
            <a:ext cx="649173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다른 무릎의 기여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21" name="텍스트: 도약 시 무릎 관절 일 기여율 (세 관절 합"/>
          <p:cNvSpPr txBox="1"/>
          <p:nvPr/>
        </p:nvSpPr>
        <p:spPr>
          <a:xfrm>
            <a:off x="1034504" y="3150429"/>
            <a:ext cx="821784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도약 시 무릎 관절 일 기여율 (세 관절 합 중 무릎 몫)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2" name="텍스트: 9.7%"/>
          <p:cNvSpPr txBox="1"/>
          <p:nvPr/>
        </p:nvSpPr>
        <p:spPr>
          <a:xfrm>
            <a:off x="1144786" y="5546330"/>
            <a:ext cx="2358479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78" kern="0" dirty="0">
                <a:solidFill>
                  <a:srgbClr val="CC414A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9.7%</a:t>
            </a:r>
            <a:endParaRPr lang="ko-KR" altLang="en-US" sz="3900" b="0" i="0" spc="-78" kern="0" dirty="0">
              <a:solidFill>
                <a:srgbClr val="CC414A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23" name="텍스트: ±3.9"/>
          <p:cNvSpPr txBox="1"/>
          <p:nvPr/>
        </p:nvSpPr>
        <p:spPr>
          <a:xfrm>
            <a:off x="1349425" y="6136118"/>
            <a:ext cx="1949202" cy="3905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0" i="0" spc="0" kern="0" dirty="0">
                <a:solidFill>
                  <a:srgbClr val="5E6570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±3.9</a:t>
            </a:r>
            <a:endParaRPr lang="ko-KR" altLang="en-US" sz="2550" b="0" i="0" spc="0" kern="0" dirty="0">
              <a:solidFill>
                <a:srgbClr val="5E6570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24" name="텍스트: 수술측"/>
          <p:cNvSpPr txBox="1"/>
          <p:nvPr/>
        </p:nvSpPr>
        <p:spPr>
          <a:xfrm>
            <a:off x="1238250" y="9204811"/>
            <a:ext cx="21717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수술측</a:t>
            </a:r>
            <a:endParaRPr lang="ko-KR" altLang="en-US" sz="3000" b="0" i="0" spc="-6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25" name="텍스트: 13.5%"/>
          <p:cNvSpPr txBox="1"/>
          <p:nvPr/>
        </p:nvSpPr>
        <p:spPr>
          <a:xfrm>
            <a:off x="3819525" y="4877794"/>
            <a:ext cx="2647801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78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13.5%</a:t>
            </a:r>
            <a:endParaRPr lang="ko-KR" altLang="en-US" sz="3900" b="0" i="0" spc="-78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26" name="텍스트: ±4.0"/>
          <p:cNvSpPr txBox="1"/>
          <p:nvPr/>
        </p:nvSpPr>
        <p:spPr>
          <a:xfrm>
            <a:off x="4168825" y="5467582"/>
            <a:ext cx="1949202" cy="3905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0" i="0" spc="0" kern="0" dirty="0">
                <a:solidFill>
                  <a:srgbClr val="5E6570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±4.0</a:t>
            </a:r>
            <a:endParaRPr lang="ko-KR" altLang="en-US" sz="2550" b="0" i="0" spc="0" kern="0" dirty="0">
              <a:solidFill>
                <a:srgbClr val="5E6570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27" name="텍스트: 비수술측"/>
          <p:cNvSpPr txBox="1"/>
          <p:nvPr/>
        </p:nvSpPr>
        <p:spPr>
          <a:xfrm>
            <a:off x="3886200" y="9204811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비수술측</a:t>
            </a:r>
            <a:endParaRPr lang="ko-KR" altLang="en-US" sz="3000" b="0" i="0" spc="-6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28" name="텍스트: 11.9%"/>
          <p:cNvSpPr txBox="1"/>
          <p:nvPr/>
        </p:nvSpPr>
        <p:spPr>
          <a:xfrm>
            <a:off x="6638925" y="5117705"/>
            <a:ext cx="2647801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78" kern="0" dirty="0">
                <a:solidFill>
                  <a:srgbClr val="7D858D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11.9%</a:t>
            </a:r>
            <a:endParaRPr lang="ko-KR" altLang="en-US" sz="3900" b="0" i="0" spc="-78" kern="0" dirty="0">
              <a:solidFill>
                <a:srgbClr val="7D858D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29" name="텍스트: ±4.2"/>
          <p:cNvSpPr txBox="1"/>
          <p:nvPr/>
        </p:nvSpPr>
        <p:spPr>
          <a:xfrm>
            <a:off x="6988225" y="5707493"/>
            <a:ext cx="1949202" cy="3905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0" i="0" spc="0" kern="0" dirty="0">
                <a:solidFill>
                  <a:srgbClr val="5E6570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±4.2</a:t>
            </a:r>
            <a:endParaRPr lang="ko-KR" altLang="en-US" sz="2550" b="0" i="0" spc="0" kern="0" dirty="0">
              <a:solidFill>
                <a:srgbClr val="5E6570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30" name="텍스트: 대조군"/>
          <p:cNvSpPr txBox="1"/>
          <p:nvPr/>
        </p:nvSpPr>
        <p:spPr>
          <a:xfrm>
            <a:off x="6877050" y="9204811"/>
            <a:ext cx="21717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대조군</a:t>
            </a:r>
            <a:endParaRPr lang="ko-KR" altLang="en-US" sz="3000" b="0" i="0" spc="-6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31" name="텍스트: p &lt; 0.001"/>
          <p:cNvSpPr txBox="1"/>
          <p:nvPr/>
        </p:nvSpPr>
        <p:spPr>
          <a:xfrm>
            <a:off x="2419648" y="4211425"/>
            <a:ext cx="2628156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p &lt; 0.001</a:t>
            </a:r>
            <a:endParaRPr lang="ko-KR" altLang="en-US" sz="2700" b="0" i="0" spc="-54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32" name="텍스트: 수술한 무릎은 반대쪽보다 덜 기여했습니다."/>
          <p:cNvSpPr txBox="1"/>
          <p:nvPr/>
        </p:nvSpPr>
        <p:spPr>
          <a:xfrm>
            <a:off x="900708" y="9988147"/>
            <a:ext cx="848543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수술한 무릎은 반대쪽보다 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덜 기여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33" name="텍스트: 막대 = 평균, 세로선 = ±표준편차"/>
          <p:cNvSpPr txBox="1"/>
          <p:nvPr/>
        </p:nvSpPr>
        <p:spPr>
          <a:xfrm>
            <a:off x="2247156" y="10683365"/>
            <a:ext cx="579239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막대 = 평균, 세로선 = ±표준편차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34" name="텍스트: 앞 장의 69%(좌우 비율)와는 다른 지표입"/>
          <p:cNvSpPr txBox="1"/>
          <p:nvPr/>
        </p:nvSpPr>
        <p:spPr>
          <a:xfrm>
            <a:off x="1418779" y="11163336"/>
            <a:ext cx="744929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앞 장의 69%(좌우 비율)와는 다른 지표입니다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2343150" y="4648051"/>
            <a:ext cx="2286000" cy="2082998"/>
          </a:xfrm>
          <a:prstGeom prst="rect">
            <a:avLst/>
          </a:prstGeom>
          <a:solidFill>
            <a:srgbClr val="CFD6D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연한 박스"/>
          <p:cNvSpPr/>
          <p:nvPr/>
        </p:nvSpPr>
        <p:spPr>
          <a:xfrm>
            <a:off x="2343150" y="6731050"/>
            <a:ext cx="2286000" cy="406598"/>
          </a:xfrm>
          <a:prstGeom prst="rect">
            <a:avLst/>
          </a:prstGeom>
          <a:solidFill>
            <a:srgbClr val="CC41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연한 박스"/>
          <p:cNvSpPr/>
          <p:nvPr/>
        </p:nvSpPr>
        <p:spPr>
          <a:xfrm>
            <a:off x="2343150" y="7137797"/>
            <a:ext cx="2286000" cy="1701105"/>
          </a:xfrm>
          <a:prstGeom prst="rect">
            <a:avLst/>
          </a:prstGeom>
          <a:solidFill>
            <a:srgbClr val="5E6570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: 점프 거리는 무릎만"/>
          <p:cNvSpPr txBox="1"/>
          <p:nvPr/>
        </p:nvSpPr>
        <p:spPr>
          <a:xfrm>
            <a:off x="1543496" y="1029081"/>
            <a:ext cx="720000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점프 거리는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무릎만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결정하지 않습니다"/>
          <p:cNvSpPr txBox="1"/>
          <p:nvPr/>
        </p:nvSpPr>
        <p:spPr>
          <a:xfrm>
            <a:off x="1641574" y="1989171"/>
            <a:ext cx="700385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결정하지 않습니다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8" name="텍스트: 고관절과 발목이 큰 역할을 합니다"/>
          <p:cNvSpPr txBox="1"/>
          <p:nvPr/>
        </p:nvSpPr>
        <p:spPr>
          <a:xfrm>
            <a:off x="1453753" y="3109662"/>
            <a:ext cx="7379345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72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고관절과 발목이 큰 역할을 합니다</a:t>
            </a:r>
            <a:endParaRPr lang="ko-KR" altLang="en-US" sz="3600" b="0" i="0" spc="-72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9" name="텍스트: 수술측 다리 · 도약할 때 관절별 몫"/>
          <p:cNvSpPr txBox="1"/>
          <p:nvPr/>
        </p:nvSpPr>
        <p:spPr>
          <a:xfrm>
            <a:off x="2210246" y="4087600"/>
            <a:ext cx="5866507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수술측 다리 · 도약할 때 관절별 몫</a:t>
            </a:r>
            <a:endParaRPr lang="ko-KR" altLang="en-US" sz="2700" b="0" i="0" spc="-54" kern="0" dirty="0">
              <a:solidFill>
                <a:srgbClr val="5E6570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10" name="텍스트: 고관절 49.7%"/>
          <p:cNvSpPr txBox="1"/>
          <p:nvPr/>
        </p:nvSpPr>
        <p:spPr>
          <a:xfrm>
            <a:off x="4400550" y="5440311"/>
            <a:ext cx="3831878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고관절 49.7%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1" name="텍스트: 무릎 9.7%"/>
          <p:cNvSpPr txBox="1"/>
          <p:nvPr/>
        </p:nvSpPr>
        <p:spPr>
          <a:xfrm>
            <a:off x="4400550" y="6637443"/>
            <a:ext cx="3513534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CC414A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 9.7%</a:t>
            </a:r>
            <a:endParaRPr lang="ko-KR" altLang="en-US" sz="4200" b="0" i="0" spc="-126" kern="0" dirty="0">
              <a:solidFill>
                <a:srgbClr val="CC414A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2" name="텍스트: 발목 40.6%"/>
          <p:cNvSpPr txBox="1"/>
          <p:nvPr/>
        </p:nvSpPr>
        <p:spPr>
          <a:xfrm>
            <a:off x="4400550" y="7739557"/>
            <a:ext cx="3424982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발목 40.6%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3" name="텍스트: 무릎 몫이 줄고 고관절 몫이 커지며"/>
          <p:cNvSpPr txBox="1"/>
          <p:nvPr/>
        </p:nvSpPr>
        <p:spPr>
          <a:xfrm>
            <a:off x="1659136" y="9283297"/>
            <a:ext cx="696857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 몫이 줄고 고관절 몫이 커지며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4" name="텍스트: 비슷한 거리를 낼 수 있습니다."/>
          <p:cNvSpPr txBox="1"/>
          <p:nvPr/>
        </p:nvSpPr>
        <p:spPr>
          <a:xfrm>
            <a:off x="2032248" y="9878312"/>
            <a:ext cx="62222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비슷한 거리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를 낼 수 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이 연구의 한 발 멀리뛰기 도약 구간 결과이"/>
          <p:cNvSpPr txBox="1"/>
          <p:nvPr/>
        </p:nvSpPr>
        <p:spPr>
          <a:xfrm>
            <a:off x="1434554" y="10649730"/>
            <a:ext cx="741774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이 연구의 한 발 멀리뛰기 도약 구간 결과이며,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홉 테스트마다 관절 비율은 다를 수 있습니다"/>
          <p:cNvSpPr txBox="1"/>
          <p:nvPr/>
        </p:nvSpPr>
        <p:spPr>
          <a:xfrm>
            <a:off x="1479054" y="11129701"/>
            <a:ext cx="732859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홉 테스트마다 관절 비율은 다를 수 있습니다.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4251871"/>
            <a:ext cx="8458200" cy="3798094"/>
          </a:xfrm>
          <a:prstGeom prst="roundRect">
            <a:avLst>
              <a:gd name="adj" fmla="val 5016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그래서 Aspetar는"/>
          <p:cNvSpPr txBox="1"/>
          <p:nvPr/>
        </p:nvSpPr>
        <p:spPr>
          <a:xfrm>
            <a:off x="1609130" y="1029081"/>
            <a:ext cx="7068741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그래서 Aspetar는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점프의 역학까지"/>
          <p:cNvSpPr txBox="1"/>
          <p:nvPr/>
        </p:nvSpPr>
        <p:spPr>
          <a:xfrm>
            <a:off x="1995636" y="1989171"/>
            <a:ext cx="62957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점프의 역학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까지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살펴봅니다"/>
          <p:cNvSpPr txBox="1"/>
          <p:nvPr/>
        </p:nvSpPr>
        <p:spPr>
          <a:xfrm>
            <a:off x="2801689" y="2949261"/>
            <a:ext cx="468347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살펴봅니다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Aspetar ACL 재활 가이드라인 (20"/>
          <p:cNvSpPr txBox="1"/>
          <p:nvPr/>
        </p:nvSpPr>
        <p:spPr>
          <a:xfrm>
            <a:off x="1868091" y="4643920"/>
            <a:ext cx="6550819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Aspetar ACL 재활 가이드라인 (2023)</a:t>
            </a:r>
            <a:endParaRPr lang="ko-KR" altLang="en-US" sz="2700" b="0" i="0" spc="-54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8" name="텍스트: 고관절 · 무릎 · 발목의"/>
          <p:cNvSpPr txBox="1"/>
          <p:nvPr/>
        </p:nvSpPr>
        <p:spPr>
          <a:xfrm>
            <a:off x="2478435" y="5216473"/>
            <a:ext cx="5330130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고관절 · 무릎 · 발목의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9" name="텍스트: 각도"/>
          <p:cNvSpPr txBox="1"/>
          <p:nvPr/>
        </p:nvSpPr>
        <p:spPr>
          <a:xfrm>
            <a:off x="1582638" y="6043916"/>
            <a:ext cx="2092523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각도</a:t>
            </a:r>
            <a:endParaRPr lang="ko-KR" altLang="en-US" sz="4200" b="0" i="0" spc="-126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0" name="텍스트: 얼마나"/>
          <p:cNvSpPr txBox="1"/>
          <p:nvPr/>
        </p:nvSpPr>
        <p:spPr>
          <a:xfrm>
            <a:off x="1594396" y="6758172"/>
            <a:ext cx="206886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얼마나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굽히고 펴는지"/>
          <p:cNvSpPr txBox="1"/>
          <p:nvPr/>
        </p:nvSpPr>
        <p:spPr>
          <a:xfrm>
            <a:off x="1086892" y="7238143"/>
            <a:ext cx="308386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굽히고 펴는지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모멘트"/>
          <p:cNvSpPr txBox="1"/>
          <p:nvPr/>
        </p:nvSpPr>
        <p:spPr>
          <a:xfrm>
            <a:off x="3859857" y="6043916"/>
            <a:ext cx="2567285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모멘트</a:t>
            </a:r>
            <a:endParaRPr lang="ko-KR" altLang="en-US" sz="4200" b="0" i="0" spc="-126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3" name="텍스트: 관절을"/>
          <p:cNvSpPr txBox="1"/>
          <p:nvPr/>
        </p:nvSpPr>
        <p:spPr>
          <a:xfrm>
            <a:off x="4108996" y="6758172"/>
            <a:ext cx="206886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관절을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4" name="텍스트: 돌리는 힘"/>
          <p:cNvSpPr txBox="1"/>
          <p:nvPr/>
        </p:nvSpPr>
        <p:spPr>
          <a:xfrm>
            <a:off x="3910161" y="7238143"/>
            <a:ext cx="2466677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돌리는 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일(Work)"/>
          <p:cNvSpPr txBox="1"/>
          <p:nvPr/>
        </p:nvSpPr>
        <p:spPr>
          <a:xfrm>
            <a:off x="5980212" y="6043916"/>
            <a:ext cx="335562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일(Work)</a:t>
            </a:r>
            <a:endParaRPr lang="ko-KR" altLang="en-US" sz="4200" b="0" i="0" spc="-126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6" name="텍스트: 관절이 만들고"/>
          <p:cNvSpPr txBox="1"/>
          <p:nvPr/>
        </p:nvSpPr>
        <p:spPr>
          <a:xfrm>
            <a:off x="6116092" y="6758172"/>
            <a:ext cx="308386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관절이 만들고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7" name="텍스트: 흡수한 에너지"/>
          <p:cNvSpPr txBox="1"/>
          <p:nvPr/>
        </p:nvSpPr>
        <p:spPr>
          <a:xfrm>
            <a:off x="6116092" y="7238143"/>
            <a:ext cx="308386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흡수한 에너지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8" name="텍스트: 수직·수평 점프에서 절대값과"/>
          <p:cNvSpPr txBox="1"/>
          <p:nvPr/>
        </p:nvSpPr>
        <p:spPr>
          <a:xfrm>
            <a:off x="2083594" y="8532310"/>
            <a:ext cx="611951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수직·수평 점프에서 절대값과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좌우 대칭성을 함께 회복하도록 제안합니다."/>
          <p:cNvSpPr txBox="1"/>
          <p:nvPr/>
        </p:nvSpPr>
        <p:spPr>
          <a:xfrm>
            <a:off x="900708" y="9127325"/>
            <a:ext cx="848543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좌우 대칭성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을 함께 회복하도록 제안합니다.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0" name="텍스트: 전문 선수의 복귀 평가를 위한 제안이며,"/>
          <p:cNvSpPr txBox="1"/>
          <p:nvPr/>
        </p:nvSpPr>
        <p:spPr>
          <a:xfrm>
            <a:off x="1832372" y="10013043"/>
            <a:ext cx="6622256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전문 선수의 복귀 평가를 위한 제안이며,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1" name="텍스트: 재부상 예방이 검증된 기준은 아닙니다."/>
          <p:cNvSpPr txBox="1"/>
          <p:nvPr/>
        </p:nvSpPr>
        <p:spPr>
          <a:xfrm>
            <a:off x="1876871" y="10493014"/>
            <a:ext cx="653310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재부상 예방이 검증된 기준은 아닙니다.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4251871"/>
            <a:ext cx="3848100" cy="3238500"/>
          </a:xfrm>
          <a:prstGeom prst="roundRect">
            <a:avLst>
              <a:gd name="adj" fmla="val 5882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연한 박스"/>
          <p:cNvSpPr/>
          <p:nvPr/>
        </p:nvSpPr>
        <p:spPr>
          <a:xfrm>
            <a:off x="5524500" y="4251871"/>
            <a:ext cx="3848100" cy="3238500"/>
          </a:xfrm>
          <a:prstGeom prst="roundRect">
            <a:avLst>
              <a:gd name="adj" fmla="val 5882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텍스트: 이 가이드라인에 참여한"/>
          <p:cNvSpPr txBox="1"/>
          <p:nvPr/>
        </p:nvSpPr>
        <p:spPr>
          <a:xfrm>
            <a:off x="835521" y="1029081"/>
            <a:ext cx="8615958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이 가이드라인에 참여한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ACL 재활 전문가를"/>
          <p:cNvSpPr txBox="1"/>
          <p:nvPr/>
        </p:nvSpPr>
        <p:spPr>
          <a:xfrm>
            <a:off x="1536204" y="1989171"/>
            <a:ext cx="721459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ACL 재활 전문가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만납니다"/>
          <p:cNvSpPr txBox="1"/>
          <p:nvPr/>
        </p:nvSpPr>
        <p:spPr>
          <a:xfrm>
            <a:off x="3155752" y="2949261"/>
            <a:ext cx="397549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만납니다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8" name="텍스트: 사진 넣는 자리"/>
          <p:cNvSpPr txBox="1"/>
          <p:nvPr/>
        </p:nvSpPr>
        <p:spPr>
          <a:xfrm>
            <a:off x="1224409" y="5124783"/>
            <a:ext cx="322793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사진 넣는 자리</a:t>
            </a:r>
            <a:endParaRPr lang="ko-KR" altLang="en-US" sz="2700" b="0" i="0" spc="0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9" name="텍스트: 승인받은"/>
          <p:cNvSpPr txBox="1"/>
          <p:nvPr/>
        </p:nvSpPr>
        <p:spPr>
          <a:xfrm>
            <a:off x="1635919" y="5732449"/>
            <a:ext cx="240491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승인받은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프로필 사진"/>
          <p:cNvSpPr txBox="1"/>
          <p:nvPr/>
        </p:nvSpPr>
        <p:spPr>
          <a:xfrm>
            <a:off x="1430238" y="6219265"/>
            <a:ext cx="281642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프로필 사진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Andreas Bjerregaard"/>
          <p:cNvSpPr txBox="1"/>
          <p:nvPr/>
        </p:nvSpPr>
        <p:spPr>
          <a:xfrm>
            <a:off x="390376" y="7703731"/>
            <a:ext cx="4895999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Andreas Bjerregaard</a:t>
            </a:r>
            <a:endParaRPr lang="ko-KR" altLang="en-US" sz="3000" b="0" i="0" spc="-60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×"/>
          <p:cNvSpPr txBox="1"/>
          <p:nvPr/>
        </p:nvSpPr>
        <p:spPr>
          <a:xfrm>
            <a:off x="4343400" y="5591818"/>
            <a:ext cx="1600349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×</a:t>
            </a:r>
            <a:endParaRPr lang="ko-KR" altLang="en-US" sz="36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사진 넣는 자리"/>
          <p:cNvSpPr txBox="1"/>
          <p:nvPr/>
        </p:nvSpPr>
        <p:spPr>
          <a:xfrm>
            <a:off x="5834509" y="5124783"/>
            <a:ext cx="322793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사진 넣는 자리</a:t>
            </a:r>
            <a:endParaRPr lang="ko-KR" altLang="en-US" sz="2700" b="0" i="0" spc="0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4" name="텍스트: 승인받은"/>
          <p:cNvSpPr txBox="1"/>
          <p:nvPr/>
        </p:nvSpPr>
        <p:spPr>
          <a:xfrm>
            <a:off x="6246019" y="5732449"/>
            <a:ext cx="240491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승인받은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프로필 사진"/>
          <p:cNvSpPr txBox="1"/>
          <p:nvPr/>
        </p:nvSpPr>
        <p:spPr>
          <a:xfrm>
            <a:off x="6040338" y="6219265"/>
            <a:ext cx="281642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프로필 사진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조인혁"/>
          <p:cNvSpPr txBox="1"/>
          <p:nvPr/>
        </p:nvSpPr>
        <p:spPr>
          <a:xfrm>
            <a:off x="6362700" y="7703731"/>
            <a:ext cx="21717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조인혁</a:t>
            </a:r>
            <a:endParaRPr lang="ko-KR" altLang="en-US" sz="3000" b="0" i="0" spc="-60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7" name="텍스트: Andreas · 2023 Aspetar A"/>
          <p:cNvSpPr txBox="1"/>
          <p:nvPr/>
        </p:nvSpPr>
        <p:spPr>
          <a:xfrm>
            <a:off x="389930" y="8472970"/>
            <a:ext cx="950714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Andreas · 2023 Aspetar ACL 재활 임상진료지침 공동저자</a:t>
            </a:r>
            <a:endParaRPr lang="ko-KR" altLang="en-US" sz="2700" b="0" i="0" spc="-54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18" name="텍스트: 전 Aspetar ACL Rehabilita"/>
          <p:cNvSpPr txBox="1"/>
          <p:nvPr/>
        </p:nvSpPr>
        <p:spPr>
          <a:xfrm>
            <a:off x="980331" y="8952940"/>
            <a:ext cx="8326189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전 Aspetar ACL Rehabilitation Team 물리치료사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R스포츠 아카데미"/>
          <p:cNvSpPr txBox="1"/>
          <p:nvPr/>
        </p:nvSpPr>
        <p:spPr>
          <a:xfrm>
            <a:off x="3196084" y="9806672"/>
            <a:ext cx="3894683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R스포츠 아카데미</a:t>
            </a:r>
            <a:endParaRPr lang="ko-KR" altLang="en-US" sz="3000" b="0" i="0" spc="-60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0" name="텍스트: ACL 재활 전문가 초청 강의"/>
          <p:cNvSpPr txBox="1"/>
          <p:nvPr/>
        </p:nvSpPr>
        <p:spPr>
          <a:xfrm>
            <a:off x="1690836" y="10349216"/>
            <a:ext cx="6905327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ACL 재활 전문가 초청 강의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점프 거리가 같으면 무릎도 회복된 걸까?</dc:title>
  <dc:creator>R스포츠재활센터</dc:creator>
</cp:coreProperties>
</file>