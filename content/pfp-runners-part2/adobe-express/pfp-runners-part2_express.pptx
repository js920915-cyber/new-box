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1_사진영상자리_01-1"/>
          <p:cNvSpPr/>
          <p:nvPr/>
        </p:nvSpPr>
        <p:spPr>
          <a:xfrm>
            <a:off x="914400" y="3314700"/>
            <a:ext cx="8458200" cy="53340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1_headline_01"/>
          <p:cNvSpPr txBox="1"/>
          <p:nvPr/>
        </p:nvSpPr>
        <p:spPr>
          <a:xfrm>
            <a:off x="552152" y="988314"/>
            <a:ext cx="9182695" cy="1089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0" spc="-231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스쿼트 vs 레그 익스텐션,</a:t>
            </a:r>
          </a:p>
        </p:txBody>
      </p:sp>
      <p:sp>
        <p:nvSpPr>
          <p:cNvPr id="4" name="01_headline_02"/>
          <p:cNvSpPr txBox="1"/>
          <p:nvPr/>
        </p:nvSpPr>
        <p:spPr>
          <a:xfrm>
            <a:off x="1278880" y="1977277"/>
            <a:ext cx="7729240" cy="1089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0" spc="-231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무릎</a:t>
            </a:r>
            <a:r>
              <a:rPr sz="6600" b="0" i="0" spc="-231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에 덜 부담인 건?</a:t>
            </a:r>
          </a:p>
        </p:txBody>
      </p:sp>
      <p:sp>
        <p:nvSpPr>
          <p:cNvPr id="5" name="01_g-tag_03"/>
          <p:cNvSpPr txBox="1"/>
          <p:nvPr/>
        </p:nvSpPr>
        <p:spPr>
          <a:xfrm>
            <a:off x="3835896" y="5239191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사진 넣는 자리</a:t>
            </a:r>
          </a:p>
        </p:txBody>
      </p:sp>
      <p:sp>
        <p:nvSpPr>
          <p:cNvPr id="6" name="01_strong_04"/>
          <p:cNvSpPr txBox="1"/>
          <p:nvPr/>
        </p:nvSpPr>
        <p:spPr>
          <a:xfrm>
            <a:off x="3230761" y="5736015"/>
            <a:ext cx="382532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표지: 운동하는 러너</a:t>
            </a:r>
          </a:p>
        </p:txBody>
      </p:sp>
      <p:sp>
        <p:nvSpPr>
          <p:cNvPr id="7" name="01_g-spec_05"/>
          <p:cNvSpPr txBox="1"/>
          <p:nvPr/>
        </p:nvSpPr>
        <p:spPr>
          <a:xfrm>
            <a:off x="2424857" y="6344091"/>
            <a:ext cx="543713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가로 888×560 · 표정·무릎이 보이게</a:t>
            </a:r>
          </a:p>
        </p:txBody>
      </p:sp>
      <p:sp>
        <p:nvSpPr>
          <p:cNvPr id="8" name="01_abs_06"/>
          <p:cNvSpPr txBox="1"/>
          <p:nvPr/>
        </p:nvSpPr>
        <p:spPr>
          <a:xfrm>
            <a:off x="2352973" y="9134094"/>
            <a:ext cx="5580906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정답은 운동 이름이 아니라</a:t>
            </a:r>
          </a:p>
        </p:txBody>
      </p:sp>
      <p:sp>
        <p:nvSpPr>
          <p:cNvPr id="9" name="01_abs_07"/>
          <p:cNvSpPr txBox="1"/>
          <p:nvPr/>
        </p:nvSpPr>
        <p:spPr>
          <a:xfrm>
            <a:off x="2681734" y="9774055"/>
            <a:ext cx="4923532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700"/>
                <a:ea typeface="Noto Sans KR W700"/>
                <a:cs typeface="Noto Sans KR W700"/>
              </a:rPr>
              <a:t>‘무릎 각도’에 있습니다</a:t>
            </a:r>
          </a:p>
        </p:txBody>
      </p:sp>
      <p:sp>
        <p:nvSpPr>
          <p:cNvPr id="10" name="01_abs_08"/>
          <p:cNvSpPr txBox="1"/>
          <p:nvPr/>
        </p:nvSpPr>
        <p:spPr>
          <a:xfrm>
            <a:off x="1758851" y="10636758"/>
            <a:ext cx="6769298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PFP 2탄 · 1탄 ‘러너의 무릎 앞 통증’ 이어서</a:t>
            </a:r>
          </a:p>
        </p:txBody>
      </p:sp>
      <p:sp>
        <p:nvSpPr>
          <p:cNvPr id="11" name="01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_도식" descr="c02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5129510"/>
            <a:ext cx="2628900" cy="3143250"/>
          </a:xfrm>
          <a:prstGeom prst="rect">
            <a:avLst/>
          </a:prstGeom>
        </p:spPr>
      </p:pic>
      <p:pic>
        <p:nvPicPr>
          <p:cNvPr id="3" name="02_도식" descr="c02-p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5129510"/>
            <a:ext cx="2628900" cy="3143250"/>
          </a:xfrm>
          <a:prstGeom prst="rect">
            <a:avLst/>
          </a:prstGeom>
        </p:spPr>
      </p:pic>
      <p:pic>
        <p:nvPicPr>
          <p:cNvPr id="4" name="02_도식" descr="c02-p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5129510"/>
            <a:ext cx="2628900" cy="3143250"/>
          </a:xfrm>
          <a:prstGeom prst="rect">
            <a:avLst/>
          </a:prstGeom>
        </p:spPr>
      </p:pic>
      <p:sp>
        <p:nvSpPr>
          <p:cNvPr id="5" name="02_headline_01"/>
          <p:cNvSpPr txBox="1"/>
          <p:nvPr/>
        </p:nvSpPr>
        <p:spPr>
          <a:xfrm>
            <a:off x="3250257" y="997077"/>
            <a:ext cx="3786485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1탄 결론,</a:t>
            </a:r>
          </a:p>
        </p:txBody>
      </p:sp>
      <p:sp>
        <p:nvSpPr>
          <p:cNvPr id="6" name="02_headline_02"/>
          <p:cNvSpPr txBox="1"/>
          <p:nvPr/>
        </p:nvSpPr>
        <p:spPr>
          <a:xfrm>
            <a:off x="1282005" y="1957167"/>
            <a:ext cx="7722989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허벅지 앞 근육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 키우기</a:t>
            </a:r>
          </a:p>
        </p:txBody>
      </p:sp>
      <p:sp>
        <p:nvSpPr>
          <p:cNvPr id="7" name="02_body_03"/>
          <p:cNvSpPr txBox="1"/>
          <p:nvPr/>
        </p:nvSpPr>
        <p:spPr>
          <a:xfrm>
            <a:off x="1904107" y="3376362"/>
            <a:ext cx="647863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발생 위험 요인으로 확인된 예외가</a:t>
            </a:r>
          </a:p>
        </p:txBody>
      </p:sp>
      <p:sp>
        <p:nvSpPr>
          <p:cNvPr id="8" name="02_body_04"/>
          <p:cNvSpPr txBox="1"/>
          <p:nvPr/>
        </p:nvSpPr>
        <p:spPr>
          <a:xfrm>
            <a:off x="1557933" y="3971377"/>
            <a:ext cx="7170986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무릎 폄 근력이었죠. 어떻게 키울까요?</a:t>
            </a:r>
          </a:p>
        </p:txBody>
      </p:sp>
      <p:sp>
        <p:nvSpPr>
          <p:cNvPr id="9" name="02_item-h_05"/>
          <p:cNvSpPr txBox="1"/>
          <p:nvPr/>
        </p:nvSpPr>
        <p:spPr>
          <a:xfrm>
            <a:off x="1345406" y="8300192"/>
            <a:ext cx="188103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스쿼트</a:t>
            </a:r>
          </a:p>
        </p:txBody>
      </p:sp>
      <p:sp>
        <p:nvSpPr>
          <p:cNvPr id="10" name="02_note_06"/>
          <p:cNvSpPr txBox="1"/>
          <p:nvPr/>
        </p:nvSpPr>
        <p:spPr>
          <a:xfrm>
            <a:off x="697260" y="8909673"/>
            <a:ext cx="3177480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-51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CKC · 발이 바닥에</a:t>
            </a:r>
          </a:p>
        </p:txBody>
      </p:sp>
      <p:sp>
        <p:nvSpPr>
          <p:cNvPr id="11" name="02_item-h_07"/>
          <p:cNvSpPr txBox="1"/>
          <p:nvPr/>
        </p:nvSpPr>
        <p:spPr>
          <a:xfrm>
            <a:off x="3964037" y="8300192"/>
            <a:ext cx="235877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무릎 펴기</a:t>
            </a:r>
          </a:p>
        </p:txBody>
      </p:sp>
      <p:sp>
        <p:nvSpPr>
          <p:cNvPr id="12" name="02_note_08"/>
          <p:cNvSpPr txBox="1"/>
          <p:nvPr/>
        </p:nvSpPr>
        <p:spPr>
          <a:xfrm>
            <a:off x="3682454" y="8909673"/>
            <a:ext cx="2921943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-51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OKC · 발목 중량</a:t>
            </a:r>
          </a:p>
        </p:txBody>
      </p:sp>
      <p:sp>
        <p:nvSpPr>
          <p:cNvPr id="13" name="02_item-h_09"/>
          <p:cNvSpPr txBox="1"/>
          <p:nvPr/>
        </p:nvSpPr>
        <p:spPr>
          <a:xfrm>
            <a:off x="6821537" y="8300192"/>
            <a:ext cx="235877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무릎 펴기</a:t>
            </a:r>
          </a:p>
        </p:txBody>
      </p:sp>
      <p:sp>
        <p:nvSpPr>
          <p:cNvPr id="14" name="02_note_10"/>
          <p:cNvSpPr txBox="1"/>
          <p:nvPr/>
        </p:nvSpPr>
        <p:spPr>
          <a:xfrm>
            <a:off x="6539954" y="8909673"/>
            <a:ext cx="2921943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-51" lang="ko-KR" altLang="en-US">
                <a:solidFill>
                  <a:srgbClr val="121416"/>
                </a:solidFill>
                <a:latin typeface="Noto Sans KR W600"/>
                <a:ea typeface="Noto Sans KR W600"/>
                <a:cs typeface="Noto Sans KR W600"/>
              </a:rPr>
              <a:t>OKC · 고정 저항</a:t>
            </a:r>
          </a:p>
        </p:txBody>
      </p:sp>
      <p:sp>
        <p:nvSpPr>
          <p:cNvPr id="15" name="02_body_11"/>
          <p:cNvSpPr txBox="1"/>
          <p:nvPr/>
        </p:nvSpPr>
        <p:spPr>
          <a:xfrm>
            <a:off x="1661071" y="9990433"/>
            <a:ext cx="6964710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세 운동을 같은 근육 활성도로 맞추고</a:t>
            </a:r>
          </a:p>
        </p:txBody>
      </p:sp>
      <p:sp>
        <p:nvSpPr>
          <p:cNvPr id="16" name="02_body_12"/>
          <p:cNvSpPr txBox="1"/>
          <p:nvPr/>
        </p:nvSpPr>
        <p:spPr>
          <a:xfrm>
            <a:off x="1099542" y="10585448"/>
            <a:ext cx="8087916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0~90° 각도별 무릎뼈 압박을 비교했습니다.</a:t>
            </a:r>
          </a:p>
        </p:txBody>
      </p:sp>
      <p:sp>
        <p:nvSpPr>
          <p:cNvPr id="17" name="02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_도식" descr="c03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6096000"/>
          </a:xfrm>
          <a:prstGeom prst="rect">
            <a:avLst/>
          </a:prstGeom>
        </p:spPr>
      </p:pic>
      <p:sp>
        <p:nvSpPr>
          <p:cNvPr id="3" name="03_headline_01"/>
          <p:cNvSpPr txBox="1"/>
          <p:nvPr/>
        </p:nvSpPr>
        <p:spPr>
          <a:xfrm>
            <a:off x="2894261" y="997077"/>
            <a:ext cx="4498479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각도에 따라</a:t>
            </a:r>
          </a:p>
        </p:txBody>
      </p:sp>
      <p:sp>
        <p:nvSpPr>
          <p:cNvPr id="4" name="03_headline_02"/>
          <p:cNvSpPr txBox="1"/>
          <p:nvPr/>
        </p:nvSpPr>
        <p:spPr>
          <a:xfrm>
            <a:off x="1832074" y="1957167"/>
            <a:ext cx="6622852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압박이 </a:t>
            </a: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뒤집힙니다</a:t>
            </a:r>
          </a:p>
        </p:txBody>
      </p:sp>
      <p:sp>
        <p:nvSpPr>
          <p:cNvPr id="5" name="03_body_03"/>
          <p:cNvSpPr txBox="1"/>
          <p:nvPr/>
        </p:nvSpPr>
        <p:spPr>
          <a:xfrm>
            <a:off x="2088654" y="9748587"/>
            <a:ext cx="610939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깊게 굽힐수록 스쿼트가, 펼수록</a:t>
            </a:r>
          </a:p>
        </p:txBody>
      </p:sp>
      <p:sp>
        <p:nvSpPr>
          <p:cNvPr id="6" name="03_body_04"/>
          <p:cNvSpPr txBox="1"/>
          <p:nvPr/>
        </p:nvSpPr>
        <p:spPr>
          <a:xfrm>
            <a:off x="1849636" y="10343602"/>
            <a:ext cx="658757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발목 중량 무릎 펴기가 압박이 컸고</a:t>
            </a:r>
          </a:p>
        </p:txBody>
      </p:sp>
      <p:sp>
        <p:nvSpPr>
          <p:cNvPr id="7" name="03_key_05"/>
          <p:cNvSpPr txBox="1"/>
          <p:nvPr/>
        </p:nvSpPr>
        <p:spPr>
          <a:xfrm>
            <a:off x="1991618" y="11053679"/>
            <a:ext cx="6303764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45°에서는 차이가 없었습니다.</a:t>
            </a:r>
          </a:p>
        </p:txBody>
      </p:sp>
      <p:sp>
        <p:nvSpPr>
          <p:cNvPr id="8" name="03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_도식" descr="c04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780"/>
            <a:ext cx="8458200" cy="6096000"/>
          </a:xfrm>
          <a:prstGeom prst="rect">
            <a:avLst/>
          </a:prstGeom>
        </p:spPr>
      </p:pic>
      <p:sp>
        <p:nvSpPr>
          <p:cNvPr id="3" name="04_headline_01"/>
          <p:cNvSpPr txBox="1"/>
          <p:nvPr/>
        </p:nvSpPr>
        <p:spPr>
          <a:xfrm>
            <a:off x="2366367" y="997077"/>
            <a:ext cx="5554117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0~45°는 CKC,</a:t>
            </a:r>
          </a:p>
        </p:txBody>
      </p:sp>
      <p:sp>
        <p:nvSpPr>
          <p:cNvPr id="4" name="04_headline_02"/>
          <p:cNvSpPr txBox="1"/>
          <p:nvPr/>
        </p:nvSpPr>
        <p:spPr>
          <a:xfrm>
            <a:off x="2215902" y="1957167"/>
            <a:ext cx="5855047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45~90°는 </a:t>
            </a: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OKC</a:t>
            </a:r>
          </a:p>
        </p:txBody>
      </p:sp>
      <p:sp>
        <p:nvSpPr>
          <p:cNvPr id="5" name="04_body_03"/>
          <p:cNvSpPr txBox="1"/>
          <p:nvPr/>
        </p:nvSpPr>
        <p:spPr>
          <a:xfrm>
            <a:off x="1621482" y="9748587"/>
            <a:ext cx="7043886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얕은 스쿼트 + 굽힌 구간의 무릎 펴기,</a:t>
            </a:r>
          </a:p>
        </p:txBody>
      </p:sp>
      <p:sp>
        <p:nvSpPr>
          <p:cNvPr id="6" name="04_body_04"/>
          <p:cNvSpPr txBox="1"/>
          <p:nvPr/>
        </p:nvSpPr>
        <p:spPr>
          <a:xfrm>
            <a:off x="1025426" y="10343602"/>
            <a:ext cx="8236000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이 조합에서 압박이 약 4 MPa 아래였습니다.</a:t>
            </a:r>
          </a:p>
        </p:txBody>
      </p:sp>
      <p:sp>
        <p:nvSpPr>
          <p:cNvPr id="7" name="04_note_05"/>
          <p:cNvSpPr txBox="1"/>
          <p:nvPr/>
        </p:nvSpPr>
        <p:spPr>
          <a:xfrm>
            <a:off x="1505992" y="11089493"/>
            <a:ext cx="7274868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4 MPa: 계단을 오르내릴 때 보고된 최대치 수준</a:t>
            </a:r>
          </a:p>
        </p:txBody>
      </p:sp>
      <p:sp>
        <p:nvSpPr>
          <p:cNvPr id="8" name="04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5_강조박스_1"/>
          <p:cNvSpPr/>
          <p:nvPr/>
        </p:nvSpPr>
        <p:spPr>
          <a:xfrm>
            <a:off x="914400" y="9815364"/>
            <a:ext cx="8458200" cy="1707356"/>
          </a:xfrm>
          <a:prstGeom prst="roundRect">
            <a:avLst>
              <a:gd name="adj" fmla="val 13389"/>
            </a:avLst>
          </a:prstGeom>
          <a:solidFill>
            <a:srgbClr val="F0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05_구분선_2"/>
          <p:cNvCxnSpPr/>
          <p:nvPr/>
        </p:nvCxnSpPr>
        <p:spPr>
          <a:xfrm>
            <a:off x="914400" y="5304383"/>
            <a:ext cx="8458200" cy="0"/>
          </a:xfrm>
          <a:prstGeom prst="line">
            <a:avLst/>
          </a:prstGeom>
          <a:ln w="19050">
            <a:solidFill>
              <a:srgbClr val="E6ECF1"/>
            </a:solidFill>
          </a:ln>
          <a:effectLst/>
        </p:spPr>
      </p:cxnSp>
      <p:cxnSp>
        <p:nvCxnSpPr>
          <p:cNvPr id="4" name="05_구분선_3"/>
          <p:cNvCxnSpPr/>
          <p:nvPr/>
        </p:nvCxnSpPr>
        <p:spPr>
          <a:xfrm>
            <a:off x="914400" y="7421761"/>
            <a:ext cx="8458200" cy="0"/>
          </a:xfrm>
          <a:prstGeom prst="line">
            <a:avLst/>
          </a:prstGeom>
          <a:ln w="19050">
            <a:solidFill>
              <a:srgbClr val="E6ECF1"/>
            </a:solidFill>
          </a:ln>
          <a:effectLst/>
        </p:spPr>
      </p:cxnSp>
      <p:sp>
        <p:nvSpPr>
          <p:cNvPr id="5" name="05_headline_01"/>
          <p:cNvSpPr txBox="1"/>
          <p:nvPr/>
        </p:nvSpPr>
        <p:spPr>
          <a:xfrm>
            <a:off x="1379934" y="997077"/>
            <a:ext cx="7526982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그대로 처방하기 전에</a:t>
            </a:r>
          </a:p>
        </p:txBody>
      </p:sp>
      <p:sp>
        <p:nvSpPr>
          <p:cNvPr id="6" name="05_headline_02"/>
          <p:cNvSpPr txBox="1"/>
          <p:nvPr/>
        </p:nvSpPr>
        <p:spPr>
          <a:xfrm>
            <a:off x="3248174" y="1957167"/>
            <a:ext cx="3790504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알아둘 것</a:t>
            </a:r>
          </a:p>
        </p:txBody>
      </p:sp>
      <p:sp>
        <p:nvSpPr>
          <p:cNvPr id="7" name="05_item-h_03"/>
          <p:cNvSpPr txBox="1"/>
          <p:nvPr/>
        </p:nvSpPr>
        <p:spPr>
          <a:xfrm>
            <a:off x="3427363" y="3386649"/>
            <a:ext cx="343212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고정 저항 기계</a:t>
            </a:r>
          </a:p>
        </p:txBody>
      </p:sp>
      <p:sp>
        <p:nvSpPr>
          <p:cNvPr id="8" name="05_body_04"/>
          <p:cNvSpPr txBox="1"/>
          <p:nvPr/>
        </p:nvSpPr>
        <p:spPr>
          <a:xfrm>
            <a:off x="2795290" y="4065502"/>
            <a:ext cx="4696271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전 구간 4 MPa 이상이라</a:t>
            </a:r>
          </a:p>
        </p:txBody>
      </p:sp>
      <p:sp>
        <p:nvSpPr>
          <p:cNvPr id="9" name="05_body_05"/>
          <p:cNvSpPr txBox="1"/>
          <p:nvPr/>
        </p:nvSpPr>
        <p:spPr>
          <a:xfrm>
            <a:off x="2442270" y="4617506"/>
            <a:ext cx="5402312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연구진도 주의를 권했습니다.</a:t>
            </a:r>
          </a:p>
        </p:txBody>
      </p:sp>
      <p:sp>
        <p:nvSpPr>
          <p:cNvPr id="10" name="05_item-h_06"/>
          <p:cNvSpPr txBox="1"/>
          <p:nvPr/>
        </p:nvSpPr>
        <p:spPr>
          <a:xfrm>
            <a:off x="3167211" y="5504027"/>
            <a:ext cx="3952429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건강한 성인 10명</a:t>
            </a:r>
          </a:p>
        </p:txBody>
      </p:sp>
      <p:sp>
        <p:nvSpPr>
          <p:cNvPr id="11" name="05_body_07"/>
          <p:cNvSpPr txBox="1"/>
          <p:nvPr/>
        </p:nvSpPr>
        <p:spPr>
          <a:xfrm>
            <a:off x="2393752" y="6182880"/>
            <a:ext cx="5499497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PFP 환자는 접촉 면적이 작아</a:t>
            </a:r>
          </a:p>
        </p:txBody>
      </p:sp>
      <p:sp>
        <p:nvSpPr>
          <p:cNvPr id="12" name="05_body_08"/>
          <p:cNvSpPr txBox="1"/>
          <p:nvPr/>
        </p:nvSpPr>
        <p:spPr>
          <a:xfrm>
            <a:off x="2698403" y="6734883"/>
            <a:ext cx="489019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압박이 더 클 수 있습니다.</a:t>
            </a:r>
          </a:p>
        </p:txBody>
      </p:sp>
      <p:sp>
        <p:nvSpPr>
          <p:cNvPr id="13" name="05_item-h_09"/>
          <p:cNvSpPr txBox="1"/>
          <p:nvPr/>
        </p:nvSpPr>
        <p:spPr>
          <a:xfrm>
            <a:off x="3687961" y="7621405"/>
            <a:ext cx="2910929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모델 추정값</a:t>
            </a:r>
          </a:p>
        </p:txBody>
      </p:sp>
      <p:sp>
        <p:nvSpPr>
          <p:cNvPr id="14" name="05_body_10"/>
          <p:cNvSpPr txBox="1"/>
          <p:nvPr/>
        </p:nvSpPr>
        <p:spPr>
          <a:xfrm>
            <a:off x="2678162" y="8300258"/>
            <a:ext cx="4930527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올라오는 구간만 계산했고</a:t>
            </a:r>
          </a:p>
        </p:txBody>
      </p:sp>
      <p:sp>
        <p:nvSpPr>
          <p:cNvPr id="15" name="05_body_11"/>
          <p:cNvSpPr txBox="1"/>
          <p:nvPr/>
        </p:nvSpPr>
        <p:spPr>
          <a:xfrm>
            <a:off x="2802434" y="8852261"/>
            <a:ext cx="4682133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실제 측정값이 아닙니다.</a:t>
            </a:r>
          </a:p>
        </p:txBody>
      </p:sp>
      <p:sp>
        <p:nvSpPr>
          <p:cNvPr id="16" name="05_body_12"/>
          <p:cNvSpPr txBox="1"/>
          <p:nvPr/>
        </p:nvSpPr>
        <p:spPr>
          <a:xfrm>
            <a:off x="3030438" y="10147215"/>
            <a:ext cx="4226123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각도는 출발점입니다.</a:t>
            </a:r>
          </a:p>
        </p:txBody>
      </p:sp>
      <p:sp>
        <p:nvSpPr>
          <p:cNvPr id="17" name="05_body_13"/>
          <p:cNvSpPr txBox="1"/>
          <p:nvPr/>
        </p:nvSpPr>
        <p:spPr>
          <a:xfrm>
            <a:off x="1322338" y="10715143"/>
            <a:ext cx="7642175" cy="5200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50" b="0" i="0" spc="-63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운동 중·다음 날 통증 반응으로 조절하세요.</a:t>
            </a:r>
          </a:p>
        </p:txBody>
      </p:sp>
      <p:sp>
        <p:nvSpPr>
          <p:cNvPr id="18" name="05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6_사진영상자리_06-1"/>
          <p:cNvSpPr/>
          <p:nvPr/>
        </p:nvSpPr>
        <p:spPr>
          <a:xfrm>
            <a:off x="1028700" y="3238500"/>
            <a:ext cx="8229600" cy="462915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6_headline_01"/>
          <p:cNvSpPr txBox="1"/>
          <p:nvPr/>
        </p:nvSpPr>
        <p:spPr>
          <a:xfrm>
            <a:off x="3346252" y="997077"/>
            <a:ext cx="3594497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스쿼트는</a:t>
            </a:r>
          </a:p>
        </p:txBody>
      </p:sp>
      <p:sp>
        <p:nvSpPr>
          <p:cNvPr id="4" name="06_headline_02"/>
          <p:cNvSpPr txBox="1"/>
          <p:nvPr/>
        </p:nvSpPr>
        <p:spPr>
          <a:xfrm>
            <a:off x="2639764" y="1957167"/>
            <a:ext cx="5007471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무릎 45°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까지</a:t>
            </a:r>
          </a:p>
        </p:txBody>
      </p:sp>
      <p:sp>
        <p:nvSpPr>
          <p:cNvPr id="5" name="06_g-tag_03"/>
          <p:cNvSpPr txBox="1"/>
          <p:nvPr/>
        </p:nvSpPr>
        <p:spPr>
          <a:xfrm>
            <a:off x="3835896" y="4810566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영상 넣는 자리</a:t>
            </a:r>
          </a:p>
        </p:txBody>
      </p:sp>
      <p:sp>
        <p:nvSpPr>
          <p:cNvPr id="6" name="06_strong_04"/>
          <p:cNvSpPr txBox="1"/>
          <p:nvPr/>
        </p:nvSpPr>
        <p:spPr>
          <a:xfrm>
            <a:off x="3684240" y="5307390"/>
            <a:ext cx="29185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스쿼트 옆모습</a:t>
            </a:r>
          </a:p>
        </p:txBody>
      </p:sp>
      <p:sp>
        <p:nvSpPr>
          <p:cNvPr id="7" name="06_g-spec_05"/>
          <p:cNvSpPr txBox="1"/>
          <p:nvPr/>
        </p:nvSpPr>
        <p:spPr>
          <a:xfrm>
            <a:off x="3115419" y="5915466"/>
            <a:ext cx="4056013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가로 16:9 · 무릎·발끝까지</a:t>
            </a:r>
          </a:p>
        </p:txBody>
      </p:sp>
      <p:sp>
        <p:nvSpPr>
          <p:cNvPr id="8" name="06_abs_06"/>
          <p:cNvSpPr txBox="1"/>
          <p:nvPr/>
        </p:nvSpPr>
        <p:spPr>
          <a:xfrm>
            <a:off x="3052316" y="8221599"/>
            <a:ext cx="4182368" cy="7181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152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무릎이 45°보다</a:t>
            </a:r>
          </a:p>
        </p:txBody>
      </p:sp>
      <p:sp>
        <p:nvSpPr>
          <p:cNvPr id="9" name="06_abs_07"/>
          <p:cNvSpPr txBox="1"/>
          <p:nvPr/>
        </p:nvSpPr>
        <p:spPr>
          <a:xfrm>
            <a:off x="2534096" y="8906506"/>
            <a:ext cx="5218658" cy="7181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152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더 굽혀지지 않나요?</a:t>
            </a:r>
          </a:p>
        </p:txBody>
      </p:sp>
      <p:sp>
        <p:nvSpPr>
          <p:cNvPr id="10" name="06_item-h_08"/>
          <p:cNvSpPr txBox="1"/>
          <p:nvPr/>
        </p:nvSpPr>
        <p:spPr>
          <a:xfrm>
            <a:off x="2179588" y="9933432"/>
            <a:ext cx="150807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깊이</a:t>
            </a:r>
          </a:p>
        </p:txBody>
      </p:sp>
      <p:sp>
        <p:nvSpPr>
          <p:cNvPr id="11" name="06_body_09"/>
          <p:cNvSpPr txBox="1"/>
          <p:nvPr/>
        </p:nvSpPr>
        <p:spPr>
          <a:xfrm>
            <a:off x="1253430" y="10525006"/>
            <a:ext cx="336053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높은 박스로 제한</a:t>
            </a:r>
          </a:p>
        </p:txBody>
      </p:sp>
      <p:sp>
        <p:nvSpPr>
          <p:cNvPr id="12" name="06_item-h_10"/>
          <p:cNvSpPr txBox="1"/>
          <p:nvPr/>
        </p:nvSpPr>
        <p:spPr>
          <a:xfrm>
            <a:off x="6599188" y="9933432"/>
            <a:ext cx="150807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통증</a:t>
            </a:r>
          </a:p>
        </p:txBody>
      </p:sp>
      <p:sp>
        <p:nvSpPr>
          <p:cNvPr id="13" name="06_body_11"/>
          <p:cNvSpPr txBox="1"/>
          <p:nvPr/>
        </p:nvSpPr>
        <p:spPr>
          <a:xfrm>
            <a:off x="5398889" y="10525006"/>
            <a:ext cx="3908822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운동 중·다음 날 확인</a:t>
            </a:r>
          </a:p>
        </p:txBody>
      </p:sp>
      <p:sp>
        <p:nvSpPr>
          <p:cNvPr id="14" name="06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7_사진영상자리_07-1"/>
          <p:cNvSpPr/>
          <p:nvPr/>
        </p:nvSpPr>
        <p:spPr>
          <a:xfrm>
            <a:off x="914400" y="3238500"/>
            <a:ext cx="4114800" cy="41148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7_사진영상자리_07-2"/>
          <p:cNvSpPr/>
          <p:nvPr/>
        </p:nvSpPr>
        <p:spPr>
          <a:xfrm>
            <a:off x="5257800" y="3238500"/>
            <a:ext cx="4114800" cy="41148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07_headline_01"/>
          <p:cNvSpPr txBox="1"/>
          <p:nvPr/>
        </p:nvSpPr>
        <p:spPr>
          <a:xfrm>
            <a:off x="2894261" y="997077"/>
            <a:ext cx="4498479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무릎 펴기는</a:t>
            </a:r>
          </a:p>
        </p:txBody>
      </p:sp>
      <p:sp>
        <p:nvSpPr>
          <p:cNvPr id="5" name="07_headline_02"/>
          <p:cNvSpPr txBox="1"/>
          <p:nvPr/>
        </p:nvSpPr>
        <p:spPr>
          <a:xfrm>
            <a:off x="2451348" y="1957167"/>
            <a:ext cx="5384304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90°→45°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까지</a:t>
            </a:r>
          </a:p>
        </p:txBody>
      </p:sp>
      <p:sp>
        <p:nvSpPr>
          <p:cNvPr id="6" name="07_g-tag_03"/>
          <p:cNvSpPr txBox="1"/>
          <p:nvPr/>
        </p:nvSpPr>
        <p:spPr>
          <a:xfrm>
            <a:off x="1664196" y="4553391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사진 넣는 자리</a:t>
            </a:r>
          </a:p>
        </p:txBody>
      </p:sp>
      <p:sp>
        <p:nvSpPr>
          <p:cNvPr id="7" name="07_strong_04"/>
          <p:cNvSpPr txBox="1"/>
          <p:nvPr/>
        </p:nvSpPr>
        <p:spPr>
          <a:xfrm>
            <a:off x="1855440" y="5050215"/>
            <a:ext cx="22327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시작 자세</a:t>
            </a:r>
          </a:p>
        </p:txBody>
      </p:sp>
      <p:sp>
        <p:nvSpPr>
          <p:cNvPr id="8" name="07_g-spec_05"/>
          <p:cNvSpPr txBox="1"/>
          <p:nvPr/>
        </p:nvSpPr>
        <p:spPr>
          <a:xfrm>
            <a:off x="1819870" y="5658291"/>
            <a:ext cx="2303711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1:1 · 옆모습</a:t>
            </a:r>
          </a:p>
        </p:txBody>
      </p:sp>
      <p:sp>
        <p:nvSpPr>
          <p:cNvPr id="9" name="07_g-tag_06"/>
          <p:cNvSpPr txBox="1"/>
          <p:nvPr/>
        </p:nvSpPr>
        <p:spPr>
          <a:xfrm>
            <a:off x="6007596" y="4553391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사진 넣는 자리</a:t>
            </a:r>
          </a:p>
        </p:txBody>
      </p:sp>
      <p:sp>
        <p:nvSpPr>
          <p:cNvPr id="10" name="07_strong_07"/>
          <p:cNvSpPr txBox="1"/>
          <p:nvPr/>
        </p:nvSpPr>
        <p:spPr>
          <a:xfrm>
            <a:off x="6198840" y="5050215"/>
            <a:ext cx="22327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멈춘 자세</a:t>
            </a:r>
          </a:p>
        </p:txBody>
      </p:sp>
      <p:sp>
        <p:nvSpPr>
          <p:cNvPr id="11" name="07_g-spec_08"/>
          <p:cNvSpPr txBox="1"/>
          <p:nvPr/>
        </p:nvSpPr>
        <p:spPr>
          <a:xfrm>
            <a:off x="6163270" y="5658291"/>
            <a:ext cx="2303711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1:1 · 옆모습</a:t>
            </a:r>
          </a:p>
        </p:txBody>
      </p:sp>
      <p:sp>
        <p:nvSpPr>
          <p:cNvPr id="12" name="07_item-h_09"/>
          <p:cNvSpPr txBox="1"/>
          <p:nvPr/>
        </p:nvSpPr>
        <p:spPr>
          <a:xfrm>
            <a:off x="1729234" y="7609332"/>
            <a:ext cx="2484983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시작 · 90°</a:t>
            </a:r>
          </a:p>
        </p:txBody>
      </p:sp>
      <p:sp>
        <p:nvSpPr>
          <p:cNvPr id="13" name="07_item-h_10"/>
          <p:cNvSpPr txBox="1"/>
          <p:nvPr/>
        </p:nvSpPr>
        <p:spPr>
          <a:xfrm>
            <a:off x="6072634" y="7609332"/>
            <a:ext cx="2484983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멈춤 · 45°</a:t>
            </a:r>
          </a:p>
        </p:txBody>
      </p:sp>
      <p:sp>
        <p:nvSpPr>
          <p:cNvPr id="14" name="07_abs_11"/>
          <p:cNvSpPr txBox="1"/>
          <p:nvPr/>
        </p:nvSpPr>
        <p:spPr>
          <a:xfrm>
            <a:off x="3378101" y="8525256"/>
            <a:ext cx="3530798" cy="6438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17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다리를 끝까지</a:t>
            </a:r>
          </a:p>
        </p:txBody>
      </p:sp>
      <p:sp>
        <p:nvSpPr>
          <p:cNvPr id="15" name="07_abs_12"/>
          <p:cNvSpPr txBox="1"/>
          <p:nvPr/>
        </p:nvSpPr>
        <p:spPr>
          <a:xfrm>
            <a:off x="3378101" y="9169086"/>
            <a:ext cx="3530798" cy="6438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17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펴지 않습니다</a:t>
            </a:r>
          </a:p>
        </p:txBody>
      </p:sp>
      <p:sp>
        <p:nvSpPr>
          <p:cNvPr id="16" name="07_abs_13"/>
          <p:cNvSpPr txBox="1"/>
          <p:nvPr/>
        </p:nvSpPr>
        <p:spPr>
          <a:xfrm>
            <a:off x="2524423" y="10123932"/>
            <a:ext cx="5238006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발목에 중량을 달고 앉아서</a:t>
            </a:r>
          </a:p>
        </p:txBody>
      </p:sp>
      <p:sp>
        <p:nvSpPr>
          <p:cNvPr id="17" name="07_abs_14"/>
          <p:cNvSpPr txBox="1"/>
          <p:nvPr/>
        </p:nvSpPr>
        <p:spPr>
          <a:xfrm>
            <a:off x="2779216" y="10718947"/>
            <a:ext cx="4728418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무릎 45°에서 멈춥니다.</a:t>
            </a:r>
          </a:p>
        </p:txBody>
      </p:sp>
      <p:sp>
        <p:nvSpPr>
          <p:cNvPr id="18" name="07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8_그림배경_1"/>
          <p:cNvSpPr/>
          <p:nvPr/>
        </p:nvSpPr>
        <p:spPr>
          <a:xfrm>
            <a:off x="914400" y="4767560"/>
            <a:ext cx="8458200" cy="3143250"/>
          </a:xfrm>
          <a:prstGeom prst="roundRect">
            <a:avLst>
              <a:gd name="adj" fmla="val 7272"/>
            </a:avLst>
          </a:prstGeom>
          <a:solidFill>
            <a:srgbClr val="F0F7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08_도식" descr="c08-p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67560"/>
            <a:ext cx="8458200" cy="3143250"/>
          </a:xfrm>
          <a:prstGeom prst="rect">
            <a:avLst/>
          </a:prstGeom>
        </p:spPr>
      </p:pic>
      <p:sp>
        <p:nvSpPr>
          <p:cNvPr id="4" name="08_headline_01"/>
          <p:cNvSpPr txBox="1"/>
          <p:nvPr/>
        </p:nvSpPr>
        <p:spPr>
          <a:xfrm>
            <a:off x="2540198" y="997077"/>
            <a:ext cx="5206603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움직임 패턴은</a:t>
            </a:r>
          </a:p>
        </p:txBody>
      </p:sp>
      <p:sp>
        <p:nvSpPr>
          <p:cNvPr id="5" name="08_headline_02"/>
          <p:cNvSpPr txBox="1"/>
          <p:nvPr/>
        </p:nvSpPr>
        <p:spPr>
          <a:xfrm>
            <a:off x="2638127" y="1957167"/>
            <a:ext cx="5010745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엉덩관절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에서</a:t>
            </a:r>
          </a:p>
        </p:txBody>
      </p:sp>
      <p:sp>
        <p:nvSpPr>
          <p:cNvPr id="6" name="08_body_03"/>
          <p:cNvSpPr txBox="1"/>
          <p:nvPr/>
        </p:nvSpPr>
        <p:spPr>
          <a:xfrm>
            <a:off x="2409230" y="3281112"/>
            <a:ext cx="5468541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1탄에서 본 몸통 기울어짐과</a:t>
            </a:r>
          </a:p>
        </p:txBody>
      </p:sp>
      <p:sp>
        <p:nvSpPr>
          <p:cNvPr id="7" name="08_body_04"/>
          <p:cNvSpPr txBox="1"/>
          <p:nvPr/>
        </p:nvSpPr>
        <p:spPr>
          <a:xfrm>
            <a:off x="2088803" y="3876127"/>
            <a:ext cx="6109395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허벅지가 안으로 모이는 움직임,</a:t>
            </a:r>
          </a:p>
        </p:txBody>
      </p:sp>
      <p:sp>
        <p:nvSpPr>
          <p:cNvPr id="8" name="08_key_05"/>
          <p:cNvSpPr txBox="1"/>
          <p:nvPr/>
        </p:nvSpPr>
        <p:spPr>
          <a:xfrm>
            <a:off x="2434530" y="8282666"/>
            <a:ext cx="5417939" cy="6438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17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싱글 레그 데드리프트로</a:t>
            </a:r>
          </a:p>
        </p:txBody>
      </p:sp>
      <p:sp>
        <p:nvSpPr>
          <p:cNvPr id="9" name="08_key_06"/>
          <p:cNvSpPr txBox="1"/>
          <p:nvPr/>
        </p:nvSpPr>
        <p:spPr>
          <a:xfrm>
            <a:off x="2372618" y="8926497"/>
            <a:ext cx="5541764" cy="6438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0" i="0" spc="-117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한 발 조절을 연습합니다</a:t>
            </a:r>
          </a:p>
        </p:txBody>
      </p:sp>
      <p:sp>
        <p:nvSpPr>
          <p:cNvPr id="10" name="08_body_07"/>
          <p:cNvSpPr txBox="1"/>
          <p:nvPr/>
        </p:nvSpPr>
        <p:spPr>
          <a:xfrm>
            <a:off x="1036886" y="9797403"/>
            <a:ext cx="8213229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엉덩이 근육을 크게 쓰는 동작으로 보고되고,</a:t>
            </a:r>
          </a:p>
        </p:txBody>
      </p:sp>
      <p:sp>
        <p:nvSpPr>
          <p:cNvPr id="11" name="08_body_08"/>
          <p:cNvSpPr txBox="1"/>
          <p:nvPr/>
        </p:nvSpPr>
        <p:spPr>
          <a:xfrm>
            <a:off x="1407765" y="10392418"/>
            <a:ext cx="7471470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엉덩관절+무릎 운동 병행이 권장됩니다.</a:t>
            </a:r>
          </a:p>
        </p:txBody>
      </p:sp>
      <p:sp>
        <p:nvSpPr>
          <p:cNvPr id="12" name="08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9_사진영상자리_09-1"/>
          <p:cNvSpPr/>
          <p:nvPr/>
        </p:nvSpPr>
        <p:spPr>
          <a:xfrm>
            <a:off x="1028700" y="3238500"/>
            <a:ext cx="8229600" cy="462915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9_headline_01"/>
          <p:cNvSpPr txBox="1"/>
          <p:nvPr/>
        </p:nvSpPr>
        <p:spPr>
          <a:xfrm>
            <a:off x="1255514" y="997077"/>
            <a:ext cx="7775823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싱글 레그 데드리프트,</a:t>
            </a:r>
          </a:p>
        </p:txBody>
      </p:sp>
      <p:sp>
        <p:nvSpPr>
          <p:cNvPr id="4" name="09_headline_02"/>
          <p:cNvSpPr txBox="1"/>
          <p:nvPr/>
        </p:nvSpPr>
        <p:spPr>
          <a:xfrm>
            <a:off x="2894112" y="1957167"/>
            <a:ext cx="4498628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옆에서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 보기</a:t>
            </a:r>
          </a:p>
        </p:txBody>
      </p:sp>
      <p:sp>
        <p:nvSpPr>
          <p:cNvPr id="5" name="09_g-tag_03"/>
          <p:cNvSpPr txBox="1"/>
          <p:nvPr/>
        </p:nvSpPr>
        <p:spPr>
          <a:xfrm>
            <a:off x="3835896" y="4810566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영상 넣는 자리</a:t>
            </a:r>
          </a:p>
        </p:txBody>
      </p:sp>
      <p:sp>
        <p:nvSpPr>
          <p:cNvPr id="6" name="09_strong_04"/>
          <p:cNvSpPr txBox="1"/>
          <p:nvPr/>
        </p:nvSpPr>
        <p:spPr>
          <a:xfrm>
            <a:off x="2556421" y="5307390"/>
            <a:ext cx="517401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싱글 레그 데드리프트 옆모습</a:t>
            </a:r>
          </a:p>
        </p:txBody>
      </p:sp>
      <p:sp>
        <p:nvSpPr>
          <p:cNvPr id="7" name="09_g-spec_05"/>
          <p:cNvSpPr txBox="1"/>
          <p:nvPr/>
        </p:nvSpPr>
        <p:spPr>
          <a:xfrm>
            <a:off x="2837855" y="5915466"/>
            <a:ext cx="4611142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가로 16:9 · 머리부터 발끝까지</a:t>
            </a:r>
          </a:p>
        </p:txBody>
      </p:sp>
      <p:sp>
        <p:nvSpPr>
          <p:cNvPr id="8" name="09_abs_06"/>
          <p:cNvSpPr txBox="1"/>
          <p:nvPr/>
        </p:nvSpPr>
        <p:spPr>
          <a:xfrm>
            <a:off x="3227933" y="8221599"/>
            <a:ext cx="3830985" cy="7181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152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엉덩이가 먼저</a:t>
            </a:r>
          </a:p>
        </p:txBody>
      </p:sp>
      <p:sp>
        <p:nvSpPr>
          <p:cNvPr id="9" name="09_abs_07"/>
          <p:cNvSpPr txBox="1"/>
          <p:nvPr/>
        </p:nvSpPr>
        <p:spPr>
          <a:xfrm>
            <a:off x="3335238" y="8906506"/>
            <a:ext cx="3616523" cy="7181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152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뒤로 가나요?</a:t>
            </a:r>
          </a:p>
        </p:txBody>
      </p:sp>
      <p:sp>
        <p:nvSpPr>
          <p:cNvPr id="10" name="09_item-h_08"/>
          <p:cNvSpPr txBox="1"/>
          <p:nvPr/>
        </p:nvSpPr>
        <p:spPr>
          <a:xfrm>
            <a:off x="2366070" y="9933432"/>
            <a:ext cx="1135112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등</a:t>
            </a:r>
          </a:p>
        </p:txBody>
      </p:sp>
      <p:sp>
        <p:nvSpPr>
          <p:cNvPr id="11" name="09_body_09"/>
          <p:cNvSpPr txBox="1"/>
          <p:nvPr/>
        </p:nvSpPr>
        <p:spPr>
          <a:xfrm>
            <a:off x="1026319" y="10525006"/>
            <a:ext cx="3814614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머리~뒷다리 일직선</a:t>
            </a:r>
          </a:p>
        </p:txBody>
      </p:sp>
      <p:sp>
        <p:nvSpPr>
          <p:cNvPr id="12" name="09_item-h_10"/>
          <p:cNvSpPr txBox="1"/>
          <p:nvPr/>
        </p:nvSpPr>
        <p:spPr>
          <a:xfrm>
            <a:off x="6173837" y="9933432"/>
            <a:ext cx="235877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99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지지 무릎</a:t>
            </a:r>
          </a:p>
        </p:txBody>
      </p:sp>
      <p:sp>
        <p:nvSpPr>
          <p:cNvPr id="13" name="09_body_11"/>
          <p:cNvSpPr txBox="1"/>
          <p:nvPr/>
        </p:nvSpPr>
        <p:spPr>
          <a:xfrm>
            <a:off x="5623471" y="10525006"/>
            <a:ext cx="345951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살짝 굽힌 채 유지</a:t>
            </a:r>
          </a:p>
        </p:txBody>
      </p:sp>
      <p:sp>
        <p:nvSpPr>
          <p:cNvPr id="14" name="09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10_사진영상자리_10-1"/>
          <p:cNvSpPr/>
          <p:nvPr/>
        </p:nvSpPr>
        <p:spPr>
          <a:xfrm>
            <a:off x="914400" y="3238500"/>
            <a:ext cx="4114800" cy="7315200"/>
          </a:xfrm>
          <a:prstGeom prst="roundRect">
            <a:avLst>
              <a:gd name="adj" fmla="val 0"/>
            </a:avLst>
          </a:prstGeom>
          <a:solidFill>
            <a:srgbClr val="F3F5F7"/>
          </a:solidFill>
          <a:ln w="28575">
            <a:solidFill>
              <a:srgbClr val="B9C4C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10_headline_01"/>
          <p:cNvSpPr txBox="1"/>
          <p:nvPr/>
        </p:nvSpPr>
        <p:spPr>
          <a:xfrm>
            <a:off x="1255514" y="997077"/>
            <a:ext cx="7775823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싱글 레그 데드리프트,</a:t>
            </a:r>
          </a:p>
        </p:txBody>
      </p:sp>
      <p:sp>
        <p:nvSpPr>
          <p:cNvPr id="4" name="10_headline_02"/>
          <p:cNvSpPr txBox="1"/>
          <p:nvPr/>
        </p:nvSpPr>
        <p:spPr>
          <a:xfrm>
            <a:off x="2894112" y="1957167"/>
            <a:ext cx="4498628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앞에서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 보기</a:t>
            </a:r>
          </a:p>
        </p:txBody>
      </p:sp>
      <p:sp>
        <p:nvSpPr>
          <p:cNvPr id="5" name="10_g-tag_03"/>
          <p:cNvSpPr txBox="1"/>
          <p:nvPr/>
        </p:nvSpPr>
        <p:spPr>
          <a:xfrm>
            <a:off x="1664196" y="5905941"/>
            <a:ext cx="2615208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0879D8"/>
                </a:solidFill>
                <a:latin typeface="Noto Sans KR W700"/>
                <a:ea typeface="Noto Sans KR W700"/>
                <a:cs typeface="Noto Sans KR W700"/>
              </a:rPr>
              <a:t>영상 넣는 자리</a:t>
            </a:r>
          </a:p>
        </p:txBody>
      </p:sp>
      <p:sp>
        <p:nvSpPr>
          <p:cNvPr id="6" name="10_strong_04"/>
          <p:cNvSpPr txBox="1"/>
          <p:nvPr/>
        </p:nvSpPr>
        <p:spPr>
          <a:xfrm>
            <a:off x="948630" y="6402765"/>
            <a:ext cx="404633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싱글 레그 데드리프트</a:t>
            </a:r>
          </a:p>
        </p:txBody>
      </p:sp>
      <p:sp>
        <p:nvSpPr>
          <p:cNvPr id="7" name="10_strong_05"/>
          <p:cNvSpPr txBox="1"/>
          <p:nvPr/>
        </p:nvSpPr>
        <p:spPr>
          <a:xfrm>
            <a:off x="2247900" y="6898065"/>
            <a:ext cx="144780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정면</a:t>
            </a:r>
          </a:p>
        </p:txBody>
      </p:sp>
      <p:sp>
        <p:nvSpPr>
          <p:cNvPr id="8" name="10_g-spec_06"/>
          <p:cNvSpPr txBox="1"/>
          <p:nvPr/>
        </p:nvSpPr>
        <p:spPr>
          <a:xfrm>
            <a:off x="1224111" y="7506141"/>
            <a:ext cx="3495229" cy="396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 lang="ko-KR" altLang="en-US">
                <a:solidFill>
                  <a:srgbClr val="5E6570"/>
                </a:solidFill>
                <a:latin typeface="Noto Sans KR W500"/>
                <a:ea typeface="Noto Sans KR W500"/>
                <a:cs typeface="Noto Sans KR W500"/>
              </a:rPr>
              <a:t>세로 9:16 · 무릎·골반</a:t>
            </a:r>
          </a:p>
        </p:txBody>
      </p:sp>
      <p:sp>
        <p:nvSpPr>
          <p:cNvPr id="9" name="10_item-h_07"/>
          <p:cNvSpPr txBox="1"/>
          <p:nvPr/>
        </p:nvSpPr>
        <p:spPr>
          <a:xfrm>
            <a:off x="6527155" y="3571494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무릎</a:t>
            </a:r>
          </a:p>
        </p:txBody>
      </p:sp>
      <p:sp>
        <p:nvSpPr>
          <p:cNvPr id="10" name="10_body_08"/>
          <p:cNvSpPr txBox="1"/>
          <p:nvPr/>
        </p:nvSpPr>
        <p:spPr>
          <a:xfrm>
            <a:off x="5581799" y="4211866"/>
            <a:ext cx="3466802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둘째 발가락 방향,</a:t>
            </a:r>
          </a:p>
        </p:txBody>
      </p:sp>
      <p:sp>
        <p:nvSpPr>
          <p:cNvPr id="11" name="10_body_09"/>
          <p:cNvSpPr txBox="1"/>
          <p:nvPr/>
        </p:nvSpPr>
        <p:spPr>
          <a:xfrm>
            <a:off x="5463480" y="4729936"/>
            <a:ext cx="370343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안으로 모이지 않게</a:t>
            </a:r>
          </a:p>
        </p:txBody>
      </p:sp>
      <p:sp>
        <p:nvSpPr>
          <p:cNvPr id="12" name="10_item-h_10"/>
          <p:cNvSpPr txBox="1"/>
          <p:nvPr/>
        </p:nvSpPr>
        <p:spPr>
          <a:xfrm>
            <a:off x="6527155" y="5659106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골반</a:t>
            </a:r>
          </a:p>
        </p:txBody>
      </p:sp>
      <p:sp>
        <p:nvSpPr>
          <p:cNvPr id="13" name="10_body_11"/>
          <p:cNvSpPr txBox="1"/>
          <p:nvPr/>
        </p:nvSpPr>
        <p:spPr>
          <a:xfrm>
            <a:off x="6027390" y="6299478"/>
            <a:ext cx="25756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양쪽 높이를</a:t>
            </a:r>
          </a:p>
        </p:txBody>
      </p:sp>
      <p:sp>
        <p:nvSpPr>
          <p:cNvPr id="14" name="10_body_12"/>
          <p:cNvSpPr txBox="1"/>
          <p:nvPr/>
        </p:nvSpPr>
        <p:spPr>
          <a:xfrm>
            <a:off x="5855940" y="6817549"/>
            <a:ext cx="29185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수평으로 유지</a:t>
            </a:r>
          </a:p>
        </p:txBody>
      </p:sp>
      <p:sp>
        <p:nvSpPr>
          <p:cNvPr id="15" name="10_item-h_13"/>
          <p:cNvSpPr txBox="1"/>
          <p:nvPr/>
        </p:nvSpPr>
        <p:spPr>
          <a:xfrm>
            <a:off x="6527155" y="7746718"/>
            <a:ext cx="1575941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몸통</a:t>
            </a:r>
          </a:p>
        </p:txBody>
      </p:sp>
      <p:sp>
        <p:nvSpPr>
          <p:cNvPr id="16" name="10_body_14"/>
          <p:cNvSpPr txBox="1"/>
          <p:nvPr/>
        </p:nvSpPr>
        <p:spPr>
          <a:xfrm>
            <a:off x="5634930" y="8387090"/>
            <a:ext cx="3360539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지지 다리 쪽으로</a:t>
            </a:r>
          </a:p>
        </p:txBody>
      </p:sp>
      <p:sp>
        <p:nvSpPr>
          <p:cNvPr id="17" name="10_body_15"/>
          <p:cNvSpPr txBox="1"/>
          <p:nvPr/>
        </p:nvSpPr>
        <p:spPr>
          <a:xfrm>
            <a:off x="6027390" y="8905161"/>
            <a:ext cx="2575620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기울지 않게</a:t>
            </a:r>
          </a:p>
        </p:txBody>
      </p:sp>
      <p:sp>
        <p:nvSpPr>
          <p:cNvPr id="18" name="10_abs_16"/>
          <p:cNvSpPr txBox="1"/>
          <p:nvPr/>
        </p:nvSpPr>
        <p:spPr>
          <a:xfrm>
            <a:off x="5658743" y="10029444"/>
            <a:ext cx="331276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1탄의 움직임,</a:t>
            </a:r>
          </a:p>
        </p:txBody>
      </p:sp>
      <p:sp>
        <p:nvSpPr>
          <p:cNvPr id="19" name="10_abs_17"/>
          <p:cNvSpPr txBox="1"/>
          <p:nvPr/>
        </p:nvSpPr>
        <p:spPr>
          <a:xfrm>
            <a:off x="6006703" y="10623715"/>
            <a:ext cx="2616994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보이나요?</a:t>
            </a:r>
          </a:p>
        </p:txBody>
      </p:sp>
      <p:sp>
        <p:nvSpPr>
          <p:cNvPr id="20" name="10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11_구간막대_1"/>
          <p:cNvSpPr/>
          <p:nvPr/>
        </p:nvSpPr>
        <p:spPr>
          <a:xfrm>
            <a:off x="914400" y="3444180"/>
            <a:ext cx="4210050" cy="800100"/>
          </a:xfrm>
          <a:prstGeom prst="roundRect">
            <a:avLst>
              <a:gd name="adj" fmla="val 0"/>
            </a:avLst>
          </a:prstGeom>
          <a:solidFill>
            <a:srgbClr val="12141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11_구간막대_2"/>
          <p:cNvSpPr/>
          <p:nvPr/>
        </p:nvSpPr>
        <p:spPr>
          <a:xfrm>
            <a:off x="5162550" y="3444180"/>
            <a:ext cx="4210050" cy="800100"/>
          </a:xfrm>
          <a:prstGeom prst="roundRect">
            <a:avLst>
              <a:gd name="adj" fmla="val 0"/>
            </a:avLst>
          </a:prstGeom>
          <a:solidFill>
            <a:srgbClr val="0879D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11_headline_01"/>
          <p:cNvSpPr txBox="1"/>
          <p:nvPr/>
        </p:nvSpPr>
        <p:spPr>
          <a:xfrm>
            <a:off x="1511647" y="997077"/>
            <a:ext cx="7263705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무릎 앞이 아픈 러너,</a:t>
            </a:r>
          </a:p>
        </p:txBody>
      </p:sp>
      <p:sp>
        <p:nvSpPr>
          <p:cNvPr id="5" name="11_headline_02"/>
          <p:cNvSpPr txBox="1"/>
          <p:nvPr/>
        </p:nvSpPr>
        <p:spPr>
          <a:xfrm>
            <a:off x="1832074" y="1957167"/>
            <a:ext cx="6622852" cy="10401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0" b="0" i="0" spc="-220" lang="ko-KR" altLang="en-US">
                <a:solidFill>
                  <a:srgbClr val="0879D8"/>
                </a:solidFill>
                <a:latin typeface="Noto Sans KR W850"/>
                <a:ea typeface="Noto Sans KR W850"/>
                <a:cs typeface="Noto Sans KR W850"/>
              </a:rPr>
              <a:t>이렇게 시작</a:t>
            </a:r>
            <a:r>
              <a:rPr sz="6300" b="0" i="0" spc="-220" lang="ko-KR" altLang="en-US">
                <a:solidFill>
                  <a:srgbClr val="121416"/>
                </a:solidFill>
                <a:latin typeface="Noto Sans KR W850"/>
                <a:ea typeface="Noto Sans KR W850"/>
                <a:cs typeface="Noto Sans KR W850"/>
              </a:rPr>
              <a:t>합니다</a:t>
            </a:r>
          </a:p>
        </p:txBody>
      </p:sp>
      <p:sp>
        <p:nvSpPr>
          <p:cNvPr id="6" name="11_div_03"/>
          <p:cNvSpPr txBox="1"/>
          <p:nvPr/>
        </p:nvSpPr>
        <p:spPr>
          <a:xfrm>
            <a:off x="1707952" y="3623250"/>
            <a:ext cx="2622798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FFFFFF"/>
                </a:solidFill>
                <a:latin typeface="Noto Sans KR W800"/>
                <a:ea typeface="Noto Sans KR W800"/>
                <a:cs typeface="Noto Sans KR W800"/>
              </a:rPr>
              <a:t>CKC 스쿼트</a:t>
            </a:r>
          </a:p>
        </p:txBody>
      </p:sp>
      <p:sp>
        <p:nvSpPr>
          <p:cNvPr id="7" name="11_div_04"/>
          <p:cNvSpPr txBox="1"/>
          <p:nvPr/>
        </p:nvSpPr>
        <p:spPr>
          <a:xfrm>
            <a:off x="5713065" y="3623250"/>
            <a:ext cx="3108871" cy="495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spc="-60" lang="ko-KR" altLang="en-US">
                <a:solidFill>
                  <a:srgbClr val="FFFFFF"/>
                </a:solidFill>
                <a:latin typeface="Noto Sans KR W800"/>
                <a:ea typeface="Noto Sans KR W800"/>
                <a:cs typeface="Noto Sans KR W800"/>
              </a:rPr>
              <a:t>OKC 발목 중량</a:t>
            </a:r>
          </a:p>
        </p:txBody>
      </p:sp>
      <p:sp>
        <p:nvSpPr>
          <p:cNvPr id="8" name="11_span_05"/>
          <p:cNvSpPr txBox="1"/>
          <p:nvPr/>
        </p:nvSpPr>
        <p:spPr>
          <a:xfrm>
            <a:off x="533400" y="4365057"/>
            <a:ext cx="1077516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5E6570"/>
                </a:solidFill>
                <a:latin typeface="Noto Sans KR W600"/>
                <a:ea typeface="Noto Sans KR W600"/>
                <a:cs typeface="Noto Sans KR W600"/>
              </a:rPr>
              <a:t>0°</a:t>
            </a:r>
          </a:p>
        </p:txBody>
      </p:sp>
      <p:sp>
        <p:nvSpPr>
          <p:cNvPr id="9" name="11_span_06"/>
          <p:cNvSpPr txBox="1"/>
          <p:nvPr/>
        </p:nvSpPr>
        <p:spPr>
          <a:xfrm>
            <a:off x="4416921" y="4365057"/>
            <a:ext cx="1265337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5E6570"/>
                </a:solidFill>
                <a:latin typeface="Noto Sans KR W600"/>
                <a:ea typeface="Noto Sans KR W600"/>
                <a:cs typeface="Noto Sans KR W600"/>
              </a:rPr>
              <a:t>45°</a:t>
            </a:r>
          </a:p>
        </p:txBody>
      </p:sp>
      <p:sp>
        <p:nvSpPr>
          <p:cNvPr id="10" name="11_span_07"/>
          <p:cNvSpPr txBox="1"/>
          <p:nvPr/>
        </p:nvSpPr>
        <p:spPr>
          <a:xfrm>
            <a:off x="8488263" y="4365057"/>
            <a:ext cx="1265337" cy="4210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0" i="0" spc="0" lang="ko-KR" altLang="en-US">
                <a:solidFill>
                  <a:srgbClr val="5E6570"/>
                </a:solidFill>
                <a:latin typeface="Noto Sans KR W600"/>
                <a:ea typeface="Noto Sans KR W600"/>
                <a:cs typeface="Noto Sans KR W600"/>
              </a:rPr>
              <a:t>90°</a:t>
            </a:r>
          </a:p>
        </p:txBody>
      </p:sp>
      <p:sp>
        <p:nvSpPr>
          <p:cNvPr id="11" name="11_item-h_08"/>
          <p:cNvSpPr txBox="1"/>
          <p:nvPr/>
        </p:nvSpPr>
        <p:spPr>
          <a:xfrm>
            <a:off x="3662065" y="5348799"/>
            <a:ext cx="2962870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얕게는 CKC</a:t>
            </a:r>
          </a:p>
        </p:txBody>
      </p:sp>
      <p:sp>
        <p:nvSpPr>
          <p:cNvPr id="12" name="11_body_09"/>
          <p:cNvSpPr txBox="1"/>
          <p:nvPr/>
        </p:nvSpPr>
        <p:spPr>
          <a:xfrm>
            <a:off x="2175123" y="6037558"/>
            <a:ext cx="5936754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스쿼트는 무릎 0~45° 범위에서</a:t>
            </a:r>
          </a:p>
        </p:txBody>
      </p:sp>
      <p:sp>
        <p:nvSpPr>
          <p:cNvPr id="13" name="11_item-h_10"/>
          <p:cNvSpPr txBox="1"/>
          <p:nvPr/>
        </p:nvSpPr>
        <p:spPr>
          <a:xfrm>
            <a:off x="3635425" y="7014335"/>
            <a:ext cx="3016002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깊게는 OKC</a:t>
            </a:r>
          </a:p>
        </p:txBody>
      </p:sp>
      <p:sp>
        <p:nvSpPr>
          <p:cNvPr id="14" name="11_body_11"/>
          <p:cNvSpPr txBox="1"/>
          <p:nvPr/>
        </p:nvSpPr>
        <p:spPr>
          <a:xfrm>
            <a:off x="1816745" y="7703094"/>
            <a:ext cx="6653361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발목 중량 무릎 펴기는 90~45°에서</a:t>
            </a:r>
          </a:p>
        </p:txBody>
      </p:sp>
      <p:sp>
        <p:nvSpPr>
          <p:cNvPr id="15" name="11_item-h_12"/>
          <p:cNvSpPr txBox="1"/>
          <p:nvPr/>
        </p:nvSpPr>
        <p:spPr>
          <a:xfrm>
            <a:off x="3427363" y="8679871"/>
            <a:ext cx="3432125" cy="5943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108" lang="ko-KR" altLang="en-US">
                <a:solidFill>
                  <a:srgbClr val="121416"/>
                </a:solidFill>
                <a:latin typeface="Noto Sans KR W800"/>
                <a:ea typeface="Noto Sans KR W800"/>
                <a:cs typeface="Noto Sans KR W800"/>
              </a:rPr>
              <a:t>조절은 한 발로</a:t>
            </a:r>
          </a:p>
        </p:txBody>
      </p:sp>
      <p:sp>
        <p:nvSpPr>
          <p:cNvPr id="16" name="11_body_13"/>
          <p:cNvSpPr txBox="1"/>
          <p:nvPr/>
        </p:nvSpPr>
        <p:spPr>
          <a:xfrm>
            <a:off x="1598712" y="9368629"/>
            <a:ext cx="7089577" cy="5448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 spc="-66" lang="ko-KR" altLang="en-US">
                <a:solidFill>
                  <a:srgbClr val="121416"/>
                </a:solidFill>
                <a:latin typeface="Noto Sans KR W500"/>
                <a:ea typeface="Noto Sans KR W500"/>
                <a:cs typeface="Noto Sans KR W500"/>
              </a:rPr>
              <a:t>싱글 레그 데드리프트, 옆·앞에서 확인</a:t>
            </a:r>
          </a:p>
        </p:txBody>
      </p:sp>
      <p:sp>
        <p:nvSpPr>
          <p:cNvPr id="17" name="11_safety_14"/>
          <p:cNvSpPr txBox="1"/>
          <p:nvPr/>
        </p:nvSpPr>
        <p:spPr>
          <a:xfrm>
            <a:off x="1717477" y="10457420"/>
            <a:ext cx="6852047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통증이 운동 중 커지거나 다음 날까지 남으면</a:t>
            </a:r>
          </a:p>
        </p:txBody>
      </p:sp>
      <p:sp>
        <p:nvSpPr>
          <p:cNvPr id="18" name="11_safety_15"/>
          <p:cNvSpPr txBox="1"/>
          <p:nvPr/>
        </p:nvSpPr>
        <p:spPr>
          <a:xfrm>
            <a:off x="1247924" y="10944237"/>
            <a:ext cx="7791152" cy="445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54" lang="ko-KR" altLang="en-US">
                <a:solidFill>
                  <a:srgbClr val="121416"/>
                </a:solidFill>
                <a:latin typeface="Noto Sans KR W650"/>
                <a:ea typeface="Noto Sans KR W650"/>
                <a:cs typeface="Noto Sans KR W650"/>
              </a:rPr>
              <a:t>범위와 무게를 줄이고 담당 트레이너와 조정하세요.</a:t>
            </a:r>
          </a:p>
        </p:txBody>
      </p:sp>
      <p:sp>
        <p:nvSpPr>
          <p:cNvPr id="19" name="11_B01프레임"/>
          <p:cNvSpPr/>
          <p:nvPr/>
        </p:nvSpPr>
        <p:spPr>
          <a:xfrm>
            <a:off x="323850" y="323850"/>
            <a:ext cx="9639300" cy="12211050"/>
          </a:xfrm>
          <a:prstGeom prst="roundRect">
            <a:avLst>
              <a:gd name="adj" fmla="val 2766"/>
            </a:avLst>
          </a:prstGeom>
          <a:noFill/>
          <a:ln w="19050">
            <a:solidFill>
              <a:srgbClr val="D0DC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PFP 2탄 — 각도별 OKC·CKC와 싱글 레그 데드리프트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