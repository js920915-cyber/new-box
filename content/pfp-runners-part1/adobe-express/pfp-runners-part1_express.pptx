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1_그림배경_1"/>
          <p:cNvSpPr/>
          <p:nvPr/>
        </p:nvSpPr>
        <p:spPr>
          <a:xfrm>
            <a:off x="914400" y="3463826"/>
            <a:ext cx="8458200" cy="5619750"/>
          </a:xfrm>
          <a:prstGeom prst="roundRect">
            <a:avLst>
              <a:gd name="adj" fmla="val 4067"/>
            </a:avLst>
          </a:prstGeom>
          <a:solidFill>
            <a:srgbClr val="F0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01_도식" descr="c01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63826"/>
            <a:ext cx="8458200" cy="5619750"/>
          </a:xfrm>
          <a:prstGeom prst="rect">
            <a:avLst/>
          </a:prstGeom>
        </p:spPr>
      </p:pic>
      <p:sp>
        <p:nvSpPr>
          <p:cNvPr id="4" name="01_headline_01"/>
          <p:cNvSpPr txBox="1"/>
          <p:nvPr/>
        </p:nvSpPr>
        <p:spPr>
          <a:xfrm>
            <a:off x="3278832" y="988314"/>
            <a:ext cx="3729335" cy="1089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0" spc="-231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달릴수록</a:t>
            </a:r>
          </a:p>
        </p:txBody>
      </p:sp>
      <p:sp>
        <p:nvSpPr>
          <p:cNvPr id="5" name="01_headline_02"/>
          <p:cNvSpPr txBox="1"/>
          <p:nvPr/>
        </p:nvSpPr>
        <p:spPr>
          <a:xfrm>
            <a:off x="1381571" y="1977277"/>
            <a:ext cx="7523857" cy="1089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0" spc="-231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무릎 앞</a:t>
            </a:r>
            <a:r>
              <a:rPr sz="6600" b="0" i="0" spc="-231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이 아프다면?</a:t>
            </a:r>
          </a:p>
        </p:txBody>
      </p:sp>
      <p:sp>
        <p:nvSpPr>
          <p:cNvPr id="6" name="01_lead_03"/>
          <p:cNvSpPr txBox="1"/>
          <p:nvPr/>
        </p:nvSpPr>
        <p:spPr>
          <a:xfrm>
            <a:off x="2631877" y="9702320"/>
            <a:ext cx="5023247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러너 부상 1위로 보고된</a:t>
            </a:r>
          </a:p>
        </p:txBody>
      </p:sp>
      <p:sp>
        <p:nvSpPr>
          <p:cNvPr id="7" name="01_lead_04"/>
          <p:cNvSpPr txBox="1"/>
          <p:nvPr/>
        </p:nvSpPr>
        <p:spPr>
          <a:xfrm>
            <a:off x="2239863" y="10342281"/>
            <a:ext cx="5807273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슬개대퇴 통증(PFP) 이야기</a:t>
            </a:r>
          </a:p>
        </p:txBody>
      </p:sp>
      <p:sp>
        <p:nvSpPr>
          <p:cNvPr id="8" name="01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2_headline_01"/>
          <p:cNvSpPr txBox="1"/>
          <p:nvPr/>
        </p:nvSpPr>
        <p:spPr>
          <a:xfrm>
            <a:off x="2442121" y="997077"/>
            <a:ext cx="5402610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달리기 부상 중</a:t>
            </a:r>
          </a:p>
        </p:txBody>
      </p:sp>
      <p:sp>
        <p:nvSpPr>
          <p:cNvPr id="3" name="02_headline_02"/>
          <p:cNvSpPr txBox="1"/>
          <p:nvPr/>
        </p:nvSpPr>
        <p:spPr>
          <a:xfrm>
            <a:off x="2088059" y="1957167"/>
            <a:ext cx="6110734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가장 흔했던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 통증</a:t>
            </a:r>
          </a:p>
        </p:txBody>
      </p:sp>
      <p:sp>
        <p:nvSpPr>
          <p:cNvPr id="4" name="02_big-num_03"/>
          <p:cNvSpPr txBox="1"/>
          <p:nvPr/>
        </p:nvSpPr>
        <p:spPr>
          <a:xfrm>
            <a:off x="3149352" y="3588198"/>
            <a:ext cx="3988296" cy="19316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0" b="0" i="0" spc="-468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331</a:t>
            </a:r>
            <a:r>
              <a:rPr sz="6300" b="0" i="0" spc="-189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명</a:t>
            </a:r>
          </a:p>
        </p:txBody>
      </p:sp>
      <p:sp>
        <p:nvSpPr>
          <p:cNvPr id="5" name="02_num-label_04"/>
          <p:cNvSpPr txBox="1"/>
          <p:nvPr/>
        </p:nvSpPr>
        <p:spPr>
          <a:xfrm>
            <a:off x="2311598" y="5412016"/>
            <a:ext cx="5663654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5E6570"/>
                </a:solidFill>
                <a:latin typeface="Noto Sans KR W600"/>
                <a:ea typeface="Noto Sans KR W600"/>
                <a:cs typeface="Noto Sans KR W600"/>
              </a:rPr>
              <a:t>부상 러너 2,002명 중 PFP 진단</a:t>
            </a:r>
          </a:p>
        </p:txBody>
      </p:sp>
      <p:sp>
        <p:nvSpPr>
          <p:cNvPr id="6" name="02_key_05"/>
          <p:cNvSpPr txBox="1"/>
          <p:nvPr/>
        </p:nvSpPr>
        <p:spPr>
          <a:xfrm>
            <a:off x="2407741" y="6996214"/>
            <a:ext cx="5471517" cy="69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spc="-126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2위 장경인대증후군의</a:t>
            </a:r>
          </a:p>
        </p:txBody>
      </p:sp>
      <p:sp>
        <p:nvSpPr>
          <p:cNvPr id="7" name="02_key_06"/>
          <p:cNvSpPr txBox="1"/>
          <p:nvPr/>
        </p:nvSpPr>
        <p:spPr>
          <a:xfrm>
            <a:off x="2799755" y="7689604"/>
            <a:ext cx="4687342" cy="69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 spc="-126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2배가 넘었습니다.</a:t>
            </a:r>
          </a:p>
        </p:txBody>
      </p:sp>
      <p:sp>
        <p:nvSpPr>
          <p:cNvPr id="8" name="02_body_07"/>
          <p:cNvSpPr txBox="1"/>
          <p:nvPr/>
        </p:nvSpPr>
        <p:spPr>
          <a:xfrm>
            <a:off x="1665238" y="8666458"/>
            <a:ext cx="695637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PFP 진단의 62%는 여성이었습니다.</a:t>
            </a:r>
          </a:p>
        </p:txBody>
      </p:sp>
      <p:sp>
        <p:nvSpPr>
          <p:cNvPr id="9" name="02_note_08"/>
          <p:cNvSpPr txBox="1"/>
          <p:nvPr/>
        </p:nvSpPr>
        <p:spPr>
          <a:xfrm>
            <a:off x="2022872" y="9945749"/>
            <a:ext cx="6241256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클리닉을 찾은 부상 러너의 후향 연구로,</a:t>
            </a:r>
          </a:p>
        </p:txBody>
      </p:sp>
      <p:sp>
        <p:nvSpPr>
          <p:cNvPr id="10" name="02_note_09"/>
          <p:cNvSpPr txBox="1"/>
          <p:nvPr/>
        </p:nvSpPr>
        <p:spPr>
          <a:xfrm>
            <a:off x="2574875" y="10432566"/>
            <a:ext cx="5137100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전체 러너의 발생률은 아닙니다.</a:t>
            </a:r>
          </a:p>
        </p:txBody>
      </p:sp>
      <p:sp>
        <p:nvSpPr>
          <p:cNvPr id="11" name="02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3_번호원_1"/>
          <p:cNvSpPr/>
          <p:nvPr/>
        </p:nvSpPr>
        <p:spPr>
          <a:xfrm>
            <a:off x="3919984" y="3512641"/>
            <a:ext cx="533400" cy="533400"/>
          </a:xfrm>
          <a:prstGeom prst="ellipse">
            <a:avLst/>
          </a:prstGeom>
          <a:solidFill>
            <a:srgbClr val="0879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3_번호원_2"/>
          <p:cNvSpPr/>
          <p:nvPr/>
        </p:nvSpPr>
        <p:spPr>
          <a:xfrm>
            <a:off x="3513088" y="5254377"/>
            <a:ext cx="533400" cy="533400"/>
          </a:xfrm>
          <a:prstGeom prst="ellipse">
            <a:avLst/>
          </a:prstGeom>
          <a:solidFill>
            <a:srgbClr val="0879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03_번호원_3"/>
          <p:cNvSpPr/>
          <p:nvPr/>
        </p:nvSpPr>
        <p:spPr>
          <a:xfrm>
            <a:off x="3455938" y="7591127"/>
            <a:ext cx="533400" cy="533400"/>
          </a:xfrm>
          <a:prstGeom prst="ellipse">
            <a:avLst/>
          </a:prstGeom>
          <a:solidFill>
            <a:srgbClr val="0879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03_headline_01"/>
          <p:cNvSpPr txBox="1"/>
          <p:nvPr/>
        </p:nvSpPr>
        <p:spPr>
          <a:xfrm>
            <a:off x="3894683" y="997077"/>
            <a:ext cx="2497485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PFP,</a:t>
            </a:r>
          </a:p>
        </p:txBody>
      </p:sp>
      <p:sp>
        <p:nvSpPr>
          <p:cNvPr id="6" name="03_headline_02"/>
          <p:cNvSpPr txBox="1"/>
          <p:nvPr/>
        </p:nvSpPr>
        <p:spPr>
          <a:xfrm>
            <a:off x="1282005" y="1957167"/>
            <a:ext cx="7722989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세 가지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로 먼저 봅니다</a:t>
            </a:r>
          </a:p>
        </p:txBody>
      </p:sp>
      <p:sp>
        <p:nvSpPr>
          <p:cNvPr id="7" name="03_badge_03"/>
          <p:cNvSpPr txBox="1"/>
          <p:nvPr/>
        </p:nvSpPr>
        <p:spPr>
          <a:xfrm>
            <a:off x="3708648" y="3585793"/>
            <a:ext cx="956072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FFFFFF"/>
                </a:solidFill>
                <a:latin typeface="Noto Sans KR W800"/>
                <a:ea typeface="Noto Sans KR W800"/>
                <a:cs typeface="Noto Sans KR W800"/>
              </a:rPr>
              <a:t>1</a:t>
            </a:r>
          </a:p>
        </p:txBody>
      </p:sp>
      <p:sp>
        <p:nvSpPr>
          <p:cNvPr id="8" name="03_item-h_04"/>
          <p:cNvSpPr txBox="1"/>
          <p:nvPr/>
        </p:nvSpPr>
        <p:spPr>
          <a:xfrm>
            <a:off x="4243834" y="3510474"/>
            <a:ext cx="2504033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통증 위치</a:t>
            </a:r>
          </a:p>
        </p:txBody>
      </p:sp>
      <p:sp>
        <p:nvSpPr>
          <p:cNvPr id="9" name="03_body_05"/>
          <p:cNvSpPr txBox="1"/>
          <p:nvPr/>
        </p:nvSpPr>
        <p:spPr>
          <a:xfrm>
            <a:off x="2273350" y="4237333"/>
            <a:ext cx="5740152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무릎뼈 앞쪽·주변·뒤쪽의 통증</a:t>
            </a:r>
          </a:p>
        </p:txBody>
      </p:sp>
      <p:sp>
        <p:nvSpPr>
          <p:cNvPr id="10" name="03_badge_06"/>
          <p:cNvSpPr txBox="1"/>
          <p:nvPr/>
        </p:nvSpPr>
        <p:spPr>
          <a:xfrm>
            <a:off x="3301752" y="5327529"/>
            <a:ext cx="956072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FFFFFF"/>
                </a:solidFill>
                <a:latin typeface="Noto Sans KR W800"/>
                <a:ea typeface="Noto Sans KR W800"/>
                <a:cs typeface="Noto Sans KR W800"/>
              </a:rPr>
              <a:t>2</a:t>
            </a:r>
          </a:p>
        </p:txBody>
      </p:sp>
      <p:sp>
        <p:nvSpPr>
          <p:cNvPr id="11" name="03_item-h_07"/>
          <p:cNvSpPr txBox="1"/>
          <p:nvPr/>
        </p:nvSpPr>
        <p:spPr>
          <a:xfrm>
            <a:off x="3836938" y="5252210"/>
            <a:ext cx="331782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심해지는 상황</a:t>
            </a:r>
          </a:p>
        </p:txBody>
      </p:sp>
      <p:sp>
        <p:nvSpPr>
          <p:cNvPr id="12" name="03_body_08"/>
          <p:cNvSpPr txBox="1"/>
          <p:nvPr/>
        </p:nvSpPr>
        <p:spPr>
          <a:xfrm>
            <a:off x="2646611" y="5979069"/>
            <a:ext cx="499377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쪼그려 앉기·달리기·계단,</a:t>
            </a:r>
          </a:p>
        </p:txBody>
      </p:sp>
      <p:sp>
        <p:nvSpPr>
          <p:cNvPr id="13" name="03_body_09"/>
          <p:cNvSpPr txBox="1"/>
          <p:nvPr/>
        </p:nvSpPr>
        <p:spPr>
          <a:xfrm>
            <a:off x="2604046" y="6574084"/>
            <a:ext cx="5078760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오래 앉아 있을 때 더 아픔</a:t>
            </a:r>
          </a:p>
        </p:txBody>
      </p:sp>
      <p:sp>
        <p:nvSpPr>
          <p:cNvPr id="14" name="03_badge_10"/>
          <p:cNvSpPr txBox="1"/>
          <p:nvPr/>
        </p:nvSpPr>
        <p:spPr>
          <a:xfrm>
            <a:off x="3244602" y="7664279"/>
            <a:ext cx="956072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FFFFFF"/>
                </a:solidFill>
                <a:latin typeface="Noto Sans KR W800"/>
                <a:ea typeface="Noto Sans KR W800"/>
                <a:cs typeface="Noto Sans KR W800"/>
              </a:rPr>
              <a:t>3</a:t>
            </a:r>
          </a:p>
        </p:txBody>
      </p:sp>
      <p:sp>
        <p:nvSpPr>
          <p:cNvPr id="15" name="03_item-h_11"/>
          <p:cNvSpPr txBox="1"/>
          <p:nvPr/>
        </p:nvSpPr>
        <p:spPr>
          <a:xfrm>
            <a:off x="3779788" y="7588960"/>
            <a:ext cx="343212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다른 원인 배제</a:t>
            </a:r>
          </a:p>
        </p:txBody>
      </p:sp>
      <p:sp>
        <p:nvSpPr>
          <p:cNvPr id="16" name="03_body_12"/>
          <p:cNvSpPr txBox="1"/>
          <p:nvPr/>
        </p:nvSpPr>
        <p:spPr>
          <a:xfrm>
            <a:off x="2520404" y="8315819"/>
            <a:ext cx="5246043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무릎힘줄병증·인대 손상 등</a:t>
            </a:r>
          </a:p>
        </p:txBody>
      </p:sp>
      <p:sp>
        <p:nvSpPr>
          <p:cNvPr id="17" name="03_body_13"/>
          <p:cNvSpPr txBox="1"/>
          <p:nvPr/>
        </p:nvSpPr>
        <p:spPr>
          <a:xfrm>
            <a:off x="2712988" y="8910834"/>
            <a:ext cx="486087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비슷한 통증과 먼저 구분</a:t>
            </a:r>
          </a:p>
        </p:txBody>
      </p:sp>
      <p:sp>
        <p:nvSpPr>
          <p:cNvPr id="18" name="03_note_14"/>
          <p:cNvSpPr txBox="1"/>
          <p:nvPr/>
        </p:nvSpPr>
        <p:spPr>
          <a:xfrm>
            <a:off x="3082379" y="10037725"/>
            <a:ext cx="4122093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진단 기준의 요약입니다.</a:t>
            </a:r>
          </a:p>
        </p:txBody>
      </p:sp>
      <p:sp>
        <p:nvSpPr>
          <p:cNvPr id="19" name="03_note_15"/>
          <p:cNvSpPr txBox="1"/>
          <p:nvPr/>
        </p:nvSpPr>
        <p:spPr>
          <a:xfrm>
            <a:off x="2067371" y="10524542"/>
            <a:ext cx="6152108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자가진단 대신 전문 평가로 확인하세요.</a:t>
            </a:r>
          </a:p>
        </p:txBody>
      </p:sp>
      <p:sp>
        <p:nvSpPr>
          <p:cNvPr id="20" name="03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_도식" descr="c04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3139380"/>
            <a:ext cx="5600700" cy="3429000"/>
          </a:xfrm>
          <a:prstGeom prst="rect">
            <a:avLst/>
          </a:prstGeom>
        </p:spPr>
      </p:pic>
      <p:sp>
        <p:nvSpPr>
          <p:cNvPr id="3" name="04_headline_01"/>
          <p:cNvSpPr txBox="1"/>
          <p:nvPr/>
        </p:nvSpPr>
        <p:spPr>
          <a:xfrm>
            <a:off x="2540050" y="997077"/>
            <a:ext cx="5206603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아픈 무릎에서</a:t>
            </a:r>
          </a:p>
        </p:txBody>
      </p:sp>
      <p:sp>
        <p:nvSpPr>
          <p:cNvPr id="4" name="04_headline_02"/>
          <p:cNvSpPr txBox="1"/>
          <p:nvPr/>
        </p:nvSpPr>
        <p:spPr>
          <a:xfrm>
            <a:off x="2540050" y="1957167"/>
            <a:ext cx="5206752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보이는 </a:t>
            </a: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움직임</a:t>
            </a:r>
          </a:p>
        </p:txBody>
      </p:sp>
      <p:sp>
        <p:nvSpPr>
          <p:cNvPr id="5" name="04_item-h_03"/>
          <p:cNvSpPr txBox="1"/>
          <p:nvPr/>
        </p:nvSpPr>
        <p:spPr>
          <a:xfrm>
            <a:off x="2145655" y="6806124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몸통</a:t>
            </a:r>
          </a:p>
        </p:txBody>
      </p:sp>
      <p:sp>
        <p:nvSpPr>
          <p:cNvPr id="6" name="04_body_04"/>
          <p:cNvSpPr txBox="1"/>
          <p:nvPr/>
        </p:nvSpPr>
        <p:spPr>
          <a:xfrm>
            <a:off x="1240482" y="7484977"/>
            <a:ext cx="338643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한쪽으로 기울고</a:t>
            </a:r>
          </a:p>
        </p:txBody>
      </p:sp>
      <p:sp>
        <p:nvSpPr>
          <p:cNvPr id="7" name="04_body_05"/>
          <p:cNvSpPr txBox="1"/>
          <p:nvPr/>
        </p:nvSpPr>
        <p:spPr>
          <a:xfrm>
            <a:off x="1008459" y="8036981"/>
            <a:ext cx="3850481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지치면 앞으로 숙임</a:t>
            </a:r>
          </a:p>
        </p:txBody>
      </p:sp>
      <p:sp>
        <p:nvSpPr>
          <p:cNvPr id="8" name="04_item-h_06"/>
          <p:cNvSpPr txBox="1"/>
          <p:nvPr/>
        </p:nvSpPr>
        <p:spPr>
          <a:xfrm>
            <a:off x="6158359" y="6806124"/>
            <a:ext cx="2389733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엉덩관절</a:t>
            </a:r>
          </a:p>
        </p:txBody>
      </p:sp>
      <p:sp>
        <p:nvSpPr>
          <p:cNvPr id="9" name="04_body_07"/>
          <p:cNvSpPr txBox="1"/>
          <p:nvPr/>
        </p:nvSpPr>
        <p:spPr>
          <a:xfrm>
            <a:off x="5660082" y="7484977"/>
            <a:ext cx="338643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허벅지가 안으로</a:t>
            </a:r>
          </a:p>
        </p:txBody>
      </p:sp>
      <p:sp>
        <p:nvSpPr>
          <p:cNvPr id="10" name="04_body_08"/>
          <p:cNvSpPr txBox="1"/>
          <p:nvPr/>
        </p:nvSpPr>
        <p:spPr>
          <a:xfrm>
            <a:off x="5840016" y="8036981"/>
            <a:ext cx="3026420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모이고 돌아감</a:t>
            </a:r>
          </a:p>
        </p:txBody>
      </p:sp>
      <p:sp>
        <p:nvSpPr>
          <p:cNvPr id="11" name="04_item-h_09"/>
          <p:cNvSpPr txBox="1"/>
          <p:nvPr/>
        </p:nvSpPr>
        <p:spPr>
          <a:xfrm>
            <a:off x="2145655" y="8790152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무릎</a:t>
            </a:r>
          </a:p>
        </p:txBody>
      </p:sp>
      <p:sp>
        <p:nvSpPr>
          <p:cNvPr id="12" name="04_body_10"/>
          <p:cNvSpPr txBox="1"/>
          <p:nvPr/>
        </p:nvSpPr>
        <p:spPr>
          <a:xfrm>
            <a:off x="1780580" y="9469005"/>
            <a:ext cx="2306241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덜 굽히고</a:t>
            </a:r>
          </a:p>
        </p:txBody>
      </p:sp>
      <p:sp>
        <p:nvSpPr>
          <p:cNvPr id="13" name="04_body_11"/>
          <p:cNvSpPr txBox="1"/>
          <p:nvPr/>
        </p:nvSpPr>
        <p:spPr>
          <a:xfrm>
            <a:off x="1240482" y="10021008"/>
            <a:ext cx="338643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케이던스가 낮음</a:t>
            </a:r>
          </a:p>
        </p:txBody>
      </p:sp>
      <p:sp>
        <p:nvSpPr>
          <p:cNvPr id="14" name="04_item-h_12"/>
          <p:cNvSpPr txBox="1"/>
          <p:nvPr/>
        </p:nvSpPr>
        <p:spPr>
          <a:xfrm>
            <a:off x="6768703" y="8790152"/>
            <a:ext cx="116904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발</a:t>
            </a:r>
          </a:p>
        </p:txBody>
      </p:sp>
      <p:sp>
        <p:nvSpPr>
          <p:cNvPr id="15" name="04_body_13"/>
          <p:cNvSpPr txBox="1"/>
          <p:nvPr/>
        </p:nvSpPr>
        <p:spPr>
          <a:xfrm>
            <a:off x="5480000" y="9469005"/>
            <a:ext cx="3746450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뒤꿈치가 안쪽으로</a:t>
            </a:r>
          </a:p>
        </p:txBody>
      </p:sp>
      <p:sp>
        <p:nvSpPr>
          <p:cNvPr id="16" name="04_body_14"/>
          <p:cNvSpPr txBox="1"/>
          <p:nvPr/>
        </p:nvSpPr>
        <p:spPr>
          <a:xfrm>
            <a:off x="5660082" y="10021008"/>
            <a:ext cx="338643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과하게 기울어짐</a:t>
            </a:r>
          </a:p>
        </p:txBody>
      </p:sp>
      <p:sp>
        <p:nvSpPr>
          <p:cNvPr id="17" name="04_safety_15"/>
          <p:cNvSpPr txBox="1"/>
          <p:nvPr/>
        </p:nvSpPr>
        <p:spPr>
          <a:xfrm>
            <a:off x="1748730" y="10905244"/>
            <a:ext cx="6789539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원인인지, 통증의 결과인지는 불분명합니다.</a:t>
            </a:r>
          </a:p>
        </p:txBody>
      </p:sp>
      <p:sp>
        <p:nvSpPr>
          <p:cNvPr id="18" name="04_safety_16"/>
          <p:cNvSpPr txBox="1"/>
          <p:nvPr/>
        </p:nvSpPr>
        <p:spPr>
          <a:xfrm>
            <a:off x="2924621" y="11392061"/>
            <a:ext cx="4437608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양방향일 가능성이 큽니다.</a:t>
            </a:r>
          </a:p>
        </p:txBody>
      </p:sp>
      <p:sp>
        <p:nvSpPr>
          <p:cNvPr id="19" name="04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5_강조박스_1"/>
          <p:cNvSpPr/>
          <p:nvPr/>
        </p:nvSpPr>
        <p:spPr>
          <a:xfrm>
            <a:off x="914400" y="10043964"/>
            <a:ext cx="8458200" cy="1653480"/>
          </a:xfrm>
          <a:prstGeom prst="roundRect">
            <a:avLst>
              <a:gd name="adj" fmla="val 13825"/>
            </a:avLst>
          </a:prstGeom>
          <a:solidFill>
            <a:srgbClr val="F0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05_구분선_2"/>
          <p:cNvCxnSpPr/>
          <p:nvPr/>
        </p:nvCxnSpPr>
        <p:spPr>
          <a:xfrm>
            <a:off x="914400" y="5418683"/>
            <a:ext cx="8458200" cy="0"/>
          </a:xfrm>
          <a:prstGeom prst="line">
            <a:avLst/>
          </a:prstGeom>
          <a:ln w="19050">
            <a:solidFill>
              <a:srgbClr val="E6ECF1"/>
            </a:solidFill>
          </a:ln>
          <a:effectLst/>
        </p:spPr>
      </p:cxnSp>
      <p:cxnSp>
        <p:nvCxnSpPr>
          <p:cNvPr id="4" name="05_구분선_3"/>
          <p:cNvCxnSpPr/>
          <p:nvPr/>
        </p:nvCxnSpPr>
        <p:spPr>
          <a:xfrm>
            <a:off x="914400" y="7612261"/>
            <a:ext cx="8458200" cy="0"/>
          </a:xfrm>
          <a:prstGeom prst="line">
            <a:avLst/>
          </a:prstGeom>
          <a:ln w="19050">
            <a:solidFill>
              <a:srgbClr val="E6ECF1"/>
            </a:solidFill>
          </a:ln>
          <a:effectLst/>
        </p:spPr>
      </p:cxnSp>
      <p:sp>
        <p:nvSpPr>
          <p:cNvPr id="5" name="05_headline_01"/>
          <p:cNvSpPr txBox="1"/>
          <p:nvPr/>
        </p:nvSpPr>
        <p:spPr>
          <a:xfrm>
            <a:off x="1379934" y="997077"/>
            <a:ext cx="7526982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근육은 힘만이 아니라</a:t>
            </a:r>
          </a:p>
        </p:txBody>
      </p:sp>
      <p:sp>
        <p:nvSpPr>
          <p:cNvPr id="6" name="05_headline_02"/>
          <p:cNvSpPr txBox="1"/>
          <p:nvPr/>
        </p:nvSpPr>
        <p:spPr>
          <a:xfrm>
            <a:off x="2159645" y="1957167"/>
            <a:ext cx="5967561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조절·타이밍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까지</a:t>
            </a:r>
          </a:p>
        </p:txBody>
      </p:sp>
      <p:sp>
        <p:nvSpPr>
          <p:cNvPr id="7" name="05_item-h_03"/>
          <p:cNvSpPr txBox="1"/>
          <p:nvPr/>
        </p:nvSpPr>
        <p:spPr>
          <a:xfrm>
            <a:off x="4355455" y="3453324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근력</a:t>
            </a:r>
          </a:p>
        </p:txBody>
      </p:sp>
      <p:sp>
        <p:nvSpPr>
          <p:cNvPr id="8" name="05_body_04"/>
          <p:cNvSpPr txBox="1"/>
          <p:nvPr/>
        </p:nvSpPr>
        <p:spPr>
          <a:xfrm>
            <a:off x="2386459" y="4151227"/>
            <a:ext cx="5513933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몸통 옆·엉덩관절·무릎 근력이</a:t>
            </a:r>
          </a:p>
        </p:txBody>
      </p:sp>
      <p:sp>
        <p:nvSpPr>
          <p:cNvPr id="9" name="05_body_05"/>
          <p:cNvSpPr txBox="1"/>
          <p:nvPr/>
        </p:nvSpPr>
        <p:spPr>
          <a:xfrm>
            <a:off x="2210246" y="4703231"/>
            <a:ext cx="5866358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통증 없는 사람보다 낮았습니다.</a:t>
            </a:r>
          </a:p>
        </p:txBody>
      </p:sp>
      <p:sp>
        <p:nvSpPr>
          <p:cNvPr id="10" name="05_item-h_06"/>
          <p:cNvSpPr txBox="1"/>
          <p:nvPr/>
        </p:nvSpPr>
        <p:spPr>
          <a:xfrm>
            <a:off x="3877717" y="5646902"/>
            <a:ext cx="2531418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파워·조절</a:t>
            </a:r>
          </a:p>
        </p:txBody>
      </p:sp>
      <p:sp>
        <p:nvSpPr>
          <p:cNvPr id="11" name="05_body_07"/>
          <p:cNvSpPr txBox="1"/>
          <p:nvPr/>
        </p:nvSpPr>
        <p:spPr>
          <a:xfrm>
            <a:off x="2445693" y="6344805"/>
            <a:ext cx="5395466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여성 PFP는 근력보다 파워와</a:t>
            </a:r>
          </a:p>
        </p:txBody>
      </p:sp>
      <p:sp>
        <p:nvSpPr>
          <p:cNvPr id="12" name="05_body_08"/>
          <p:cNvSpPr txBox="1"/>
          <p:nvPr/>
        </p:nvSpPr>
        <p:spPr>
          <a:xfrm>
            <a:off x="1926282" y="6896808"/>
            <a:ext cx="643443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힘 유지 능력의 차이가 더 컸습니다.</a:t>
            </a:r>
          </a:p>
        </p:txBody>
      </p:sp>
      <p:sp>
        <p:nvSpPr>
          <p:cNvPr id="13" name="05_item-h_09"/>
          <p:cNvSpPr txBox="1"/>
          <p:nvPr/>
        </p:nvSpPr>
        <p:spPr>
          <a:xfrm>
            <a:off x="4152007" y="7840480"/>
            <a:ext cx="1982837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타이밍</a:t>
            </a:r>
          </a:p>
        </p:txBody>
      </p:sp>
      <p:sp>
        <p:nvSpPr>
          <p:cNvPr id="14" name="05_body_10"/>
          <p:cNvSpPr txBox="1"/>
          <p:nvPr/>
        </p:nvSpPr>
        <p:spPr>
          <a:xfrm>
            <a:off x="2498080" y="8538383"/>
            <a:ext cx="5290691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계단 과제에서 안쪽넓은근이</a:t>
            </a:r>
          </a:p>
        </p:txBody>
      </p:sp>
      <p:sp>
        <p:nvSpPr>
          <p:cNvPr id="15" name="05_body_11"/>
          <p:cNvSpPr txBox="1"/>
          <p:nvPr/>
        </p:nvSpPr>
        <p:spPr>
          <a:xfrm>
            <a:off x="2082254" y="9090386"/>
            <a:ext cx="6122343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가쪽넓은근보다 늦게 켜졌습니다.</a:t>
            </a:r>
          </a:p>
        </p:txBody>
      </p:sp>
      <p:sp>
        <p:nvSpPr>
          <p:cNvPr id="16" name="05_body_12"/>
          <p:cNvSpPr txBox="1"/>
          <p:nvPr/>
        </p:nvSpPr>
        <p:spPr>
          <a:xfrm>
            <a:off x="1974205" y="10356765"/>
            <a:ext cx="6338441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대부분 발생 위험 요인은 아니었고,</a:t>
            </a:r>
          </a:p>
        </p:txBody>
      </p:sp>
      <p:sp>
        <p:nvSpPr>
          <p:cNvPr id="17" name="05_body_13"/>
          <p:cNvSpPr txBox="1"/>
          <p:nvPr/>
        </p:nvSpPr>
        <p:spPr>
          <a:xfrm>
            <a:off x="1472952" y="10916805"/>
            <a:ext cx="7340947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예외는 무릎 폄 근력(군 집단)이었습니다.</a:t>
            </a:r>
          </a:p>
        </p:txBody>
      </p:sp>
      <p:sp>
        <p:nvSpPr>
          <p:cNvPr id="18" name="05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6_예고박스_1"/>
          <p:cNvSpPr/>
          <p:nvPr/>
        </p:nvSpPr>
        <p:spPr>
          <a:xfrm>
            <a:off x="914400" y="8500170"/>
            <a:ext cx="8458200" cy="2460575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0879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6_headline_01"/>
          <p:cNvSpPr txBox="1"/>
          <p:nvPr/>
        </p:nvSpPr>
        <p:spPr>
          <a:xfrm>
            <a:off x="3665041" y="997077"/>
            <a:ext cx="2956768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PFP는</a:t>
            </a:r>
          </a:p>
        </p:txBody>
      </p:sp>
      <p:sp>
        <p:nvSpPr>
          <p:cNvPr id="4" name="06_headline_02"/>
          <p:cNvSpPr txBox="1"/>
          <p:nvPr/>
        </p:nvSpPr>
        <p:spPr>
          <a:xfrm>
            <a:off x="927943" y="1957167"/>
            <a:ext cx="8431113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한 가지 원인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이 아닙니다</a:t>
            </a:r>
          </a:p>
        </p:txBody>
      </p:sp>
      <p:sp>
        <p:nvSpPr>
          <p:cNvPr id="5" name="06_body_03"/>
          <p:cNvSpPr txBox="1"/>
          <p:nvPr/>
        </p:nvSpPr>
        <p:spPr>
          <a:xfrm>
            <a:off x="3083272" y="3528762"/>
            <a:ext cx="412030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러너에게 흔한 통증,</a:t>
            </a:r>
          </a:p>
        </p:txBody>
      </p:sp>
      <p:sp>
        <p:nvSpPr>
          <p:cNvPr id="6" name="06_body_04"/>
          <p:cNvSpPr txBox="1"/>
          <p:nvPr/>
        </p:nvSpPr>
        <p:spPr>
          <a:xfrm>
            <a:off x="1842790" y="4123777"/>
            <a:ext cx="6601420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세 가지 기준으로 먼저 구분합니다.</a:t>
            </a:r>
          </a:p>
        </p:txBody>
      </p:sp>
      <p:sp>
        <p:nvSpPr>
          <p:cNvPr id="7" name="06_body_05"/>
          <p:cNvSpPr txBox="1"/>
          <p:nvPr/>
        </p:nvSpPr>
        <p:spPr>
          <a:xfrm>
            <a:off x="3137743" y="5137892"/>
            <a:ext cx="4011364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움직임·근육 차이는</a:t>
            </a:r>
          </a:p>
        </p:txBody>
      </p:sp>
      <p:sp>
        <p:nvSpPr>
          <p:cNvPr id="8" name="06_body_06"/>
          <p:cNvSpPr txBox="1"/>
          <p:nvPr/>
        </p:nvSpPr>
        <p:spPr>
          <a:xfrm>
            <a:off x="2274391" y="5732907"/>
            <a:ext cx="5738068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원인이자 결과일 수 있습니다.</a:t>
            </a:r>
          </a:p>
        </p:txBody>
      </p:sp>
      <p:sp>
        <p:nvSpPr>
          <p:cNvPr id="9" name="06_body_07"/>
          <p:cNvSpPr txBox="1"/>
          <p:nvPr/>
        </p:nvSpPr>
        <p:spPr>
          <a:xfrm>
            <a:off x="2267545" y="6747022"/>
            <a:ext cx="575190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두려움·체중·수면 같은 요인도</a:t>
            </a:r>
          </a:p>
        </p:txBody>
      </p:sp>
      <p:sp>
        <p:nvSpPr>
          <p:cNvPr id="10" name="06_body_08"/>
          <p:cNvSpPr txBox="1"/>
          <p:nvPr/>
        </p:nvSpPr>
        <p:spPr>
          <a:xfrm>
            <a:off x="2651671" y="7342037"/>
            <a:ext cx="498365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함께 관여할 수 있습니다.</a:t>
            </a:r>
          </a:p>
        </p:txBody>
      </p:sp>
      <p:sp>
        <p:nvSpPr>
          <p:cNvPr id="11" name="06_tag_09"/>
          <p:cNvSpPr txBox="1"/>
          <p:nvPr/>
        </p:nvSpPr>
        <p:spPr>
          <a:xfrm>
            <a:off x="4103787" y="8869359"/>
            <a:ext cx="2079278" cy="4705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 spc="0" lang="ko-KR" altLang="en-US">
                <a:solidFill>
                  <a:srgbClr val="0879D8"/>
                </a:solidFill>
                <a:latin typeface="Noto Sans KR W800"/>
                <a:ea typeface="Noto Sans KR W800"/>
                <a:cs typeface="Noto Sans KR W800"/>
              </a:rPr>
              <a:t>2탄 예고</a:t>
            </a:r>
          </a:p>
        </p:txBody>
      </p:sp>
      <p:sp>
        <p:nvSpPr>
          <p:cNvPr id="12" name="06_body_10"/>
          <p:cNvSpPr txBox="1"/>
          <p:nvPr/>
        </p:nvSpPr>
        <p:spPr>
          <a:xfrm>
            <a:off x="2204442" y="9464772"/>
            <a:ext cx="587796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무릎 각도별 OKC·CKC 강화와</a:t>
            </a:r>
          </a:p>
        </p:txBody>
      </p:sp>
      <p:sp>
        <p:nvSpPr>
          <p:cNvPr id="13" name="06_body_11"/>
          <p:cNvSpPr txBox="1"/>
          <p:nvPr/>
        </p:nvSpPr>
        <p:spPr>
          <a:xfrm>
            <a:off x="2956173" y="10059787"/>
            <a:ext cx="4374654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싱글 레그 데드리프트</a:t>
            </a:r>
          </a:p>
        </p:txBody>
      </p:sp>
      <p:sp>
        <p:nvSpPr>
          <p:cNvPr id="14" name="06_note_12"/>
          <p:cNvSpPr txBox="1"/>
          <p:nvPr/>
        </p:nvSpPr>
        <p:spPr>
          <a:xfrm>
            <a:off x="1515368" y="11348603"/>
            <a:ext cx="7256264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통증이 계속되면 운동 전 전문 평가를 받으세요.</a:t>
            </a:r>
          </a:p>
        </p:txBody>
      </p:sp>
      <p:sp>
        <p:nvSpPr>
          <p:cNvPr id="15" name="06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PFP 1탄 — 러너의 무릎 앞 통증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