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2-photo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4-photo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5-photo1.png"/><Relationship Id="rId3" Type="http://schemas.openxmlformats.org/officeDocument/2006/relationships/image" Target="../media/05-photo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Relationship Id="rId3" Type="http://schemas.openxmlformats.org/officeDocument/2006/relationships/image" Target="../media/06-photo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7-photo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425726"/>
            <a:ext cx="8458200" cy="6477000"/>
          </a:xfrm>
          <a:prstGeom prst="roundRect">
            <a:avLst>
              <a:gd name="adj" fmla="val 2941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점프 거리가 같으면"/>
          <p:cNvSpPr txBox="1"/>
          <p:nvPr/>
        </p:nvSpPr>
        <p:spPr>
          <a:xfrm>
            <a:off x="1399282" y="1021842"/>
            <a:ext cx="7488287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 거리가 같으면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무릎도 회복된 걸까?"/>
          <p:cNvSpPr txBox="1"/>
          <p:nvPr/>
        </p:nvSpPr>
        <p:spPr>
          <a:xfrm>
            <a:off x="1191071" y="2010805"/>
            <a:ext cx="7904857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</a:t>
            </a: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도 회복된 걸까?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사진 넣는 자리"/>
          <p:cNvSpPr txBox="1"/>
          <p:nvPr/>
        </p:nvSpPr>
        <p:spPr>
          <a:xfrm>
            <a:off x="3529459" y="5917888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7" name="텍스트: 한국인 성인 선수 · 한 발 멀리뛰기"/>
          <p:cNvSpPr txBox="1"/>
          <p:nvPr/>
        </p:nvSpPr>
        <p:spPr>
          <a:xfrm>
            <a:off x="2144316" y="6525554"/>
            <a:ext cx="599822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한국인 성인 선수 · 한 발 멀리뛰기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옆에서 전신 · 도약 직후 공중 장면"/>
          <p:cNvSpPr txBox="1"/>
          <p:nvPr/>
        </p:nvSpPr>
        <p:spPr>
          <a:xfrm>
            <a:off x="2144316" y="7012370"/>
            <a:ext cx="599822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옆에서 전신 · 도약 직후 공중 장면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ACL 재활에서 놓치기 쉬운 평가"/>
          <p:cNvSpPr txBox="1"/>
          <p:nvPr/>
        </p:nvSpPr>
        <p:spPr>
          <a:xfrm>
            <a:off x="1660029" y="10406408"/>
            <a:ext cx="6966793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ACL 재활에서 놓치기 쉬운 평가</a:t>
            </a:r>
            <a:endParaRPr lang="ko-KR" altLang="en-US" sz="3600" b="0" i="0" spc="-72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1219200" y="3215580"/>
            <a:ext cx="7848600" cy="3292673"/>
          </a:xfrm>
          <a:prstGeom prst="roundRect">
            <a:avLst>
              <a:gd name="adj" fmla="val 4628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논문 제목과 저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3444180"/>
            <a:ext cx="7391400" cy="2835473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914400" y="8783389"/>
            <a:ext cx="8458200" cy="609600"/>
          </a:xfrm>
          <a:prstGeom prst="rect">
            <a:avLst/>
          </a:prstGeom>
          <a:solidFill>
            <a:srgbClr val="EDF1F4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914400" y="8783389"/>
            <a:ext cx="8204746" cy="609600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914400" y="10040689"/>
            <a:ext cx="8458200" cy="609600"/>
          </a:xfrm>
          <a:prstGeom prst="rect">
            <a:avLst/>
          </a:prstGeom>
          <a:solidFill>
            <a:srgbClr val="EDF1F4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914400" y="10040689"/>
            <a:ext cx="5835848" cy="6096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914400" y="10764589"/>
            <a:ext cx="8458200" cy="1905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연한 박스"/>
          <p:cNvSpPr/>
          <p:nvPr/>
        </p:nvSpPr>
        <p:spPr>
          <a:xfrm>
            <a:off x="914400" y="10764589"/>
            <a:ext cx="19050" cy="11430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연한 박스"/>
          <p:cNvSpPr/>
          <p:nvPr/>
        </p:nvSpPr>
        <p:spPr>
          <a:xfrm>
            <a:off x="5133975" y="10764589"/>
            <a:ext cx="19050" cy="11430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1" name="연한 박스"/>
          <p:cNvSpPr/>
          <p:nvPr/>
        </p:nvSpPr>
        <p:spPr>
          <a:xfrm>
            <a:off x="9353550" y="10764589"/>
            <a:ext cx="19050" cy="114300"/>
          </a:xfrm>
          <a:prstGeom prst="rect">
            <a:avLst/>
          </a:prstGeom>
          <a:solidFill>
            <a:srgbClr val="D0DCE5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2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3" name="텍스트: 점프 거리는 97%"/>
          <p:cNvSpPr txBox="1"/>
          <p:nvPr/>
        </p:nvSpPr>
        <p:spPr>
          <a:xfrm>
            <a:off x="1772245" y="1029081"/>
            <a:ext cx="6742361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 거리는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97%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4" name="텍스트: 무릎이 수행한 일은 69%"/>
          <p:cNvSpPr txBox="1"/>
          <p:nvPr/>
        </p:nvSpPr>
        <p:spPr>
          <a:xfrm>
            <a:off x="612130" y="1989171"/>
            <a:ext cx="9062591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무릎이 수행한 일은 </a:t>
            </a:r>
            <a:r>
              <a:rPr lang="ko-KR" altLang="en-US" sz="6300" b="0" i="0" spc="-220" kern="0" dirty="0">
                <a:solidFill>
                  <a:srgbClr val="CC414A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69%</a:t>
            </a:r>
            <a:endParaRPr lang="ko-KR" altLang="en-US" sz="6300" b="0" i="0" spc="-220" kern="0" dirty="0">
              <a:solidFill>
                <a:srgbClr val="CC414A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5" name="텍스트: Kotsifaki 등 · Br J Sport"/>
          <p:cNvSpPr txBox="1"/>
          <p:nvPr/>
        </p:nvSpPr>
        <p:spPr>
          <a:xfrm>
            <a:off x="529977" y="6690753"/>
            <a:ext cx="922689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Kotsifaki 등 · Br J Sports Med 2022 · 복귀 승인 후 측정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ACL 재건술 후 남성 선수 26명"/>
          <p:cNvSpPr txBox="1"/>
          <p:nvPr/>
        </p:nvSpPr>
        <p:spPr>
          <a:xfrm>
            <a:off x="1982242" y="7356271"/>
            <a:ext cx="632236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ACL 재건술 후 남성 선수 26명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7" name="텍스트: 홉 거리 LSI"/>
          <p:cNvSpPr txBox="1"/>
          <p:nvPr/>
        </p:nvSpPr>
        <p:spPr>
          <a:xfrm>
            <a:off x="3682603" y="8272849"/>
            <a:ext cx="2921645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6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홉 거리 LSI</a:t>
            </a:r>
            <a:endParaRPr lang="ko-KR" altLang="en-US" sz="3000" b="0" i="0" spc="-6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8" name="텍스트: 97%"/>
          <p:cNvSpPr txBox="1"/>
          <p:nvPr/>
        </p:nvSpPr>
        <p:spPr>
          <a:xfrm>
            <a:off x="7353895" y="8813107"/>
            <a:ext cx="2197001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78" kern="0" dirty="0">
                <a:solidFill>
                  <a:srgbClr val="FFFFFF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97%</a:t>
            </a:r>
            <a:endParaRPr lang="ko-KR" altLang="en-US" sz="3900" b="0" i="0" spc="-78" kern="0" dirty="0">
              <a:solidFill>
                <a:srgbClr val="FFFFFF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9" name="텍스트: 도약 시 무릎 관절 일 LSI"/>
          <p:cNvSpPr txBox="1"/>
          <p:nvPr/>
        </p:nvSpPr>
        <p:spPr>
          <a:xfrm>
            <a:off x="2676823" y="9530149"/>
            <a:ext cx="4933355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6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도약 시 무릎 관절 일 LSI</a:t>
            </a:r>
            <a:endParaRPr lang="ko-KR" altLang="en-US" sz="3000" b="0" i="0" spc="-6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0" name="텍스트: 69%"/>
          <p:cNvSpPr txBox="1"/>
          <p:nvPr/>
        </p:nvSpPr>
        <p:spPr>
          <a:xfrm>
            <a:off x="4984998" y="10070407"/>
            <a:ext cx="2197001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78" kern="0" dirty="0">
                <a:solidFill>
                  <a:srgbClr val="FFFFFF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69%</a:t>
            </a:r>
            <a:endParaRPr lang="ko-KR" altLang="en-US" sz="3900" b="0" i="0" spc="-78" kern="0" dirty="0">
              <a:solidFill>
                <a:srgbClr val="FFFFFF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21" name="텍스트: 0"/>
          <p:cNvSpPr txBox="1"/>
          <p:nvPr/>
        </p:nvSpPr>
        <p:spPr>
          <a:xfrm>
            <a:off x="370284" y="10925752"/>
            <a:ext cx="1316831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0</a:t>
            </a:r>
            <a:endParaRPr lang="ko-KR" altLang="en-US" sz="24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2" name="텍스트: 50"/>
          <p:cNvSpPr txBox="1"/>
          <p:nvPr/>
        </p:nvSpPr>
        <p:spPr>
          <a:xfrm>
            <a:off x="4398169" y="10925752"/>
            <a:ext cx="1490514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50</a:t>
            </a:r>
            <a:endParaRPr lang="ko-KR" altLang="en-US" sz="24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3" name="텍스트: 100%"/>
          <p:cNvSpPr txBox="1"/>
          <p:nvPr/>
        </p:nvSpPr>
        <p:spPr>
          <a:xfrm>
            <a:off x="7940129" y="10925752"/>
            <a:ext cx="1950541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100%</a:t>
            </a:r>
            <a:endParaRPr lang="ko-KR" altLang="en-US" sz="24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847951"/>
            <a:ext cx="4229100" cy="6204496"/>
          </a:xfrm>
          <a:prstGeom prst="roundRect">
            <a:avLst>
              <a:gd name="adj" fmla="val 3604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Figure 3 도약 구간 관절별 일 기여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000351"/>
            <a:ext cx="3924300" cy="5899696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1859161" y="6295876"/>
            <a:ext cx="2934593" cy="9525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1859161" y="6965454"/>
            <a:ext cx="2934593" cy="9525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1859161" y="6295876"/>
            <a:ext cx="95250" cy="764828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4697611" y="6295876"/>
            <a:ext cx="95250" cy="764828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텍스트: 비슷한 점프 거리,"/>
          <p:cNvSpPr txBox="1"/>
          <p:nvPr/>
        </p:nvSpPr>
        <p:spPr>
          <a:xfrm>
            <a:off x="1773138" y="1029081"/>
            <a:ext cx="6740575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비슷한 점프 거리,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다른 무릎의 기여"/>
          <p:cNvSpPr txBox="1"/>
          <p:nvPr/>
        </p:nvSpPr>
        <p:spPr>
          <a:xfrm>
            <a:off x="1897559" y="1989171"/>
            <a:ext cx="64917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다른 무릎의 기여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1" name="텍스트: 논문 Figure 3 · 도약할 때 관절별 "/>
          <p:cNvSpPr txBox="1"/>
          <p:nvPr/>
        </p:nvSpPr>
        <p:spPr>
          <a:xfrm>
            <a:off x="1571476" y="3150429"/>
            <a:ext cx="714404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논문 Figure 3 · 도약할 때 관절별 일 기여율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무릎 기여율"/>
          <p:cNvSpPr txBox="1"/>
          <p:nvPr/>
        </p:nvSpPr>
        <p:spPr>
          <a:xfrm>
            <a:off x="5965627" y="4481102"/>
            <a:ext cx="277534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무릎 기여율</a:t>
            </a:r>
            <a:endParaRPr lang="ko-KR" altLang="en-US" sz="2700" b="0" i="0" spc="-54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3" name="텍스트: 수술측 Involved"/>
          <p:cNvSpPr txBox="1"/>
          <p:nvPr/>
        </p:nvSpPr>
        <p:spPr>
          <a:xfrm>
            <a:off x="5577632" y="5189672"/>
            <a:ext cx="355118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수술측 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Involved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4" name="텍스트: 9.7% ±3.9"/>
          <p:cNvSpPr txBox="1"/>
          <p:nvPr/>
        </p:nvSpPr>
        <p:spPr>
          <a:xfrm>
            <a:off x="5551438" y="5632365"/>
            <a:ext cx="3603724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96" kern="0" dirty="0">
                <a:solidFill>
                  <a:srgbClr val="CC414A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9.7% </a:t>
            </a:r>
            <a:r>
              <a:rPr lang="ko-KR" altLang="en-US" sz="2550" b="0" i="0" spc="0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±3.9</a:t>
            </a:r>
            <a:endParaRPr lang="ko-KR" altLang="en-US" sz="2550" b="0" i="0" spc="0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5" name="텍스트: ↕ p &lt; 0.001"/>
          <p:cNvSpPr txBox="1"/>
          <p:nvPr/>
        </p:nvSpPr>
        <p:spPr>
          <a:xfrm>
            <a:off x="5884664" y="6422910"/>
            <a:ext cx="2937272" cy="3905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550" b="0" i="0" spc="-51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↕ p &lt; 0.001</a:t>
            </a:r>
            <a:endParaRPr lang="ko-KR" altLang="en-US" sz="2550" b="0" i="0" spc="-51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6" name="텍스트: 비수술측 Uninvolved"/>
          <p:cNvSpPr txBox="1"/>
          <p:nvPr/>
        </p:nvSpPr>
        <p:spPr>
          <a:xfrm>
            <a:off x="5197525" y="6896433"/>
            <a:ext cx="431155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비수술측 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Uninvolved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7" name="텍스트: 13.5% ±4.0"/>
          <p:cNvSpPr txBox="1"/>
          <p:nvPr/>
        </p:nvSpPr>
        <p:spPr>
          <a:xfrm>
            <a:off x="5373439" y="7339126"/>
            <a:ext cx="3959721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96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13.5% </a:t>
            </a:r>
            <a:r>
              <a:rPr lang="ko-KR" altLang="en-US" sz="2550" b="0" i="0" spc="0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±4.0</a:t>
            </a:r>
            <a:endParaRPr lang="ko-KR" altLang="en-US" sz="2550" b="0" i="0" spc="0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대조군 Control"/>
          <p:cNvSpPr txBox="1"/>
          <p:nvPr/>
        </p:nvSpPr>
        <p:spPr>
          <a:xfrm>
            <a:off x="5668119" y="8321314"/>
            <a:ext cx="337036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대조군 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Control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9" name="텍스트: 11.9% ±4.2"/>
          <p:cNvSpPr txBox="1"/>
          <p:nvPr/>
        </p:nvSpPr>
        <p:spPr>
          <a:xfrm>
            <a:off x="5373439" y="8764006"/>
            <a:ext cx="3959721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96" kern="0" dirty="0">
                <a:solidFill>
                  <a:srgbClr val="7D858D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11.9% </a:t>
            </a:r>
            <a:r>
              <a:rPr lang="ko-KR" altLang="en-US" sz="2550" b="0" i="0" spc="0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±4.2</a:t>
            </a:r>
            <a:endParaRPr lang="ko-KR" altLang="en-US" sz="2550" b="0" i="0" spc="0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0" name="텍스트: 수술한 무릎의 기여가 반대쪽보다 작았습니다."/>
          <p:cNvSpPr txBox="1"/>
          <p:nvPr/>
        </p:nvSpPr>
        <p:spPr>
          <a:xfrm>
            <a:off x="704999" y="10382393"/>
            <a:ext cx="887685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수술한 무릎의 기여가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반대쪽보다 작았습니다.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1" name="텍스트: 그림 속 %는 반올림 값 · 평균±표준편차는"/>
          <p:cNvSpPr txBox="1"/>
          <p:nvPr/>
        </p:nvSpPr>
        <p:spPr>
          <a:xfrm>
            <a:off x="967234" y="11058561"/>
            <a:ext cx="835238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그림 속 %는 반올림 값 · 평균±표준편차는 Table 2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905101"/>
            <a:ext cx="8458200" cy="5725418"/>
          </a:xfrm>
          <a:prstGeom prst="roundRect">
            <a:avLst>
              <a:gd name="adj" fmla="val 2662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Figure 2 도약 구간 관절별 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057501"/>
            <a:ext cx="8153400" cy="5420618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2964061" y="7791301"/>
            <a:ext cx="5894933" cy="381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2964061" y="9404747"/>
            <a:ext cx="5894933" cy="381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2964061" y="7791301"/>
            <a:ext cx="38100" cy="1651546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8821936" y="7791301"/>
            <a:ext cx="38100" cy="1651546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텍스트: 점프 거리는 무릎만"/>
          <p:cNvSpPr txBox="1"/>
          <p:nvPr/>
        </p:nvSpPr>
        <p:spPr>
          <a:xfrm>
            <a:off x="1543496" y="1029081"/>
            <a:ext cx="720000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 거리는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무릎만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결정하지 않습니다"/>
          <p:cNvSpPr txBox="1"/>
          <p:nvPr/>
        </p:nvSpPr>
        <p:spPr>
          <a:xfrm>
            <a:off x="1641574" y="1989171"/>
            <a:ext cx="700385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결정하지 않습니다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1" name="텍스트: 고관절과 발목이 큰 역할을 합니다"/>
          <p:cNvSpPr txBox="1"/>
          <p:nvPr/>
        </p:nvSpPr>
        <p:spPr>
          <a:xfrm>
            <a:off x="1453753" y="3090612"/>
            <a:ext cx="7379345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고관절과 발목이 큰 역할을 합니다</a:t>
            </a:r>
            <a:endParaRPr lang="ko-KR" altLang="en-US" sz="3600" b="0" i="0" spc="-72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2" name="텍스트: 논문 Figure 2 · 도약할 때 관절이 "/>
          <p:cNvSpPr txBox="1"/>
          <p:nvPr/>
        </p:nvSpPr>
        <p:spPr>
          <a:xfrm>
            <a:off x="1267867" y="9793968"/>
            <a:ext cx="775111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논문 Figure 2 · 도약할 때 관절이 만든 일(J/kg)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이 연구에서 도약 일의 약 88%는 고관절·"/>
          <p:cNvSpPr txBox="1"/>
          <p:nvPr/>
        </p:nvSpPr>
        <p:spPr>
          <a:xfrm>
            <a:off x="441275" y="10516636"/>
            <a:ext cx="940430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이 연구에서 도약 일의 약 88%는 고관절·발목이,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4" name="텍스트: 무릎(Knee)은 약 12%를 맡았습니다."/>
          <p:cNvSpPr txBox="1"/>
          <p:nvPr/>
        </p:nvSpPr>
        <p:spPr>
          <a:xfrm>
            <a:off x="1363563" y="11111651"/>
            <a:ext cx="755957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CC414A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무릎(Knee)은 약 12%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를 맡았습니다.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4369891"/>
            <a:ext cx="2466975" cy="4601468"/>
          </a:xfrm>
          <a:prstGeom prst="roundRect">
            <a:avLst>
              <a:gd name="adj" fmla="val 6178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Kotsifaki 2022 Figure 3 착지 구간 관절별 일 기여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4484191"/>
            <a:ext cx="2238375" cy="4372868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1095375" y="5245150"/>
            <a:ext cx="2158305" cy="5715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1095375" y="7656016"/>
            <a:ext cx="2158305" cy="5715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1095375" y="5245150"/>
            <a:ext cx="57150" cy="2468761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3196530" y="5245150"/>
            <a:ext cx="57150" cy="2468761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3543300" y="4371826"/>
            <a:ext cx="5829300" cy="4601468"/>
          </a:xfrm>
          <a:prstGeom prst="roundRect">
            <a:avLst>
              <a:gd name="adj" fmla="val 3312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9" name="사진" descr="Kotsifaki 2022 Figure 2 착지 구간 관절별 흡수 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486126"/>
            <a:ext cx="5600700" cy="4372868"/>
          </a:xfrm>
          <a:prstGeom prst="rect">
            <a:avLst/>
          </a:prstGeom>
        </p:spPr>
      </p:pic>
      <p:sp>
        <p:nvSpPr>
          <p:cNvPr id="10" name="연한 박스"/>
          <p:cNvSpPr/>
          <p:nvPr/>
        </p:nvSpPr>
        <p:spPr>
          <a:xfrm>
            <a:off x="5045273" y="5632847"/>
            <a:ext cx="3862388" cy="381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1" name="연한 박스"/>
          <p:cNvSpPr/>
          <p:nvPr/>
        </p:nvSpPr>
        <p:spPr>
          <a:xfrm>
            <a:off x="5045273" y="8808541"/>
            <a:ext cx="3862388" cy="38100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2" name="연한 박스"/>
          <p:cNvSpPr/>
          <p:nvPr/>
        </p:nvSpPr>
        <p:spPr>
          <a:xfrm>
            <a:off x="5045273" y="5632847"/>
            <a:ext cx="38100" cy="3213646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3" name="연한 박스"/>
          <p:cNvSpPr/>
          <p:nvPr/>
        </p:nvSpPr>
        <p:spPr>
          <a:xfrm>
            <a:off x="8869561" y="5632847"/>
            <a:ext cx="38100" cy="3213646"/>
          </a:xfrm>
          <a:prstGeom prst="rect">
            <a:avLst/>
          </a:prstGeom>
          <a:solidFill>
            <a:srgbClr val="CC414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5" name="텍스트: 착지 때는 무릎이"/>
          <p:cNvSpPr txBox="1"/>
          <p:nvPr/>
        </p:nvSpPr>
        <p:spPr>
          <a:xfrm>
            <a:off x="1897410" y="1029081"/>
            <a:ext cx="6491883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착지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때는 무릎이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6" name="텍스트: 가장 많이 받아냅니다"/>
          <p:cNvSpPr txBox="1"/>
          <p:nvPr/>
        </p:nvSpPr>
        <p:spPr>
          <a:xfrm>
            <a:off x="1189434" y="198917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가장 많이 받아냅니다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7" name="텍스트: 무릎 몫: 도약 약 12% → 착지 약 65"/>
          <p:cNvSpPr txBox="1"/>
          <p:nvPr/>
        </p:nvSpPr>
        <p:spPr>
          <a:xfrm>
            <a:off x="1007418" y="3090612"/>
            <a:ext cx="8272165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무릎 몫: 도약 약 12% → 착지 약 65%</a:t>
            </a:r>
            <a:endParaRPr lang="ko-KR" altLang="en-US" sz="3600" b="0" i="0" spc="-72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착지 기여율"/>
          <p:cNvSpPr txBox="1"/>
          <p:nvPr/>
        </p:nvSpPr>
        <p:spPr>
          <a:xfrm>
            <a:off x="760214" y="3897100"/>
            <a:ext cx="277534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착지 기여율</a:t>
            </a:r>
            <a:endParaRPr lang="ko-KR" altLang="en-US" sz="2700" b="0" i="0" spc="-54" kern="0" dirty="0">
              <a:solidFill>
                <a:srgbClr val="5E6570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9" name="텍스트: Figure 3"/>
          <p:cNvSpPr txBox="1"/>
          <p:nvPr/>
        </p:nvSpPr>
        <p:spPr>
          <a:xfrm>
            <a:off x="941636" y="9096708"/>
            <a:ext cx="241235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Figure 3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0" name="텍스트: 수술측"/>
          <p:cNvSpPr txBox="1"/>
          <p:nvPr/>
        </p:nvSpPr>
        <p:spPr>
          <a:xfrm>
            <a:off x="4554736" y="3897100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CC414A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수술측</a:t>
            </a:r>
            <a:endParaRPr lang="ko-KR" altLang="en-US" sz="2700" b="0" i="0" spc="-54" kern="0" dirty="0">
              <a:solidFill>
                <a:srgbClr val="CC414A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1" name="텍스트: 비수술측"/>
          <p:cNvSpPr txBox="1"/>
          <p:nvPr/>
        </p:nvSpPr>
        <p:spPr>
          <a:xfrm>
            <a:off x="5615732" y="3897100"/>
            <a:ext cx="2377529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0879D8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비수술측</a:t>
            </a:r>
            <a:endParaRPr lang="ko-KR" altLang="en-US" sz="2700" b="0" i="0" spc="-54" kern="0" dirty="0">
              <a:solidFill>
                <a:srgbClr val="0879D8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2" name="텍스트: 대조군"/>
          <p:cNvSpPr txBox="1"/>
          <p:nvPr/>
        </p:nvSpPr>
        <p:spPr>
          <a:xfrm>
            <a:off x="7330232" y="3897100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7D858D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대조군</a:t>
            </a:r>
            <a:endParaRPr lang="ko-KR" altLang="en-US" sz="2700" b="0" i="0" spc="-54" kern="0" dirty="0">
              <a:solidFill>
                <a:srgbClr val="7D858D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3" name="텍스트: Figure 2 · 착지 때 받아낸 일(J/"/>
          <p:cNvSpPr txBox="1"/>
          <p:nvPr/>
        </p:nvSpPr>
        <p:spPr>
          <a:xfrm>
            <a:off x="3442990" y="9098643"/>
            <a:ext cx="602977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Figure 2 · 착지 때 받아낸 일(J/kg)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4" name="텍스트: 수술측 무릎은 반대쪽보다 덜 받아내고,"/>
          <p:cNvSpPr txBox="1"/>
          <p:nvPr/>
        </p:nvSpPr>
        <p:spPr>
          <a:xfrm>
            <a:off x="1277838" y="9821311"/>
            <a:ext cx="773102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수술측 무릎은 반대쪽보다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덜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받아내고,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5" name="텍스트: 반대쪽 무릎은 대조군보다 더 받아냈습니다."/>
          <p:cNvSpPr txBox="1"/>
          <p:nvPr/>
        </p:nvSpPr>
        <p:spPr>
          <a:xfrm>
            <a:off x="900708" y="10416326"/>
            <a:ext cx="848543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반대쪽 무릎은 대조군보다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더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받아냈습니다.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6" name="텍스트: 수술측은 고관절 몫을 늘리고 몸통을 더 숙여"/>
          <p:cNvSpPr txBox="1"/>
          <p:nvPr/>
        </p:nvSpPr>
        <p:spPr>
          <a:xfrm>
            <a:off x="556617" y="11092494"/>
            <a:ext cx="9173766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수술측은 고관절 몫을 늘리고 몸통을 더 숙여 착지했습니다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Aspetar 2023 가이드라인 Box 5 스포츠 복귀 최소 기준 머리글 원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175671"/>
            <a:ext cx="8001000" cy="2595562"/>
          </a:xfrm>
          <a:prstGeom prst="rect">
            <a:avLst/>
          </a:prstGeom>
        </p:spPr>
      </p:pic>
      <p:pic>
        <p:nvPicPr>
          <p:cNvPr id="3" name="사진" descr="Aspetar 2023 가이드라인 Box 5 Jumping biomechanics 원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6847433"/>
            <a:ext cx="8001000" cy="1422053"/>
          </a:xfrm>
          <a:prstGeom prst="rect">
            <a:avLst/>
          </a:prstGeom>
        </p:spPr>
      </p:pic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그래서 Aspetar는"/>
          <p:cNvSpPr txBox="1"/>
          <p:nvPr/>
        </p:nvSpPr>
        <p:spPr>
          <a:xfrm>
            <a:off x="1609130" y="1029081"/>
            <a:ext cx="7068741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그래서 Aspetar는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점프의 역학까지"/>
          <p:cNvSpPr txBox="1"/>
          <p:nvPr/>
        </p:nvSpPr>
        <p:spPr>
          <a:xfrm>
            <a:off x="1995636" y="198917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점프의 역학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까지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살펴봅니다"/>
          <p:cNvSpPr txBox="1"/>
          <p:nvPr/>
        </p:nvSpPr>
        <p:spPr>
          <a:xfrm>
            <a:off x="2801689" y="2949261"/>
            <a:ext cx="468347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살펴봅니다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각도 · 모멘트 · 일"/>
          <p:cNvSpPr txBox="1"/>
          <p:nvPr/>
        </p:nvSpPr>
        <p:spPr>
          <a:xfrm>
            <a:off x="2319486" y="8563237"/>
            <a:ext cx="5648027" cy="7334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800" b="0" i="0" spc="-144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각도 · 모멘트 · 일</a:t>
            </a:r>
            <a:endParaRPr lang="ko-KR" altLang="en-US" sz="4800" b="0" i="0" spc="-144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9" name="텍스트: 수직·수평 점프에서 고관절·무릎·발목의"/>
          <p:cNvSpPr txBox="1"/>
          <p:nvPr/>
        </p:nvSpPr>
        <p:spPr>
          <a:xfrm>
            <a:off x="1097161" y="9445222"/>
            <a:ext cx="8092529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수직·수평 점프에서 고관절·무릎·발목의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절대값과 좌우 대칭을 모두 정상 수준으로"/>
          <p:cNvSpPr txBox="1"/>
          <p:nvPr/>
        </p:nvSpPr>
        <p:spPr>
          <a:xfrm>
            <a:off x="1093440" y="10040237"/>
            <a:ext cx="810012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절대값과 좌우 대칭을 모두 정상 수준으로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전문 선수의 복귀 평가를 위한 제안이며,"/>
          <p:cNvSpPr txBox="1"/>
          <p:nvPr/>
        </p:nvSpPr>
        <p:spPr>
          <a:xfrm>
            <a:off x="1832372" y="10887855"/>
            <a:ext cx="6622256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전문 선수의 복귀 평가를 위한 제안이며,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재부상 예방이 검증된 기준은 아닙니다."/>
          <p:cNvSpPr txBox="1"/>
          <p:nvPr/>
        </p:nvSpPr>
        <p:spPr>
          <a:xfrm>
            <a:off x="1876871" y="11367826"/>
            <a:ext cx="653310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재부상 예방이 검증된 기준은 아닙니다.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4137571"/>
            <a:ext cx="8458200" cy="2575471"/>
          </a:xfrm>
          <a:prstGeom prst="roundRect">
            <a:avLst>
              <a:gd name="adj" fmla="val 5917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Aspetar 2023 가이드라인 제목과 저자, Andreas Bjerregaard 표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4328071"/>
            <a:ext cx="8077200" cy="2194471"/>
          </a:xfrm>
          <a:prstGeom prst="rect">
            <a:avLst/>
          </a:prstGeom>
        </p:spPr>
      </p:pic>
      <p:sp>
        <p:nvSpPr>
          <p:cNvPr id="4" name="연한 박스"/>
          <p:cNvSpPr/>
          <p:nvPr/>
        </p:nvSpPr>
        <p:spPr>
          <a:xfrm>
            <a:off x="3052762" y="5803404"/>
            <a:ext cx="1993553" cy="38100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3052762" y="6124426"/>
            <a:ext cx="1993553" cy="38100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3052762" y="5803404"/>
            <a:ext cx="38100" cy="360015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5008215" y="5803404"/>
            <a:ext cx="38100" cy="360015"/>
          </a:xfrm>
          <a:prstGeom prst="rect">
            <a:avLst/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914400" y="7055941"/>
            <a:ext cx="2590800" cy="3048000"/>
          </a:xfrm>
          <a:prstGeom prst="roundRect">
            <a:avLst>
              <a:gd name="adj" fmla="val 7353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텍스트: 이 가이드라인에 참여한"/>
          <p:cNvSpPr txBox="1"/>
          <p:nvPr/>
        </p:nvSpPr>
        <p:spPr>
          <a:xfrm>
            <a:off x="835521" y="1029081"/>
            <a:ext cx="8615958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이 가이드라인에 참여한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1" name="텍스트: ACL 재활 전문가를"/>
          <p:cNvSpPr txBox="1"/>
          <p:nvPr/>
        </p:nvSpPr>
        <p:spPr>
          <a:xfrm>
            <a:off x="1536204" y="1989171"/>
            <a:ext cx="721459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ACL 재활 전문가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2" name="텍스트: 만납니다"/>
          <p:cNvSpPr txBox="1"/>
          <p:nvPr/>
        </p:nvSpPr>
        <p:spPr>
          <a:xfrm>
            <a:off x="3155752" y="2949261"/>
            <a:ext cx="397549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만납니다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3" name="텍스트: 사진 넣는 자리"/>
          <p:cNvSpPr txBox="1"/>
          <p:nvPr/>
        </p:nvSpPr>
        <p:spPr>
          <a:xfrm>
            <a:off x="595759" y="7833604"/>
            <a:ext cx="32279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사진 넣는 자리</a:t>
            </a:r>
            <a:endParaRPr lang="ko-KR" altLang="en-US" sz="2700" b="0" i="0" spc="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14" name="텍스트: Andreas"/>
          <p:cNvSpPr txBox="1"/>
          <p:nvPr/>
        </p:nvSpPr>
        <p:spPr>
          <a:xfrm>
            <a:off x="974527" y="8441269"/>
            <a:ext cx="247039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Andreas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승인 프로필 사진"/>
          <p:cNvSpPr txBox="1"/>
          <p:nvPr/>
        </p:nvSpPr>
        <p:spPr>
          <a:xfrm>
            <a:off x="438001" y="8928086"/>
            <a:ext cx="3543449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0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승인 프로필 사진</a:t>
            </a:r>
            <a:endParaRPr lang="ko-KR" altLang="en-US" sz="2700" b="0" i="0" spc="0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Andreas Bjerregaard"/>
          <p:cNvSpPr txBox="1"/>
          <p:nvPr/>
        </p:nvSpPr>
        <p:spPr>
          <a:xfrm>
            <a:off x="3691682" y="7264497"/>
            <a:ext cx="5646688" cy="5524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b="0" i="0" spc="-72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Andreas Bjerregaard</a:t>
            </a:r>
            <a:endParaRPr lang="ko-KR" altLang="en-US" sz="3600" b="0" i="0" spc="-72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7" name="텍스트: 2023 Aspetar ACL 재활"/>
          <p:cNvSpPr txBox="1"/>
          <p:nvPr/>
        </p:nvSpPr>
        <p:spPr>
          <a:xfrm>
            <a:off x="4189363" y="7975735"/>
            <a:ext cx="465132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2023 Aspetar ACL 재활</a:t>
            </a:r>
            <a:endParaRPr lang="ko-KR" altLang="en-US" sz="2700" b="0" i="0" spc="-54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임상진료지침 공동저자"/>
          <p:cNvSpPr txBox="1"/>
          <p:nvPr/>
        </p:nvSpPr>
        <p:spPr>
          <a:xfrm>
            <a:off x="4355753" y="8455706"/>
            <a:ext cx="431839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임상진료지침 공동저자</a:t>
            </a:r>
            <a:endParaRPr lang="ko-KR" altLang="en-US" sz="2700" b="0" i="0" spc="-54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9" name="텍스트: 전 Aspetar ACL Rehabilita"/>
          <p:cNvSpPr txBox="1"/>
          <p:nvPr/>
        </p:nvSpPr>
        <p:spPr>
          <a:xfrm>
            <a:off x="3168104" y="9030926"/>
            <a:ext cx="66939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전 Aspetar ACL Rehabilitation Team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0" name="텍스트: 물리치료사"/>
          <p:cNvSpPr txBox="1"/>
          <p:nvPr/>
        </p:nvSpPr>
        <p:spPr>
          <a:xfrm>
            <a:off x="5171926" y="9510897"/>
            <a:ext cx="2686199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물리치료사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1" name="텍스트: R스포츠 아카데미"/>
          <p:cNvSpPr txBox="1"/>
          <p:nvPr/>
        </p:nvSpPr>
        <p:spPr>
          <a:xfrm>
            <a:off x="3196084" y="10564951"/>
            <a:ext cx="3894683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60" kern="0" dirty="0">
                <a:solidFill>
                  <a:srgbClr val="0879D8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R스포츠 아카데미</a:t>
            </a:r>
            <a:endParaRPr lang="ko-KR" altLang="en-US" sz="3000" b="0" i="0" spc="-60" kern="0" dirty="0">
              <a:solidFill>
                <a:srgbClr val="0879D8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2" name="텍스트: ACL 재활 전문가 초청 강의"/>
          <p:cNvSpPr txBox="1"/>
          <p:nvPr/>
        </p:nvSpPr>
        <p:spPr>
          <a:xfrm>
            <a:off x="1690836" y="11107495"/>
            <a:ext cx="6905327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ACL 재활 전문가 초청 강의</a:t>
            </a:r>
            <a:endParaRPr lang="ko-KR" altLang="en-US" sz="4200" b="0" i="0" spc="-126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점프 거리가 같으면 무릎도 회복된 걸까?</dc:title>
  <dc:creator>R스포츠재활센터</dc:creator>
</cp:coreProperties>
</file>