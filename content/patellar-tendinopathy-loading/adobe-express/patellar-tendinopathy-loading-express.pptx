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g" ContentType="image/jpeg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10287000" cy="12858750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01-photo1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02-photo1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03-photo1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05-photo1.png"/><Relationship Id="rId3" Type="http://schemas.openxmlformats.org/officeDocument/2006/relationships/image" Target="../media/05-photo2.png"/><Relationship Id="rId4" Type="http://schemas.openxmlformats.org/officeDocument/2006/relationships/image" Target="../media/05-photo3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06-photo1.png"/><Relationship Id="rId3" Type="http://schemas.openxmlformats.org/officeDocument/2006/relationships/image" Target="../media/06-photo2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사진" descr="박스 점프 후 무릎을 굽혀 착지하는 선수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387626"/>
            <a:ext cx="8458200" cy="7048500"/>
          </a:xfrm>
          <a:prstGeom prst="rect">
            <a:avLst/>
          </a:prstGeom>
        </p:spPr>
      </p:pic>
      <p:sp>
        <p:nvSpPr>
          <p:cNvPr id="3" name="B01 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D0DCE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4" name="텍스트: 슬개건병증,"/>
          <p:cNvSpPr txBox="1"/>
          <p:nvPr/>
        </p:nvSpPr>
        <p:spPr>
          <a:xfrm>
            <a:off x="2586930" y="1021842"/>
            <a:ext cx="5112841" cy="10096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600" b="0" i="0" spc="-231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슬개건병증,</a:t>
            </a:r>
            <a:endParaRPr lang="ko-KR" altLang="en-US" sz="6600" b="0" i="0" spc="-231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5" name="텍스트: 무조건 쉬면 좋아질까?"/>
          <p:cNvSpPr txBox="1"/>
          <p:nvPr/>
        </p:nvSpPr>
        <p:spPr>
          <a:xfrm>
            <a:off x="820043" y="2010805"/>
            <a:ext cx="8646765" cy="10096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600" b="0" i="0" spc="-231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무조건 쉬면 </a:t>
            </a:r>
            <a:r>
              <a:rPr lang="ko-KR" altLang="en-US" sz="6600" b="0" i="0" spc="-231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좋아질까?</a:t>
            </a:r>
            <a:endParaRPr lang="ko-KR" altLang="en-US" sz="6600" b="0" i="0" spc="-231" kern="0" dirty="0">
              <a:solidFill>
                <a:srgbClr val="0879D8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6" name="텍스트: 아픈 힘줄에 다시 운동이 필요한 이유"/>
          <p:cNvSpPr txBox="1"/>
          <p:nvPr/>
        </p:nvSpPr>
        <p:spPr>
          <a:xfrm>
            <a:off x="1470571" y="10842272"/>
            <a:ext cx="7345859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아픈 힘줄에 다시 </a:t>
            </a:r>
            <a:r>
              <a:rPr lang="ko-KR" altLang="en-US" sz="3300" b="0" i="0" spc="-66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운동이 필요한 이유</a:t>
            </a:r>
            <a:endParaRPr lang="ko-KR" altLang="en-US" sz="3300" b="0" i="0" spc="-66" kern="0" dirty="0">
              <a:solidFill>
                <a:srgbClr val="121416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사진" descr="적당히 찬 물컵과 물이 갑자기 쏟아져 넘치는 물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137571"/>
            <a:ext cx="8458200" cy="2952750"/>
          </a:xfrm>
          <a:prstGeom prst="rect">
            <a:avLst/>
          </a:prstGeom>
        </p:spPr>
      </p:pic>
      <p:sp>
        <p:nvSpPr>
          <p:cNvPr id="3" name="연한 박스"/>
          <p:cNvSpPr/>
          <p:nvPr/>
        </p:nvSpPr>
        <p:spPr>
          <a:xfrm>
            <a:off x="4457700" y="4328071"/>
            <a:ext cx="2067818" cy="647700"/>
          </a:xfrm>
          <a:prstGeom prst="roundRect">
            <a:avLst>
              <a:gd name="adj" fmla="val 58824"/>
            </a:avLst>
          </a:prstGeom>
          <a:solidFill>
            <a:srgbClr val="CC414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4" name="B01 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D0DCE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5" name="텍스트: 힘줄에도"/>
          <p:cNvSpPr txBox="1"/>
          <p:nvPr/>
        </p:nvSpPr>
        <p:spPr>
          <a:xfrm>
            <a:off x="3155752" y="1029081"/>
            <a:ext cx="3975497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힘줄에도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6" name="텍스트: 감당할 수 있는"/>
          <p:cNvSpPr txBox="1"/>
          <p:nvPr/>
        </p:nvSpPr>
        <p:spPr>
          <a:xfrm>
            <a:off x="2251621" y="1989171"/>
            <a:ext cx="5783610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감당할 수 있는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7" name="텍스트: 부하가 있습니다"/>
          <p:cNvSpPr txBox="1"/>
          <p:nvPr/>
        </p:nvSpPr>
        <p:spPr>
          <a:xfrm>
            <a:off x="1995636" y="2949261"/>
            <a:ext cx="6295727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부하</a:t>
            </a: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가 있습니다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8" name="텍스트: 앗! 통증?!"/>
          <p:cNvSpPr txBox="1"/>
          <p:nvPr/>
        </p:nvSpPr>
        <p:spPr>
          <a:xfrm>
            <a:off x="4133850" y="4446181"/>
            <a:ext cx="2715518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000" b="0" i="0" spc="-90" kern="0" dirty="0">
                <a:solidFill>
                  <a:srgbClr val="FFFFFF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앗! 통증?!</a:t>
            </a:r>
            <a:endParaRPr lang="ko-KR" altLang="en-US" sz="3000" b="0" i="0" spc="-90" kern="0" dirty="0">
              <a:solidFill>
                <a:srgbClr val="FFFFFF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9" name="텍스트: 컵 = 감당할 수 있는 능력"/>
          <p:cNvSpPr txBox="1"/>
          <p:nvPr/>
        </p:nvSpPr>
        <p:spPr>
          <a:xfrm>
            <a:off x="751433" y="7291870"/>
            <a:ext cx="4554885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컵 = 감당할 수 있는 능력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0" name="텍스트: 물 = 운동 부하"/>
          <p:cNvSpPr txBox="1"/>
          <p:nvPr/>
        </p:nvSpPr>
        <p:spPr>
          <a:xfrm>
            <a:off x="1457771" y="7771840"/>
            <a:ext cx="3142208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물 = 운동 부하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1" name="텍스트: 점프·강도·빈도가"/>
          <p:cNvSpPr txBox="1"/>
          <p:nvPr/>
        </p:nvSpPr>
        <p:spPr>
          <a:xfrm>
            <a:off x="5510659" y="7291870"/>
            <a:ext cx="3494633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점프·강도·빈도가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2" name="텍스트: 갑자기 늘면"/>
          <p:cNvSpPr txBox="1"/>
          <p:nvPr/>
        </p:nvSpPr>
        <p:spPr>
          <a:xfrm>
            <a:off x="5870228" y="7771840"/>
            <a:ext cx="2775347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0879D8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갑자기</a:t>
            </a: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 늘면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3" name="텍스트: 운동량이나 강도가 갑자기 늘면"/>
          <p:cNvSpPr txBox="1"/>
          <p:nvPr/>
        </p:nvSpPr>
        <p:spPr>
          <a:xfrm>
            <a:off x="1956792" y="8608808"/>
            <a:ext cx="6373416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운동량이나 강도가 갑자기 늘면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4" name="텍스트: 감당 능력을 넘어설 수 있습니다."/>
          <p:cNvSpPr txBox="1"/>
          <p:nvPr/>
        </p:nvSpPr>
        <p:spPr>
          <a:xfrm>
            <a:off x="1843832" y="9203823"/>
            <a:ext cx="6599337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감당 능력을 넘어설 수 있습니다.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5" name="텍스트: 문제는 운동 자체보다"/>
          <p:cNvSpPr txBox="1"/>
          <p:nvPr/>
        </p:nvSpPr>
        <p:spPr>
          <a:xfrm>
            <a:off x="2788593" y="10046488"/>
            <a:ext cx="4709666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99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문제는 운동 자체보다</a:t>
            </a:r>
            <a:endParaRPr lang="ko-KR" altLang="en-US" sz="3300" b="0" i="0" spc="-99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16" name="텍스트: 갑작스러운 증가일 수 있습니다"/>
          <p:cNvSpPr txBox="1"/>
          <p:nvPr/>
        </p:nvSpPr>
        <p:spPr>
          <a:xfrm>
            <a:off x="1990279" y="10591199"/>
            <a:ext cx="6306443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99" kern="0" dirty="0">
                <a:solidFill>
                  <a:srgbClr val="0879D8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갑작스러운 증가</a:t>
            </a:r>
            <a:r>
              <a:rPr lang="ko-KR" altLang="en-US" sz="3300" b="0" i="0" spc="-99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일 수 있습니다</a:t>
            </a:r>
            <a:endParaRPr lang="ko-KR" altLang="en-US" sz="3300" b="0" i="0" spc="-99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17" name="텍스트: 참고: Cook et al., Br J Sp"/>
          <p:cNvSpPr txBox="1"/>
          <p:nvPr/>
        </p:nvSpPr>
        <p:spPr>
          <a:xfrm>
            <a:off x="2010073" y="11356509"/>
            <a:ext cx="6266855" cy="34290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250" b="0" i="0" spc="-22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참고: Cook et al., Br J Sports Med 2016</a:t>
            </a:r>
            <a:endParaRPr lang="ko-KR" altLang="en-US" sz="2250" b="0" i="0" spc="-22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사진" descr="작은 컵에서 큰 컵으로, 물도 넘치지 않게 조금씩 늘어나는 그림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780"/>
            <a:ext cx="8458200" cy="4000500"/>
          </a:xfrm>
          <a:prstGeom prst="rect">
            <a:avLst/>
          </a:prstGeom>
        </p:spPr>
      </p:pic>
      <p:sp>
        <p:nvSpPr>
          <p:cNvPr id="3" name="B01 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D0DCE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4" name="텍스트: 힘줄 재활의 핵심은"/>
          <p:cNvSpPr txBox="1"/>
          <p:nvPr/>
        </p:nvSpPr>
        <p:spPr>
          <a:xfrm>
            <a:off x="1543496" y="1029081"/>
            <a:ext cx="7199858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힘줄 재활의 핵심은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5" name="텍스트: 점진적인 부하입니다"/>
          <p:cNvSpPr txBox="1"/>
          <p:nvPr/>
        </p:nvSpPr>
        <p:spPr>
          <a:xfrm>
            <a:off x="1287512" y="1989171"/>
            <a:ext cx="7711976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점진적인 부하</a:t>
            </a: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입니다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6" name="텍스트: 컵이 커지는 것 = 감당 능력이 늘어나는 것"/>
          <p:cNvSpPr txBox="1"/>
          <p:nvPr/>
        </p:nvSpPr>
        <p:spPr>
          <a:xfrm>
            <a:off x="1696641" y="7455729"/>
            <a:ext cx="6893570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컵이 커지는 것 = 감당 능력이 늘어나는 것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7" name="텍스트: 힘줄은 부하에 적응하는 조직입니다."/>
          <p:cNvSpPr txBox="1"/>
          <p:nvPr/>
        </p:nvSpPr>
        <p:spPr>
          <a:xfrm>
            <a:off x="1521023" y="8330797"/>
            <a:ext cx="7244804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힘줄은 부하에 적응하는 조직입니다.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8" name="텍스트: 감당 가능한 운동부터 단계적으로!"/>
          <p:cNvSpPr txBox="1"/>
          <p:nvPr/>
        </p:nvSpPr>
        <p:spPr>
          <a:xfrm>
            <a:off x="1700212" y="8925812"/>
            <a:ext cx="6886426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감당 가능한 운동부터 단계적으로!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9" name="텍스트: 무조건 쉬기보다,"/>
          <p:cNvSpPr txBox="1"/>
          <p:nvPr/>
        </p:nvSpPr>
        <p:spPr>
          <a:xfrm>
            <a:off x="3149054" y="9844677"/>
            <a:ext cx="3988743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99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무조건 쉬기보다,</a:t>
            </a:r>
            <a:endParaRPr lang="ko-KR" altLang="en-US" sz="3300" b="0" i="0" spc="-99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10" name="텍스트: 감당 가능한 부하부터"/>
          <p:cNvSpPr txBox="1"/>
          <p:nvPr/>
        </p:nvSpPr>
        <p:spPr>
          <a:xfrm>
            <a:off x="2788593" y="10389388"/>
            <a:ext cx="4709666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99" kern="0" dirty="0">
                <a:solidFill>
                  <a:srgbClr val="0879D8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감당 가능한 부하</a:t>
            </a:r>
            <a:r>
              <a:rPr lang="ko-KR" altLang="en-US" sz="3300" b="0" i="0" spc="-99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부터</a:t>
            </a:r>
            <a:endParaRPr lang="ko-KR" altLang="en-US" sz="3300" b="0" i="0" spc="-99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11" name="텍스트: 참고: Cook 2016 · Kongsgaa"/>
          <p:cNvSpPr txBox="1"/>
          <p:nvPr/>
        </p:nvSpPr>
        <p:spPr>
          <a:xfrm>
            <a:off x="1380976" y="11154698"/>
            <a:ext cx="7525048" cy="34290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250" b="0" i="0" spc="-22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참고: Cook 2016 · Kongsgaard 2009 · Breda 2021</a:t>
            </a:r>
            <a:endParaRPr lang="ko-KR" altLang="en-US" sz="2250" b="0" i="0" spc="-22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연한 박스"/>
          <p:cNvSpPr/>
          <p:nvPr/>
        </p:nvSpPr>
        <p:spPr>
          <a:xfrm>
            <a:off x="4457700" y="5438031"/>
            <a:ext cx="1104900" cy="495300"/>
          </a:xfrm>
          <a:prstGeom prst="roundRect">
            <a:avLst>
              <a:gd name="adj" fmla="val 15385"/>
            </a:avLst>
          </a:prstGeom>
          <a:solidFill>
            <a:srgbClr val="C9D9E6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3" name="연한 박스"/>
          <p:cNvSpPr/>
          <p:nvPr/>
        </p:nvSpPr>
        <p:spPr>
          <a:xfrm>
            <a:off x="4457700" y="6180981"/>
            <a:ext cx="2009775" cy="495300"/>
          </a:xfrm>
          <a:prstGeom prst="roundRect">
            <a:avLst>
              <a:gd name="adj" fmla="val 15385"/>
            </a:avLst>
          </a:prstGeom>
          <a:solidFill>
            <a:srgbClr val="C9D9E6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4" name="연한 박스"/>
          <p:cNvSpPr/>
          <p:nvPr/>
        </p:nvSpPr>
        <p:spPr>
          <a:xfrm>
            <a:off x="4457700" y="6923931"/>
            <a:ext cx="2124075" cy="495300"/>
          </a:xfrm>
          <a:prstGeom prst="roundRect">
            <a:avLst>
              <a:gd name="adj" fmla="val 15385"/>
            </a:avLst>
          </a:prstGeom>
          <a:solidFill>
            <a:srgbClr val="C9D9E6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5" name="연한 박스"/>
          <p:cNvSpPr/>
          <p:nvPr/>
        </p:nvSpPr>
        <p:spPr>
          <a:xfrm>
            <a:off x="4457700" y="7666881"/>
            <a:ext cx="3524250" cy="495300"/>
          </a:xfrm>
          <a:prstGeom prst="roundRect">
            <a:avLst>
              <a:gd name="adj" fmla="val 15385"/>
            </a:avLst>
          </a:prstGeom>
          <a:solidFill>
            <a:srgbClr val="0879D8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6" name="연한 박스"/>
          <p:cNvSpPr/>
          <p:nvPr/>
        </p:nvSpPr>
        <p:spPr>
          <a:xfrm>
            <a:off x="4457700" y="8409831"/>
            <a:ext cx="3695700" cy="495300"/>
          </a:xfrm>
          <a:prstGeom prst="roundRect">
            <a:avLst>
              <a:gd name="adj" fmla="val 15385"/>
            </a:avLst>
          </a:prstGeom>
          <a:solidFill>
            <a:srgbClr val="0879D8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7" name="B01 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D0DCE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8" name="텍스트: 운동마다 힘줄이"/>
          <p:cNvSpPr txBox="1"/>
          <p:nvPr/>
        </p:nvSpPr>
        <p:spPr>
          <a:xfrm>
            <a:off x="1995488" y="1029081"/>
            <a:ext cx="6295727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운동마다 힘줄이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9" name="텍스트: 받는 부하는 다릅니다"/>
          <p:cNvSpPr txBox="1"/>
          <p:nvPr/>
        </p:nvSpPr>
        <p:spPr>
          <a:xfrm>
            <a:off x="1189434" y="1989171"/>
            <a:ext cx="7907982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받는 </a:t>
            </a:r>
            <a:r>
              <a:rPr lang="ko-KR" altLang="en-US" sz="6300" b="0" i="0" spc="-220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부하</a:t>
            </a: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는 다릅니다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10" name="텍스트: 스쿼트부터 점프까지, 운동마다"/>
          <p:cNvSpPr txBox="1"/>
          <p:nvPr/>
        </p:nvSpPr>
        <p:spPr>
          <a:xfrm>
            <a:off x="1952774" y="3278826"/>
            <a:ext cx="6381452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스쿼트부터 점프까지, 운동마다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1" name="텍스트: 힘의 크기와 증가 속도가 다릅니다."/>
          <p:cNvSpPr txBox="1"/>
          <p:nvPr/>
        </p:nvSpPr>
        <p:spPr>
          <a:xfrm>
            <a:off x="1655266" y="3873841"/>
            <a:ext cx="6976467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힘의 크기와 증가 속도가 다릅니다.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2" name="텍스트: 슬개건 부하 지수 (건강한 성인 20명)"/>
          <p:cNvSpPr txBox="1"/>
          <p:nvPr/>
        </p:nvSpPr>
        <p:spPr>
          <a:xfrm>
            <a:off x="2039243" y="4835759"/>
            <a:ext cx="6208365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슬개건 부하 지수 (건강한 성인 20명)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3" name="텍스트: 양발 60° 스쿼트"/>
          <p:cNvSpPr txBox="1"/>
          <p:nvPr/>
        </p:nvSpPr>
        <p:spPr>
          <a:xfrm>
            <a:off x="1012180" y="5492835"/>
            <a:ext cx="3347591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81" kern="0" dirty="0">
                <a:solidFill>
                  <a:srgbClr val="121416"/>
                </a:solidFill>
                <a:latin typeface="RCardnews W650" pitchFamily="34" charset="-127"/>
                <a:ea typeface="RCardnews W650" pitchFamily="34" charset="-127"/>
                <a:cs typeface="RCardnews W650" pitchFamily="34" charset="-127"/>
              </a:rPr>
              <a:t xml:space="preserve">양발 60° 스쿼트</a:t>
            </a:r>
            <a:endParaRPr lang="ko-KR" altLang="en-US" sz="2700" b="0" i="0" spc="-81" kern="0" dirty="0">
              <a:solidFill>
                <a:srgbClr val="121416"/>
              </a:solidFill>
              <a:latin typeface="RCardnews W650" pitchFamily="34" charset="-127"/>
              <a:ea typeface="RCardnews W650" pitchFamily="34" charset="-127"/>
              <a:cs typeface="RCardnews W650" pitchFamily="34" charset="-127"/>
            </a:endParaRPr>
          </a:p>
        </p:txBody>
      </p:sp>
      <p:sp>
        <p:nvSpPr>
          <p:cNvPr id="14" name="텍스트: 0.224"/>
          <p:cNvSpPr txBox="1"/>
          <p:nvPr/>
        </p:nvSpPr>
        <p:spPr>
          <a:xfrm>
            <a:off x="5148411" y="5481626"/>
            <a:ext cx="2123629" cy="4381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50" b="0" i="0" spc="0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0.224</a:t>
            </a:r>
            <a:endParaRPr lang="ko-KR" altLang="en-US" sz="2850" b="0" i="0" spc="0" kern="0" dirty="0">
              <a:solidFill>
                <a:srgbClr val="121416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  <p:sp>
        <p:nvSpPr>
          <p:cNvPr id="15" name="텍스트: 불가리안 스쿼트"/>
          <p:cNvSpPr txBox="1"/>
          <p:nvPr/>
        </p:nvSpPr>
        <p:spPr>
          <a:xfrm>
            <a:off x="1003548" y="6235785"/>
            <a:ext cx="3365004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81" kern="0" dirty="0">
                <a:solidFill>
                  <a:srgbClr val="121416"/>
                </a:solidFill>
                <a:latin typeface="RCardnews W650" pitchFamily="34" charset="-127"/>
                <a:ea typeface="RCardnews W650" pitchFamily="34" charset="-127"/>
                <a:cs typeface="RCardnews W650" pitchFamily="34" charset="-127"/>
              </a:rPr>
              <a:t xml:space="preserve">불가리안 스쿼트</a:t>
            </a:r>
            <a:endParaRPr lang="ko-KR" altLang="en-US" sz="2700" b="0" i="0" spc="-81" kern="0" dirty="0">
              <a:solidFill>
                <a:srgbClr val="121416"/>
              </a:solidFill>
              <a:latin typeface="RCardnews W650" pitchFamily="34" charset="-127"/>
              <a:ea typeface="RCardnews W650" pitchFamily="34" charset="-127"/>
              <a:cs typeface="RCardnews W650" pitchFamily="34" charset="-127"/>
            </a:endParaRPr>
          </a:p>
        </p:txBody>
      </p:sp>
      <p:sp>
        <p:nvSpPr>
          <p:cNvPr id="16" name="텍스트: 0.406"/>
          <p:cNvSpPr txBox="1"/>
          <p:nvPr/>
        </p:nvSpPr>
        <p:spPr>
          <a:xfrm>
            <a:off x="6053286" y="6224576"/>
            <a:ext cx="2123629" cy="4381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50" b="0" i="0" spc="0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0.406</a:t>
            </a:r>
            <a:endParaRPr lang="ko-KR" altLang="en-US" sz="2850" b="0" i="0" spc="0" kern="0" dirty="0">
              <a:solidFill>
                <a:srgbClr val="121416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  <p:sp>
        <p:nvSpPr>
          <p:cNvPr id="17" name="텍스트: 양발 풀 스쿼트"/>
          <p:cNvSpPr txBox="1"/>
          <p:nvPr/>
        </p:nvSpPr>
        <p:spPr>
          <a:xfrm>
            <a:off x="1113234" y="6978735"/>
            <a:ext cx="3145631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81" kern="0" dirty="0">
                <a:solidFill>
                  <a:srgbClr val="121416"/>
                </a:solidFill>
                <a:latin typeface="RCardnews W650" pitchFamily="34" charset="-127"/>
                <a:ea typeface="RCardnews W650" pitchFamily="34" charset="-127"/>
                <a:cs typeface="RCardnews W650" pitchFamily="34" charset="-127"/>
              </a:rPr>
              <a:t xml:space="preserve">양발 풀 스쿼트</a:t>
            </a:r>
            <a:endParaRPr lang="ko-KR" altLang="en-US" sz="2700" b="0" i="0" spc="-81" kern="0" dirty="0">
              <a:solidFill>
                <a:srgbClr val="121416"/>
              </a:solidFill>
              <a:latin typeface="RCardnews W650" pitchFamily="34" charset="-127"/>
              <a:ea typeface="RCardnews W650" pitchFamily="34" charset="-127"/>
              <a:cs typeface="RCardnews W650" pitchFamily="34" charset="-127"/>
            </a:endParaRPr>
          </a:p>
        </p:txBody>
      </p:sp>
      <p:sp>
        <p:nvSpPr>
          <p:cNvPr id="18" name="텍스트: 0.428"/>
          <p:cNvSpPr txBox="1"/>
          <p:nvPr/>
        </p:nvSpPr>
        <p:spPr>
          <a:xfrm>
            <a:off x="6167586" y="6967526"/>
            <a:ext cx="2123629" cy="4381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50" b="0" i="0" spc="0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0.428</a:t>
            </a:r>
            <a:endParaRPr lang="ko-KR" altLang="en-US" sz="2850" b="0" i="0" spc="0" kern="0" dirty="0">
              <a:solidFill>
                <a:srgbClr val="121416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  <p:sp>
        <p:nvSpPr>
          <p:cNvPr id="19" name="텍스트: 한발 반동 점프"/>
          <p:cNvSpPr txBox="1"/>
          <p:nvPr/>
        </p:nvSpPr>
        <p:spPr>
          <a:xfrm>
            <a:off x="1113234" y="7721685"/>
            <a:ext cx="3145631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81" kern="0" dirty="0">
                <a:solidFill>
                  <a:srgbClr val="121416"/>
                </a:solidFill>
                <a:latin typeface="RCardnews W650" pitchFamily="34" charset="-127"/>
                <a:ea typeface="RCardnews W650" pitchFamily="34" charset="-127"/>
                <a:cs typeface="RCardnews W650" pitchFamily="34" charset="-127"/>
              </a:rPr>
              <a:t xml:space="preserve">한발 반동 점프</a:t>
            </a:r>
            <a:endParaRPr lang="ko-KR" altLang="en-US" sz="2700" b="0" i="0" spc="-81" kern="0" dirty="0">
              <a:solidFill>
                <a:srgbClr val="121416"/>
              </a:solidFill>
              <a:latin typeface="RCardnews W650" pitchFamily="34" charset="-127"/>
              <a:ea typeface="RCardnews W650" pitchFamily="34" charset="-127"/>
              <a:cs typeface="RCardnews W650" pitchFamily="34" charset="-127"/>
            </a:endParaRPr>
          </a:p>
        </p:txBody>
      </p:sp>
      <p:sp>
        <p:nvSpPr>
          <p:cNvPr id="20" name="텍스트: 0.711"/>
          <p:cNvSpPr txBox="1"/>
          <p:nvPr/>
        </p:nvSpPr>
        <p:spPr>
          <a:xfrm>
            <a:off x="7567761" y="7710476"/>
            <a:ext cx="2123629" cy="4381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50" b="0" i="0" spc="0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0.711</a:t>
            </a:r>
            <a:endParaRPr lang="ko-KR" altLang="en-US" sz="2850" b="0" i="0" spc="0" kern="0" dirty="0">
              <a:solidFill>
                <a:srgbClr val="121416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  <p:sp>
        <p:nvSpPr>
          <p:cNvPr id="21" name="텍스트: 한발 디클라인 스쿼트"/>
          <p:cNvSpPr txBox="1"/>
          <p:nvPr/>
        </p:nvSpPr>
        <p:spPr>
          <a:xfrm>
            <a:off x="655439" y="8464635"/>
            <a:ext cx="4061222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81" kern="0" dirty="0">
                <a:solidFill>
                  <a:srgbClr val="121416"/>
                </a:solidFill>
                <a:latin typeface="RCardnews W650" pitchFamily="34" charset="-127"/>
                <a:ea typeface="RCardnews W650" pitchFamily="34" charset="-127"/>
                <a:cs typeface="RCardnews W650" pitchFamily="34" charset="-127"/>
              </a:rPr>
              <a:t xml:space="preserve">한발 디클라인 스쿼트</a:t>
            </a:r>
            <a:endParaRPr lang="ko-KR" altLang="en-US" sz="2700" b="0" i="0" spc="-81" kern="0" dirty="0">
              <a:solidFill>
                <a:srgbClr val="121416"/>
              </a:solidFill>
              <a:latin typeface="RCardnews W650" pitchFamily="34" charset="-127"/>
              <a:ea typeface="RCardnews W650" pitchFamily="34" charset="-127"/>
              <a:cs typeface="RCardnews W650" pitchFamily="34" charset="-127"/>
            </a:endParaRPr>
          </a:p>
        </p:txBody>
      </p:sp>
      <p:sp>
        <p:nvSpPr>
          <p:cNvPr id="22" name="텍스트: 0.747"/>
          <p:cNvSpPr txBox="1"/>
          <p:nvPr/>
        </p:nvSpPr>
        <p:spPr>
          <a:xfrm>
            <a:off x="7739211" y="8453426"/>
            <a:ext cx="2123629" cy="4381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50" b="0" i="0" spc="0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0.747</a:t>
            </a:r>
            <a:endParaRPr lang="ko-KR" altLang="en-US" sz="2850" b="0" i="0" spc="0" kern="0" dirty="0">
              <a:solidFill>
                <a:srgbClr val="121416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  <p:sp>
        <p:nvSpPr>
          <p:cNvPr id="23" name="텍스트: 어떤 운동이냐에 따라"/>
          <p:cNvSpPr txBox="1"/>
          <p:nvPr/>
        </p:nvSpPr>
        <p:spPr>
          <a:xfrm>
            <a:off x="2788593" y="9292227"/>
            <a:ext cx="4709666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99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어떤 운동이냐에 따라</a:t>
            </a:r>
            <a:endParaRPr lang="ko-KR" altLang="en-US" sz="3300" b="0" i="0" spc="-99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24" name="텍스트: 부하의 특성이 달라집니다"/>
          <p:cNvSpPr txBox="1"/>
          <p:nvPr/>
        </p:nvSpPr>
        <p:spPr>
          <a:xfrm>
            <a:off x="2415629" y="9836938"/>
            <a:ext cx="5455741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99" kern="0" dirty="0">
                <a:solidFill>
                  <a:srgbClr val="0879D8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부하의 특성</a:t>
            </a:r>
            <a:r>
              <a:rPr lang="ko-KR" altLang="en-US" sz="3300" b="0" i="0" spc="-99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이 달라집니다</a:t>
            </a:r>
            <a:endParaRPr lang="ko-KR" altLang="en-US" sz="3300" b="0" i="0" spc="-99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25" name="텍스트: 지수가 높다고 위험한 운동은 아닙니다"/>
          <p:cNvSpPr txBox="1"/>
          <p:nvPr/>
        </p:nvSpPr>
        <p:spPr>
          <a:xfrm>
            <a:off x="1924794" y="10500902"/>
            <a:ext cx="6437412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지수가 높다고 위험한 운동은 아닙니다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26" name="텍스트: 출처: Scattone Silva et al"/>
          <p:cNvSpPr txBox="1"/>
          <p:nvPr/>
        </p:nvSpPr>
        <p:spPr>
          <a:xfrm>
            <a:off x="1081385" y="11158418"/>
            <a:ext cx="8124081" cy="34290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250" b="0" i="0" spc="-22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출처: Scattone Silva et al., Med Sci Sports Exerc 2024</a:t>
            </a:r>
            <a:endParaRPr lang="ko-KR" altLang="en-US" sz="2250" b="0" i="0" spc="-22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사진" descr="힘의 크기 힘-시간 모식도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824710"/>
            <a:ext cx="2590800" cy="2095500"/>
          </a:xfrm>
          <a:prstGeom prst="rect">
            <a:avLst/>
          </a:prstGeom>
        </p:spPr>
      </p:pic>
      <p:pic>
        <p:nvPicPr>
          <p:cNvPr id="3" name="사진" descr="증가 속도 힘-시간 모식도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8100" y="4824710"/>
            <a:ext cx="2590800" cy="2095500"/>
          </a:xfrm>
          <a:prstGeom prst="rect">
            <a:avLst/>
          </a:prstGeom>
        </p:spPr>
      </p:pic>
      <p:pic>
        <p:nvPicPr>
          <p:cNvPr id="4" name="사진" descr="누적 부하 힘-시간 모식도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1800" y="4824710"/>
            <a:ext cx="2590800" cy="2095500"/>
          </a:xfrm>
          <a:prstGeom prst="rect">
            <a:avLst/>
          </a:prstGeom>
        </p:spPr>
      </p:pic>
      <p:sp>
        <p:nvSpPr>
          <p:cNvPr id="5" name="B01 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D0DCE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6" name="텍스트: 무게만이 운동 강도를"/>
          <p:cNvSpPr txBox="1"/>
          <p:nvPr/>
        </p:nvSpPr>
        <p:spPr>
          <a:xfrm>
            <a:off x="1189434" y="1029081"/>
            <a:ext cx="7907982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무게만이 운동 강도를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7" name="텍스트: 결정하지 않습니다"/>
          <p:cNvSpPr txBox="1"/>
          <p:nvPr/>
        </p:nvSpPr>
        <p:spPr>
          <a:xfrm>
            <a:off x="1641425" y="1989171"/>
            <a:ext cx="7003852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결정하지 않습니다</a:t>
            </a:r>
            <a:endParaRPr lang="ko-KR" altLang="en-US" sz="6300" b="0" i="0" spc="-220" kern="0" dirty="0">
              <a:solidFill>
                <a:srgbClr val="0879D8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8" name="텍스트: 힘줄이 받는 자극은 힘의 크기,"/>
          <p:cNvSpPr txBox="1"/>
          <p:nvPr/>
        </p:nvSpPr>
        <p:spPr>
          <a:xfrm>
            <a:off x="2032248" y="3278826"/>
            <a:ext cx="6222206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힘줄이 받는 자극은 힘의 크기,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9" name="텍스트: 증가 속도, 지속 시간에 따라 달라집니다."/>
          <p:cNvSpPr txBox="1"/>
          <p:nvPr/>
        </p:nvSpPr>
        <p:spPr>
          <a:xfrm>
            <a:off x="1165027" y="3873841"/>
            <a:ext cx="7956798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증가 속도, 지속 시간에 따라 달라집니다.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0" name="텍스트: 힘의 크기"/>
          <p:cNvSpPr txBox="1"/>
          <p:nvPr/>
        </p:nvSpPr>
        <p:spPr>
          <a:xfrm>
            <a:off x="912465" y="7114520"/>
            <a:ext cx="2594670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000" b="0" i="0" spc="-90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힘의 크기</a:t>
            </a:r>
            <a:endParaRPr lang="ko-KR" altLang="en-US" sz="3000" b="0" i="0" spc="-90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11" name="텍스트: 얼마나"/>
          <p:cNvSpPr txBox="1"/>
          <p:nvPr/>
        </p:nvSpPr>
        <p:spPr>
          <a:xfrm>
            <a:off x="1175296" y="7655159"/>
            <a:ext cx="2068860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얼마나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2" name="텍스트: 큰 힘?"/>
          <p:cNvSpPr txBox="1"/>
          <p:nvPr/>
        </p:nvSpPr>
        <p:spPr>
          <a:xfrm>
            <a:off x="1203871" y="8135130"/>
            <a:ext cx="2011710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큰 힘?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3" name="텍스트: 증가 속도"/>
          <p:cNvSpPr txBox="1"/>
          <p:nvPr/>
        </p:nvSpPr>
        <p:spPr>
          <a:xfrm>
            <a:off x="3846165" y="7114520"/>
            <a:ext cx="2594670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000" b="0" i="0" spc="-90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증가 속도</a:t>
            </a:r>
            <a:endParaRPr lang="ko-KR" altLang="en-US" sz="3000" b="0" i="0" spc="-90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14" name="텍스트: 얼마나"/>
          <p:cNvSpPr txBox="1"/>
          <p:nvPr/>
        </p:nvSpPr>
        <p:spPr>
          <a:xfrm>
            <a:off x="4108996" y="7655159"/>
            <a:ext cx="2068860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얼마나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5" name="텍스트: 빠르게 커지나?"/>
          <p:cNvSpPr txBox="1"/>
          <p:nvPr/>
        </p:nvSpPr>
        <p:spPr>
          <a:xfrm>
            <a:off x="3520380" y="8135130"/>
            <a:ext cx="3246090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빠르게 커지나?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6" name="텍스트: 누적 부하"/>
          <p:cNvSpPr txBox="1"/>
          <p:nvPr/>
        </p:nvSpPr>
        <p:spPr>
          <a:xfrm>
            <a:off x="6779865" y="7114520"/>
            <a:ext cx="2594670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000" b="0" i="0" spc="-90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누적 부하</a:t>
            </a:r>
            <a:endParaRPr lang="ko-KR" altLang="en-US" sz="3000" b="0" i="0" spc="-90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17" name="텍스트: 시간 동안"/>
          <p:cNvSpPr txBox="1"/>
          <p:nvPr/>
        </p:nvSpPr>
        <p:spPr>
          <a:xfrm>
            <a:off x="6843712" y="7655159"/>
            <a:ext cx="2466677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시간 동안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8" name="텍스트: 얼마나 쌓이나?"/>
          <p:cNvSpPr txBox="1"/>
          <p:nvPr/>
        </p:nvSpPr>
        <p:spPr>
          <a:xfrm>
            <a:off x="6454080" y="8135130"/>
            <a:ext cx="3246090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얼마나 쌓이나?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9" name="텍스트: 가로 = 시간, 세로 = 힘 (개념 그림)"/>
          <p:cNvSpPr txBox="1"/>
          <p:nvPr/>
        </p:nvSpPr>
        <p:spPr>
          <a:xfrm>
            <a:off x="2210842" y="8729401"/>
            <a:ext cx="5865168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가로 = 시간, 세로 = 힘 (개념 그림)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20" name="텍스트: 무게뿐 아니라 힘이 커지는 속도와"/>
          <p:cNvSpPr txBox="1"/>
          <p:nvPr/>
        </p:nvSpPr>
        <p:spPr>
          <a:xfrm>
            <a:off x="1751261" y="9585418"/>
            <a:ext cx="6784330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99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무게뿐 아니라 </a:t>
            </a:r>
            <a:r>
              <a:rPr lang="ko-KR" altLang="en-US" sz="3300" b="0" i="0" spc="-99" kern="0" dirty="0">
                <a:solidFill>
                  <a:srgbClr val="0879D8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힘이 커지는 속도</a:t>
            </a:r>
            <a:r>
              <a:rPr lang="ko-KR" altLang="en-US" sz="3300" b="0" i="0" spc="-99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와</a:t>
            </a:r>
            <a:endParaRPr lang="ko-KR" altLang="en-US" sz="3300" b="0" i="0" spc="-99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21" name="텍스트: 지속 시간도 함께 봅니다"/>
          <p:cNvSpPr txBox="1"/>
          <p:nvPr/>
        </p:nvSpPr>
        <p:spPr>
          <a:xfrm>
            <a:off x="2549723" y="10130129"/>
            <a:ext cx="5187404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99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지속 시간도 함께 봅니다</a:t>
            </a:r>
            <a:endParaRPr lang="ko-KR" altLang="en-US" sz="3300" b="0" i="0" spc="-99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22" name="텍스트: 참고: Scattone Silva et al"/>
          <p:cNvSpPr txBox="1"/>
          <p:nvPr/>
        </p:nvSpPr>
        <p:spPr>
          <a:xfrm>
            <a:off x="1081385" y="10857339"/>
            <a:ext cx="8124081" cy="34290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250" b="0" i="0" spc="-22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참고: Scattone Silva et al., Med Sci Sports Exerc 2024</a:t>
            </a:r>
            <a:endParaRPr lang="ko-KR" altLang="en-US" sz="2250" b="0" i="0" spc="-22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사진" descr="바벨을 메고 스쿼트하는 여성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748510"/>
            <a:ext cx="4114800" cy="3848100"/>
          </a:xfrm>
          <a:prstGeom prst="rect">
            <a:avLst/>
          </a:prstGeom>
        </p:spPr>
      </p:pic>
      <p:pic>
        <p:nvPicPr>
          <p:cNvPr id="3" name="사진" descr="박스 위로 점프하는 선수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4748510"/>
            <a:ext cx="4114800" cy="3848100"/>
          </a:xfrm>
          <a:prstGeom prst="rect">
            <a:avLst/>
          </a:prstGeom>
        </p:spPr>
      </p:pic>
      <p:sp>
        <p:nvSpPr>
          <p:cNvPr id="4" name="B01 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D0DCE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5" name="텍스트: 강한 힘에서"/>
          <p:cNvSpPr txBox="1"/>
          <p:nvPr/>
        </p:nvSpPr>
        <p:spPr>
          <a:xfrm>
            <a:off x="2703761" y="1029081"/>
            <a:ext cx="4879479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강한 힘에서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6" name="텍스트: 빠른 힘까지!"/>
          <p:cNvSpPr txBox="1"/>
          <p:nvPr/>
        </p:nvSpPr>
        <p:spPr>
          <a:xfrm>
            <a:off x="2560886" y="1989171"/>
            <a:ext cx="5165229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빠른 힘</a:t>
            </a: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까지!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7" name="텍스트: 근력을 회복한 뒤에는 점프·착지처럼"/>
          <p:cNvSpPr txBox="1"/>
          <p:nvPr/>
        </p:nvSpPr>
        <p:spPr>
          <a:xfrm>
            <a:off x="1521023" y="3278826"/>
            <a:ext cx="7244804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근력을 회복한 뒤에는 점프·착지처럼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8" name="텍스트: 빠르고 반복적인 부하에도 적응합니다."/>
          <p:cNvSpPr txBox="1"/>
          <p:nvPr/>
        </p:nvSpPr>
        <p:spPr>
          <a:xfrm>
            <a:off x="1332458" y="3873841"/>
            <a:ext cx="7621935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빠르고 반복적인 부하에도 적응합니다.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9" name="텍스트: 천천히, 높은 힘"/>
          <p:cNvSpPr txBox="1"/>
          <p:nvPr/>
        </p:nvSpPr>
        <p:spPr>
          <a:xfrm>
            <a:off x="1111448" y="8793206"/>
            <a:ext cx="3720554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99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천천히, 높은 힘</a:t>
            </a:r>
            <a:endParaRPr lang="ko-KR" altLang="en-US" sz="3300" b="0" i="0" spc="-99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10" name="텍스트: 최대 근력 · 저항운동"/>
          <p:cNvSpPr txBox="1"/>
          <p:nvPr/>
        </p:nvSpPr>
        <p:spPr>
          <a:xfrm>
            <a:off x="984200" y="9342870"/>
            <a:ext cx="3975050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최대 근력 · 저항운동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1" name="텍스트: 빠르게, 반복적으로"/>
          <p:cNvSpPr txBox="1"/>
          <p:nvPr/>
        </p:nvSpPr>
        <p:spPr>
          <a:xfrm>
            <a:off x="5134273" y="8793206"/>
            <a:ext cx="4361706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99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빠르게, 반복적으로</a:t>
            </a:r>
            <a:endParaRPr lang="ko-KR" altLang="en-US" sz="3300" b="0" i="0" spc="-99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12" name="텍스트: 빠른 부하 · 스포츠 동작"/>
          <p:cNvSpPr txBox="1"/>
          <p:nvPr/>
        </p:nvSpPr>
        <p:spPr>
          <a:xfrm>
            <a:off x="5128766" y="9342870"/>
            <a:ext cx="4372868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빠른 부하 · 스포츠 동작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3" name="텍스트: 근력이 좋아져도 점프 능력이"/>
          <p:cNvSpPr txBox="1"/>
          <p:nvPr/>
        </p:nvSpPr>
        <p:spPr>
          <a:xfrm>
            <a:off x="2176760" y="10160788"/>
            <a:ext cx="5933331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99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근력이 좋아져도 점프 능력이</a:t>
            </a:r>
            <a:endParaRPr lang="ko-KR" altLang="en-US" sz="3300" b="0" i="0" spc="-99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14" name="텍스트: 저절로 돌아오지는 않습니다"/>
          <p:cNvSpPr txBox="1"/>
          <p:nvPr/>
        </p:nvSpPr>
        <p:spPr>
          <a:xfrm>
            <a:off x="2228999" y="10705499"/>
            <a:ext cx="5828705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99" kern="0" dirty="0">
                <a:solidFill>
                  <a:srgbClr val="0879D8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저절로</a:t>
            </a:r>
            <a:r>
              <a:rPr lang="ko-KR" altLang="en-US" sz="3300" b="0" i="0" spc="-99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 돌아오지는 않습니다</a:t>
            </a:r>
            <a:endParaRPr lang="ko-KR" altLang="en-US" sz="3300" b="0" i="0" spc="-99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15" name="텍스트: 참고: Breda et al., Br J S"/>
          <p:cNvSpPr txBox="1"/>
          <p:nvPr/>
        </p:nvSpPr>
        <p:spPr>
          <a:xfrm>
            <a:off x="1957090" y="11432709"/>
            <a:ext cx="6372671" cy="34290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250" b="0" i="0" spc="-22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참고: Breda et al., Br J Sports Med 2021</a:t>
            </a:r>
            <a:endParaRPr lang="ko-KR" altLang="en-US" sz="2250" b="0" i="0" spc="-22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연한 박스"/>
          <p:cNvSpPr/>
          <p:nvPr/>
        </p:nvSpPr>
        <p:spPr>
          <a:xfrm>
            <a:off x="914400" y="6143625"/>
            <a:ext cx="716905" cy="685800"/>
          </a:xfrm>
          <a:prstGeom prst="roundRect">
            <a:avLst>
              <a:gd name="adj" fmla="val 11111"/>
            </a:avLst>
          </a:prstGeom>
          <a:solidFill>
            <a:srgbClr val="CFE6F8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3" name="연한 박스"/>
          <p:cNvSpPr/>
          <p:nvPr/>
        </p:nvSpPr>
        <p:spPr>
          <a:xfrm>
            <a:off x="1688455" y="6143625"/>
            <a:ext cx="716905" cy="685800"/>
          </a:xfrm>
          <a:prstGeom prst="roundRect">
            <a:avLst>
              <a:gd name="adj" fmla="val 11111"/>
            </a:avLst>
          </a:prstGeom>
          <a:solidFill>
            <a:srgbClr val="CFE6F8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4" name="연한 박스"/>
          <p:cNvSpPr/>
          <p:nvPr/>
        </p:nvSpPr>
        <p:spPr>
          <a:xfrm>
            <a:off x="2462510" y="6143625"/>
            <a:ext cx="716905" cy="685800"/>
          </a:xfrm>
          <a:prstGeom prst="roundRect">
            <a:avLst>
              <a:gd name="adj" fmla="val 11111"/>
            </a:avLst>
          </a:prstGeom>
          <a:solidFill>
            <a:srgbClr val="CFE6F8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5" name="연한 박스"/>
          <p:cNvSpPr/>
          <p:nvPr/>
        </p:nvSpPr>
        <p:spPr>
          <a:xfrm>
            <a:off x="3236565" y="6143625"/>
            <a:ext cx="716905" cy="685800"/>
          </a:xfrm>
          <a:prstGeom prst="roundRect">
            <a:avLst>
              <a:gd name="adj" fmla="val 11111"/>
            </a:avLst>
          </a:prstGeom>
          <a:solidFill>
            <a:srgbClr val="CFE6F8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6" name="연한 박스"/>
          <p:cNvSpPr/>
          <p:nvPr/>
        </p:nvSpPr>
        <p:spPr>
          <a:xfrm>
            <a:off x="4010620" y="6143625"/>
            <a:ext cx="716905" cy="685800"/>
          </a:xfrm>
          <a:prstGeom prst="roundRect">
            <a:avLst>
              <a:gd name="adj" fmla="val 11111"/>
            </a:avLst>
          </a:prstGeom>
          <a:solidFill>
            <a:srgbClr val="E8EDF1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7" name="연한 박스"/>
          <p:cNvSpPr/>
          <p:nvPr/>
        </p:nvSpPr>
        <p:spPr>
          <a:xfrm>
            <a:off x="4784675" y="6143625"/>
            <a:ext cx="716905" cy="685800"/>
          </a:xfrm>
          <a:prstGeom prst="roundRect">
            <a:avLst>
              <a:gd name="adj" fmla="val 11111"/>
            </a:avLst>
          </a:prstGeom>
          <a:solidFill>
            <a:srgbClr val="E8EDF1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8" name="연한 박스"/>
          <p:cNvSpPr/>
          <p:nvPr/>
        </p:nvSpPr>
        <p:spPr>
          <a:xfrm>
            <a:off x="5558730" y="6143625"/>
            <a:ext cx="716905" cy="685800"/>
          </a:xfrm>
          <a:prstGeom prst="roundRect">
            <a:avLst>
              <a:gd name="adj" fmla="val 11111"/>
            </a:avLst>
          </a:prstGeom>
          <a:solidFill>
            <a:srgbClr val="E8EDF1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9" name="연한 박스"/>
          <p:cNvSpPr/>
          <p:nvPr/>
        </p:nvSpPr>
        <p:spPr>
          <a:xfrm>
            <a:off x="6332786" y="6143625"/>
            <a:ext cx="716905" cy="685800"/>
          </a:xfrm>
          <a:prstGeom prst="roundRect">
            <a:avLst>
              <a:gd name="adj" fmla="val 11111"/>
            </a:avLst>
          </a:prstGeom>
          <a:solidFill>
            <a:srgbClr val="E8EDF1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10" name="연한 박스"/>
          <p:cNvSpPr/>
          <p:nvPr/>
        </p:nvSpPr>
        <p:spPr>
          <a:xfrm>
            <a:off x="7106841" y="6143625"/>
            <a:ext cx="716905" cy="685800"/>
          </a:xfrm>
          <a:prstGeom prst="roundRect">
            <a:avLst>
              <a:gd name="adj" fmla="val 11111"/>
            </a:avLst>
          </a:prstGeom>
          <a:solidFill>
            <a:srgbClr val="E8EDF1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11" name="연한 박스"/>
          <p:cNvSpPr/>
          <p:nvPr/>
        </p:nvSpPr>
        <p:spPr>
          <a:xfrm>
            <a:off x="7880896" y="6143625"/>
            <a:ext cx="716905" cy="685800"/>
          </a:xfrm>
          <a:prstGeom prst="roundRect">
            <a:avLst>
              <a:gd name="adj" fmla="val 11111"/>
            </a:avLst>
          </a:prstGeom>
          <a:solidFill>
            <a:srgbClr val="E8EDF1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12" name="연한 박스"/>
          <p:cNvSpPr/>
          <p:nvPr/>
        </p:nvSpPr>
        <p:spPr>
          <a:xfrm>
            <a:off x="8654951" y="6143625"/>
            <a:ext cx="716905" cy="685800"/>
          </a:xfrm>
          <a:prstGeom prst="roundRect">
            <a:avLst>
              <a:gd name="adj" fmla="val 11111"/>
            </a:avLst>
          </a:prstGeom>
          <a:solidFill>
            <a:srgbClr val="E8EDF1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13" name="B01 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D0DCE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14" name="텍스트: 그럼 운동 강도는"/>
          <p:cNvSpPr txBox="1"/>
          <p:nvPr/>
        </p:nvSpPr>
        <p:spPr>
          <a:xfrm>
            <a:off x="1897559" y="1029081"/>
            <a:ext cx="6491734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그럼 운동 강도는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15" name="텍스트: 언제 높여야 할까요?"/>
          <p:cNvSpPr txBox="1"/>
          <p:nvPr/>
        </p:nvSpPr>
        <p:spPr>
          <a:xfrm>
            <a:off x="1344662" y="1989171"/>
            <a:ext cx="7597527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언제</a:t>
            </a: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 높여야 할까요?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16" name="텍스트: ① 지금 운동을 안정적으로 하는가?"/>
          <p:cNvSpPr txBox="1"/>
          <p:nvPr/>
        </p:nvSpPr>
        <p:spPr>
          <a:xfrm>
            <a:off x="1597819" y="3431226"/>
            <a:ext cx="7091362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① 지금 운동을 안정적으로 하는가?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7" name="텍스트: ② 운동 중 통증이 관리 가능한가?"/>
          <p:cNvSpPr txBox="1"/>
          <p:nvPr/>
        </p:nvSpPr>
        <p:spPr>
          <a:xfrm>
            <a:off x="1731913" y="4273891"/>
            <a:ext cx="6823174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② 운동 중 통증이 관리 가능한가?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8" name="텍스트: ③ 다음 날 증상이 나빠지지 않는가?"/>
          <p:cNvSpPr txBox="1"/>
          <p:nvPr/>
        </p:nvSpPr>
        <p:spPr>
          <a:xfrm>
            <a:off x="1543348" y="5116556"/>
            <a:ext cx="7200305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③ 다음 날 증상이 나빠지지 않는가?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9" name="텍스트: 0"/>
          <p:cNvSpPr txBox="1"/>
          <p:nvPr/>
        </p:nvSpPr>
        <p:spPr>
          <a:xfrm>
            <a:off x="611386" y="6323838"/>
            <a:ext cx="1322933" cy="3619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400" b="0" i="0" spc="0" kern="0" dirty="0">
                <a:solidFill>
                  <a:srgbClr val="121416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0</a:t>
            </a:r>
            <a:endParaRPr lang="ko-KR" altLang="en-US" sz="2400" b="0" i="0" spc="0" kern="0" dirty="0">
              <a:solidFill>
                <a:srgbClr val="121416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  <p:sp>
        <p:nvSpPr>
          <p:cNvPr id="20" name="텍스트: 1"/>
          <p:cNvSpPr txBox="1"/>
          <p:nvPr/>
        </p:nvSpPr>
        <p:spPr>
          <a:xfrm>
            <a:off x="1385441" y="6323838"/>
            <a:ext cx="1322933" cy="3619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400" b="0" i="0" spc="0" kern="0" dirty="0">
                <a:solidFill>
                  <a:srgbClr val="121416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1</a:t>
            </a:r>
            <a:endParaRPr lang="ko-KR" altLang="en-US" sz="2400" b="0" i="0" spc="0" kern="0" dirty="0">
              <a:solidFill>
                <a:srgbClr val="121416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  <p:sp>
        <p:nvSpPr>
          <p:cNvPr id="21" name="텍스트: 2"/>
          <p:cNvSpPr txBox="1"/>
          <p:nvPr/>
        </p:nvSpPr>
        <p:spPr>
          <a:xfrm>
            <a:off x="2159496" y="6323838"/>
            <a:ext cx="1322933" cy="3619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400" b="0" i="0" spc="0" kern="0" dirty="0">
                <a:solidFill>
                  <a:srgbClr val="121416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2</a:t>
            </a:r>
            <a:endParaRPr lang="ko-KR" altLang="en-US" sz="2400" b="0" i="0" spc="0" kern="0" dirty="0">
              <a:solidFill>
                <a:srgbClr val="121416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  <p:sp>
        <p:nvSpPr>
          <p:cNvPr id="22" name="텍스트: 3"/>
          <p:cNvSpPr txBox="1"/>
          <p:nvPr/>
        </p:nvSpPr>
        <p:spPr>
          <a:xfrm>
            <a:off x="2933551" y="6323838"/>
            <a:ext cx="1322933" cy="3619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400" b="0" i="0" spc="0" kern="0" dirty="0">
                <a:solidFill>
                  <a:srgbClr val="121416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3</a:t>
            </a:r>
            <a:endParaRPr lang="ko-KR" altLang="en-US" sz="2400" b="0" i="0" spc="0" kern="0" dirty="0">
              <a:solidFill>
                <a:srgbClr val="121416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  <p:sp>
        <p:nvSpPr>
          <p:cNvPr id="23" name="텍스트: 4"/>
          <p:cNvSpPr txBox="1"/>
          <p:nvPr/>
        </p:nvSpPr>
        <p:spPr>
          <a:xfrm>
            <a:off x="3707606" y="6323838"/>
            <a:ext cx="1322933" cy="3619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400" b="0" i="0" spc="0" kern="0" dirty="0">
                <a:solidFill>
                  <a:srgbClr val="121416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4</a:t>
            </a:r>
            <a:endParaRPr lang="ko-KR" altLang="en-US" sz="2400" b="0" i="0" spc="0" kern="0" dirty="0">
              <a:solidFill>
                <a:srgbClr val="121416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  <p:sp>
        <p:nvSpPr>
          <p:cNvPr id="24" name="텍스트: 5"/>
          <p:cNvSpPr txBox="1"/>
          <p:nvPr/>
        </p:nvSpPr>
        <p:spPr>
          <a:xfrm>
            <a:off x="4481661" y="6323838"/>
            <a:ext cx="1322933" cy="3619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400" b="0" i="0" spc="0" kern="0" dirty="0">
                <a:solidFill>
                  <a:srgbClr val="121416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5</a:t>
            </a:r>
            <a:endParaRPr lang="ko-KR" altLang="en-US" sz="2400" b="0" i="0" spc="0" kern="0" dirty="0">
              <a:solidFill>
                <a:srgbClr val="121416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  <p:sp>
        <p:nvSpPr>
          <p:cNvPr id="25" name="텍스트: 6"/>
          <p:cNvSpPr txBox="1"/>
          <p:nvPr/>
        </p:nvSpPr>
        <p:spPr>
          <a:xfrm>
            <a:off x="5255716" y="6323838"/>
            <a:ext cx="1322933" cy="3619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400" b="0" i="0" spc="0" kern="0" dirty="0">
                <a:solidFill>
                  <a:srgbClr val="121416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6</a:t>
            </a:r>
            <a:endParaRPr lang="ko-KR" altLang="en-US" sz="2400" b="0" i="0" spc="0" kern="0" dirty="0">
              <a:solidFill>
                <a:srgbClr val="121416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  <p:sp>
        <p:nvSpPr>
          <p:cNvPr id="26" name="텍스트: 7"/>
          <p:cNvSpPr txBox="1"/>
          <p:nvPr/>
        </p:nvSpPr>
        <p:spPr>
          <a:xfrm>
            <a:off x="6029771" y="6323838"/>
            <a:ext cx="1322933" cy="3619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400" b="0" i="0" spc="0" kern="0" dirty="0">
                <a:solidFill>
                  <a:srgbClr val="121416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7</a:t>
            </a:r>
            <a:endParaRPr lang="ko-KR" altLang="en-US" sz="2400" b="0" i="0" spc="0" kern="0" dirty="0">
              <a:solidFill>
                <a:srgbClr val="121416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  <p:sp>
        <p:nvSpPr>
          <p:cNvPr id="27" name="텍스트: 8"/>
          <p:cNvSpPr txBox="1"/>
          <p:nvPr/>
        </p:nvSpPr>
        <p:spPr>
          <a:xfrm>
            <a:off x="6803827" y="6323838"/>
            <a:ext cx="1322933" cy="3619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400" b="0" i="0" spc="0" kern="0" dirty="0">
                <a:solidFill>
                  <a:srgbClr val="121416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8</a:t>
            </a:r>
            <a:endParaRPr lang="ko-KR" altLang="en-US" sz="2400" b="0" i="0" spc="0" kern="0" dirty="0">
              <a:solidFill>
                <a:srgbClr val="121416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  <p:sp>
        <p:nvSpPr>
          <p:cNvPr id="28" name="텍스트: 9"/>
          <p:cNvSpPr txBox="1"/>
          <p:nvPr/>
        </p:nvSpPr>
        <p:spPr>
          <a:xfrm>
            <a:off x="7577882" y="6323838"/>
            <a:ext cx="1322933" cy="3619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400" b="0" i="0" spc="0" kern="0" dirty="0">
                <a:solidFill>
                  <a:srgbClr val="121416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9</a:t>
            </a:r>
            <a:endParaRPr lang="ko-KR" altLang="en-US" sz="2400" b="0" i="0" spc="0" kern="0" dirty="0">
              <a:solidFill>
                <a:srgbClr val="121416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  <p:sp>
        <p:nvSpPr>
          <p:cNvPr id="29" name="텍스트: 10"/>
          <p:cNvSpPr txBox="1"/>
          <p:nvPr/>
        </p:nvSpPr>
        <p:spPr>
          <a:xfrm>
            <a:off x="8262045" y="6323838"/>
            <a:ext cx="1502718" cy="3619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400" b="0" i="0" spc="0" kern="0" dirty="0">
                <a:solidFill>
                  <a:srgbClr val="121416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10</a:t>
            </a:r>
            <a:endParaRPr lang="ko-KR" altLang="en-US" sz="2400" b="0" i="0" spc="0" kern="0" dirty="0">
              <a:solidFill>
                <a:srgbClr val="121416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  <p:sp>
        <p:nvSpPr>
          <p:cNvPr id="30" name="텍스트: 연구 예시: 한발 스쿼트 통증 3/10 이하"/>
          <p:cNvSpPr txBox="1"/>
          <p:nvPr/>
        </p:nvSpPr>
        <p:spPr>
          <a:xfrm>
            <a:off x="1844278" y="7050024"/>
            <a:ext cx="6598295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연구 예시: 한발 스쿼트 통증 </a:t>
            </a:r>
            <a:r>
              <a:rPr lang="ko-KR" altLang="en-US" sz="2700" b="0" i="0" spc="-54" kern="0" dirty="0">
                <a:solidFill>
                  <a:srgbClr val="0879D8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3/10 이하</a:t>
            </a: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,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31" name="텍스트: 한 단계 최소 1주 수행 후 다음 단계"/>
          <p:cNvSpPr txBox="1"/>
          <p:nvPr/>
        </p:nvSpPr>
        <p:spPr>
          <a:xfrm>
            <a:off x="2159496" y="7529995"/>
            <a:ext cx="5967710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한 단계 최소 1주 수행 후 다음 단계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32" name="텍스트: 중량·범위·속도·반복량을 조금씩 ↑"/>
          <p:cNvSpPr txBox="1"/>
          <p:nvPr/>
        </p:nvSpPr>
        <p:spPr>
          <a:xfrm>
            <a:off x="1644402" y="8462212"/>
            <a:ext cx="6998047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99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중량·범위·속도·반복량을 </a:t>
            </a:r>
            <a:r>
              <a:rPr lang="ko-KR" altLang="en-US" sz="3300" b="0" i="0" spc="-99" kern="0" dirty="0">
                <a:solidFill>
                  <a:srgbClr val="0879D8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조금씩 ↑</a:t>
            </a:r>
            <a:endParaRPr lang="ko-KR" altLang="en-US" sz="3300" b="0" i="0" spc="-99" kern="0" dirty="0">
              <a:solidFill>
                <a:srgbClr val="0879D8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33" name="텍스트: 재활의 목표는 통증 감소를 넘어"/>
          <p:cNvSpPr txBox="1"/>
          <p:nvPr/>
        </p:nvSpPr>
        <p:spPr>
          <a:xfrm>
            <a:off x="1458962" y="9544895"/>
            <a:ext cx="7368927" cy="5905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900" b="0" i="0" spc="-117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재활의 목표는 통증 감소를 넘어</a:t>
            </a:r>
            <a:endParaRPr lang="ko-KR" altLang="en-US" sz="3900" b="0" i="0" spc="-117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34" name="텍스트: 다시 뛰고 점프하는 것입니다"/>
          <p:cNvSpPr txBox="1"/>
          <p:nvPr/>
        </p:nvSpPr>
        <p:spPr>
          <a:xfrm>
            <a:off x="1741140" y="10188726"/>
            <a:ext cx="6804422" cy="5905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900" b="0" i="0" spc="-117" kern="0" dirty="0">
                <a:solidFill>
                  <a:srgbClr val="0879D8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다시 뛰고 점프하는 것</a:t>
            </a:r>
            <a:r>
              <a:rPr lang="ko-KR" altLang="en-US" sz="3900" b="0" i="0" spc="-117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입니다</a:t>
            </a:r>
            <a:endParaRPr lang="ko-KR" altLang="en-US" sz="3900" b="0" i="0" spc="-117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35" name="텍스트: 참고: Breda 2021 (모든 사람의 기"/>
          <p:cNvSpPr txBox="1"/>
          <p:nvPr/>
        </p:nvSpPr>
        <p:spPr>
          <a:xfrm>
            <a:off x="1922711" y="10991433"/>
            <a:ext cx="6441579" cy="34290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250" b="0" i="0" spc="-22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참고: Breda 2021 (모든 사람의 기준은 아님)</a:t>
            </a:r>
            <a:endParaRPr lang="ko-KR" altLang="en-US" sz="2250" b="0" i="0" spc="-22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Cardnews">
  <a:themeElements>
    <a:clrScheme name="RCardnews">
      <a:dk1>
        <a:srgbClr val="121416"/>
      </a:dk1>
      <a:lt1>
        <a:srgbClr val="FFFFFF"/>
      </a:lt1>
      <a:dk2>
        <a:srgbClr val="5E6570"/>
      </a:dk2>
      <a:lt2>
        <a:srgbClr val="F0F7FC"/>
      </a:lt2>
      <a:accent1>
        <a:srgbClr val="0879D8"/>
      </a:accent1>
      <a:accent2>
        <a:srgbClr val="CC414A"/>
      </a:accent2>
      <a:accent3>
        <a:srgbClr val="D0DCE5"/>
      </a:accent3>
      <a:accent4>
        <a:srgbClr val="5E6570"/>
      </a:accent4>
      <a:accent5>
        <a:srgbClr val="F0F7FC"/>
      </a:accent5>
      <a:accent6>
        <a:srgbClr val="121416"/>
      </a:accent6>
      <a:hlink>
        <a:srgbClr val="0879D8"/>
      </a:hlink>
      <a:folHlink>
        <a:srgbClr val="5E6570"/>
      </a:folHlink>
    </a:clrScheme>
    <a:fontScheme name="RCardnews">
      <a:majorFont>
        <a:latin typeface="RCardnews W850"/>
        <a:ea typeface="RCardnews W850"/>
        <a:cs typeface="RCardnews W850"/>
      </a:majorFont>
      <a:minorFont>
        <a:latin typeface="RCardnews W500"/>
        <a:ea typeface="RCardnews W500"/>
        <a:cs typeface="RCardnews W500"/>
      </a:minorFont>
    </a:fontScheme>
    <a:fmtScheme name="RCardnew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Office PowerPoint</Application>
  <Slides>7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patellar-tendinopathy-loading</dc:title>
  <dc:creator>R스포츠재활센터</dc:creator>
</cp:coreProperties>
</file>