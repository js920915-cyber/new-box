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g" ContentType="image/jpeg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0287000" cy="12858750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01-photo1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03-photo1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04-photo1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06-photo1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07-photo1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사진" descr="도로 마라톤에서 무리 지어 달리는 러너들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376589"/>
            <a:ext cx="8458200" cy="4953000"/>
          </a:xfrm>
          <a:prstGeom prst="rect">
            <a:avLst/>
          </a:prstGeom>
        </p:spPr>
      </p:pic>
      <p:sp>
        <p:nvSpPr>
          <p:cNvPr id="3" name="B01 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D0DCE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4" name="텍스트: 무릎에 띠 하나"/>
          <p:cNvSpPr txBox="1"/>
          <p:nvPr/>
        </p:nvSpPr>
        <p:spPr>
          <a:xfrm>
            <a:off x="2141041" y="1021842"/>
            <a:ext cx="6004620" cy="10096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600" b="0" i="0" spc="-231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무릎에 </a:t>
            </a:r>
            <a:r>
              <a:rPr lang="ko-KR" altLang="en-US" sz="6600" b="0" i="0" spc="-231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띠 하나</a:t>
            </a:r>
            <a:endParaRPr lang="ko-KR" altLang="en-US" sz="6600" b="0" i="0" spc="-231" kern="0" dirty="0">
              <a:solidFill>
                <a:srgbClr val="0879D8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5" name="텍스트: 감았을 뿐인데"/>
          <p:cNvSpPr txBox="1"/>
          <p:nvPr/>
        </p:nvSpPr>
        <p:spPr>
          <a:xfrm>
            <a:off x="2243733" y="2010805"/>
            <a:ext cx="5799237" cy="10096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600" b="0" i="0" spc="-231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감았을 뿐인데</a:t>
            </a:r>
            <a:endParaRPr lang="ko-KR" altLang="en-US" sz="6600" b="0" i="0" spc="-231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6" name="텍스트: 왜 덜 아플까요?"/>
          <p:cNvSpPr txBox="1"/>
          <p:nvPr/>
        </p:nvSpPr>
        <p:spPr>
          <a:xfrm>
            <a:off x="1932831" y="2999768"/>
            <a:ext cx="6421189" cy="10096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600" b="0" i="0" spc="-231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왜 덜 아플까요?</a:t>
            </a:r>
            <a:endParaRPr lang="ko-KR" altLang="en-US" sz="6600" b="0" i="0" spc="-231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7" name="텍스트: 효과는 진짜입니다."/>
          <p:cNvSpPr txBox="1"/>
          <p:nvPr/>
        </p:nvSpPr>
        <p:spPr>
          <a:xfrm>
            <a:off x="2950220" y="9811935"/>
            <a:ext cx="4386411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효과는 진짜입니다.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8" name="텍스트: 다만 이유가 생각과 다릅니다."/>
          <p:cNvSpPr txBox="1"/>
          <p:nvPr/>
        </p:nvSpPr>
        <p:spPr>
          <a:xfrm>
            <a:off x="2079724" y="10406950"/>
            <a:ext cx="6127403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다만 </a:t>
            </a:r>
            <a:r>
              <a:rPr lang="ko-KR" altLang="en-US" sz="3300" b="0" i="0" spc="-66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이유가 생각과 다릅니다.</a:t>
            </a:r>
            <a:endParaRPr lang="ko-KR" altLang="en-US" sz="3300" b="0" i="0" spc="-66" kern="0" dirty="0">
              <a:solidFill>
                <a:srgbClr val="121416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연한 박스"/>
          <p:cNvSpPr/>
          <p:nvPr/>
        </p:nvSpPr>
        <p:spPr>
          <a:xfrm>
            <a:off x="914400" y="3291780"/>
            <a:ext cx="8458200" cy="5524500"/>
          </a:xfrm>
          <a:prstGeom prst="roundRect">
            <a:avLst>
              <a:gd name="adj" fmla="val 3448"/>
            </a:avLst>
          </a:prstGeom>
          <a:solidFill>
            <a:srgbClr val="F0F7FC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3" name="B01 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D0DCE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4" name="텍스트: 무릎뼈 바로 아래를"/>
          <p:cNvSpPr txBox="1"/>
          <p:nvPr/>
        </p:nvSpPr>
        <p:spPr>
          <a:xfrm>
            <a:off x="1543496" y="1029081"/>
            <a:ext cx="7200007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무릎뼈 </a:t>
            </a:r>
            <a:r>
              <a:rPr lang="ko-KR" altLang="en-US" sz="6300" b="0" i="0" spc="-220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바로 아래</a:t>
            </a: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를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5" name="텍스트: 꾹 누르는 띠"/>
          <p:cNvSpPr txBox="1"/>
          <p:nvPr/>
        </p:nvSpPr>
        <p:spPr>
          <a:xfrm>
            <a:off x="2605683" y="1989171"/>
            <a:ext cx="5075634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꾹 누르는 띠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6" name="텍스트: 사진 넣는 자리"/>
          <p:cNvSpPr txBox="1"/>
          <p:nvPr/>
        </p:nvSpPr>
        <p:spPr>
          <a:xfrm>
            <a:off x="3529459" y="5307693"/>
            <a:ext cx="3227933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0" kern="0" dirty="0">
                <a:solidFill>
                  <a:srgbClr val="0879D8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사진 넣는 자리</a:t>
            </a:r>
            <a:endParaRPr lang="ko-KR" altLang="en-US" sz="2700" b="0" i="0" spc="0" kern="0" dirty="0">
              <a:solidFill>
                <a:srgbClr val="0879D8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  <p:sp>
        <p:nvSpPr>
          <p:cNvPr id="7" name="텍스트: 스트랩을 찬 무릎 · 정면 또는 옆모습"/>
          <p:cNvSpPr txBox="1"/>
          <p:nvPr/>
        </p:nvSpPr>
        <p:spPr>
          <a:xfrm>
            <a:off x="2024360" y="5915358"/>
            <a:ext cx="6238280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0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스트랩을 찬 무릎 · 정면 또는 옆모습</a:t>
            </a:r>
            <a:endParaRPr lang="ko-KR" altLang="en-US" sz="2700" b="0" i="0" spc="0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8" name="텍스트: 띠가 무릎뼈 바로 아래 힘줄 위를 지나게"/>
          <p:cNvSpPr txBox="1"/>
          <p:nvPr/>
        </p:nvSpPr>
        <p:spPr>
          <a:xfrm>
            <a:off x="1760190" y="6402175"/>
            <a:ext cx="6766620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0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띠가 무릎뼈 바로 아래 힘줄 위를 지나게</a:t>
            </a:r>
            <a:endParaRPr lang="ko-KR" altLang="en-US" sz="2700" b="0" i="0" spc="0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9" name="텍스트: 무릎뼈와 정강이를 잇는 힘줄 위를"/>
          <p:cNvSpPr txBox="1"/>
          <p:nvPr/>
        </p:nvSpPr>
        <p:spPr>
          <a:xfrm>
            <a:off x="1713607" y="9298626"/>
            <a:ext cx="6859637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무릎뼈와 정강이를 잇는 </a:t>
            </a:r>
            <a:r>
              <a:rPr lang="ko-KR" altLang="en-US" sz="3300" b="0" i="0" spc="-66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힘줄</a:t>
            </a: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 위를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0" name="텍스트: 지나갑니다. 점프·착지에서 이 힘줄이"/>
          <p:cNvSpPr txBox="1"/>
          <p:nvPr/>
        </p:nvSpPr>
        <p:spPr>
          <a:xfrm>
            <a:off x="1462683" y="9893641"/>
            <a:ext cx="7361634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지나갑니다. 점프·착지에서 이 힘줄이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1" name="텍스트: 아픈 ‘점퍼 무릎’에서 주로 연구됐습니다."/>
          <p:cNvSpPr txBox="1"/>
          <p:nvPr/>
        </p:nvSpPr>
        <p:spPr>
          <a:xfrm>
            <a:off x="1161157" y="10488656"/>
            <a:ext cx="7964686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아픈 ‘점퍼 무릎’에서 주로 연구됐습니다.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사진" descr="0~10 얼굴 통증 척도: 진짜 스트랩 3.5에서 2.7, 가짜 테이프 3.4에서 2.7로 감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137571"/>
            <a:ext cx="8458200" cy="3657600"/>
          </a:xfrm>
          <a:prstGeom prst="rect">
            <a:avLst/>
          </a:prstGeom>
        </p:spPr>
      </p:pic>
      <p:sp>
        <p:nvSpPr>
          <p:cNvPr id="3" name="연한 박스"/>
          <p:cNvSpPr/>
          <p:nvPr/>
        </p:nvSpPr>
        <p:spPr>
          <a:xfrm>
            <a:off x="914400" y="8998893"/>
            <a:ext cx="8458200" cy="2531120"/>
          </a:xfrm>
          <a:prstGeom prst="roundRect">
            <a:avLst>
              <a:gd name="adj" fmla="val 7526"/>
            </a:avLst>
          </a:prstGeom>
          <a:solidFill>
            <a:srgbClr val="F0F7FC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4" name="B01 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D0DCE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5" name="텍스트: 진짜 스트랩 vs"/>
          <p:cNvSpPr txBox="1"/>
          <p:nvPr/>
        </p:nvSpPr>
        <p:spPr>
          <a:xfrm>
            <a:off x="2191643" y="1029081"/>
            <a:ext cx="5903714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진짜 스트랩 vs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6" name="텍스트: 가짜 테이프"/>
          <p:cNvSpPr txBox="1"/>
          <p:nvPr/>
        </p:nvSpPr>
        <p:spPr>
          <a:xfrm>
            <a:off x="2703761" y="1989171"/>
            <a:ext cx="4879479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가짜 테이프</a:t>
            </a:r>
            <a:endParaRPr lang="ko-KR" altLang="en-US" sz="6300" b="0" i="0" spc="-220" kern="0" dirty="0">
              <a:solidFill>
                <a:srgbClr val="0879D8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7" name="텍스트: 실험해 봤습니다"/>
          <p:cNvSpPr txBox="1"/>
          <p:nvPr/>
        </p:nvSpPr>
        <p:spPr>
          <a:xfrm>
            <a:off x="1995636" y="2949261"/>
            <a:ext cx="6295727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실험해 봤습니다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8" name="텍스트: 슬개건병증 선수 · 1주는 그냥, 2주째는 "/>
          <p:cNvSpPr txBox="1"/>
          <p:nvPr/>
        </p:nvSpPr>
        <p:spPr>
          <a:xfrm>
            <a:off x="1298674" y="7946809"/>
            <a:ext cx="7689652" cy="3619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400" b="0" i="0" spc="-48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슬개건병증 선수 · 1주는 그냥, 2주째는 착용하고 운동</a:t>
            </a:r>
            <a:endParaRPr lang="ko-KR" altLang="en-US" sz="2400" b="0" i="0" spc="-48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9" name="텍스트: 운동 2시간 뒤 통증 (가짜 테이프 = 힘줄"/>
          <p:cNvSpPr txBox="1"/>
          <p:nvPr/>
        </p:nvSpPr>
        <p:spPr>
          <a:xfrm>
            <a:off x="750987" y="8358170"/>
            <a:ext cx="8785027" cy="3619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400" b="0" i="0" spc="-48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운동 2시간 뒤 통증 (가짜 테이프 = 힘줄을 누르지 않는 테이프)</a:t>
            </a:r>
            <a:endParaRPr lang="ko-KR" altLang="en-US" sz="2400" b="0" i="0" spc="-48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0" name="텍스트: 둘 다 0.7~0.8점 줄었습니다"/>
          <p:cNvSpPr txBox="1"/>
          <p:nvPr/>
        </p:nvSpPr>
        <p:spPr>
          <a:xfrm>
            <a:off x="1547961" y="9335697"/>
            <a:ext cx="7190929" cy="6381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4200" b="0" i="0" spc="-126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둘 다 </a:t>
            </a:r>
            <a:r>
              <a:rPr lang="ko-KR" altLang="en-US" sz="4200" b="0" i="0" spc="-126" kern="0" dirty="0">
                <a:solidFill>
                  <a:srgbClr val="0879D8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0.7~0.8점</a:t>
            </a:r>
            <a:r>
              <a:rPr lang="ko-KR" altLang="en-US" sz="4200" b="0" i="0" spc="-126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 줄었습니다</a:t>
            </a:r>
            <a:endParaRPr lang="ko-KR" altLang="en-US" sz="4200" b="0" i="0" spc="-126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11" name="텍스트: 진짜 스트랩의 효과가 가짜 테이프와"/>
          <p:cNvSpPr txBox="1"/>
          <p:nvPr/>
        </p:nvSpPr>
        <p:spPr>
          <a:xfrm>
            <a:off x="1525042" y="10117479"/>
            <a:ext cx="7236768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진짜 스트랩의 효과가 가짜 테이프와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2" name="텍스트: 크게 다르지 않았다는 뜻입니다"/>
          <p:cNvSpPr txBox="1"/>
          <p:nvPr/>
        </p:nvSpPr>
        <p:spPr>
          <a:xfrm>
            <a:off x="1956643" y="10712494"/>
            <a:ext cx="6373564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크게 다르지 않았다는 뜻</a:t>
            </a: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입니다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사진" descr="무릎 옆모습 X선, 무릎뼈 축과 슬개건 사이 각도(PPTA) 표시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2750" y="3215580"/>
            <a:ext cx="4381500" cy="3810000"/>
          </a:xfrm>
          <a:prstGeom prst="rect">
            <a:avLst/>
          </a:prstGeom>
        </p:spPr>
      </p:pic>
      <p:sp>
        <p:nvSpPr>
          <p:cNvPr id="3" name="B01 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D0DCE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4" name="텍스트: 기전 가설 ①"/>
          <p:cNvSpPr txBox="1"/>
          <p:nvPr/>
        </p:nvSpPr>
        <p:spPr>
          <a:xfrm>
            <a:off x="2573536" y="1029081"/>
            <a:ext cx="5139630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기전 가설 ①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5" name="텍스트: 힘줄이 덜 당겨진다?"/>
          <p:cNvSpPr txBox="1"/>
          <p:nvPr/>
        </p:nvSpPr>
        <p:spPr>
          <a:xfrm>
            <a:off x="1344662" y="1989171"/>
            <a:ext cx="7597527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힘줄이 덜 당겨진다?</a:t>
            </a:r>
            <a:endParaRPr lang="ko-KR" altLang="en-US" sz="6300" b="0" i="0" spc="-220" kern="0" dirty="0">
              <a:solidFill>
                <a:srgbClr val="0879D8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6" name="텍스트: 슬개건 스트랩 착용"/>
          <p:cNvSpPr txBox="1"/>
          <p:nvPr/>
        </p:nvSpPr>
        <p:spPr>
          <a:xfrm>
            <a:off x="3047702" y="7335333"/>
            <a:ext cx="4191446" cy="4762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150" b="0" i="0" spc="-94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슬개건 스트랩 착용</a:t>
            </a:r>
            <a:endParaRPr lang="ko-KR" altLang="en-US" sz="3150" b="0" i="0" spc="-94" kern="0" dirty="0">
              <a:solidFill>
                <a:srgbClr val="121416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  <p:sp>
        <p:nvSpPr>
          <p:cNvPr id="7" name="텍스트: ↓"/>
          <p:cNvSpPr txBox="1"/>
          <p:nvPr/>
        </p:nvSpPr>
        <p:spPr>
          <a:xfrm>
            <a:off x="4409926" y="7803142"/>
            <a:ext cx="1466850" cy="3905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550" b="0" i="0" spc="0" kern="0" dirty="0">
                <a:solidFill>
                  <a:srgbClr val="0879D8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↓</a:t>
            </a:r>
            <a:endParaRPr lang="ko-KR" altLang="en-US" sz="2550" b="0" i="0" spc="0" kern="0" dirty="0">
              <a:solidFill>
                <a:srgbClr val="0879D8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8" name="텍스트: 슬개건에 국소 압박"/>
          <p:cNvSpPr txBox="1"/>
          <p:nvPr/>
        </p:nvSpPr>
        <p:spPr>
          <a:xfrm>
            <a:off x="3047702" y="8195262"/>
            <a:ext cx="4191446" cy="4762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150" b="0" i="0" spc="-94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슬개건에 국소 압박</a:t>
            </a:r>
            <a:endParaRPr lang="ko-KR" altLang="en-US" sz="3150" b="0" i="0" spc="-94" kern="0" dirty="0">
              <a:solidFill>
                <a:srgbClr val="121416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  <p:sp>
        <p:nvSpPr>
          <p:cNvPr id="9" name="텍스트: ↓"/>
          <p:cNvSpPr txBox="1"/>
          <p:nvPr/>
        </p:nvSpPr>
        <p:spPr>
          <a:xfrm>
            <a:off x="4409926" y="8663071"/>
            <a:ext cx="1466850" cy="3905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550" b="0" i="0" spc="0" kern="0" dirty="0">
                <a:solidFill>
                  <a:srgbClr val="0879D8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↓</a:t>
            </a:r>
            <a:endParaRPr lang="ko-KR" altLang="en-US" sz="2550" b="0" i="0" spc="0" kern="0" dirty="0">
              <a:solidFill>
                <a:srgbClr val="0879D8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10" name="텍스트: 슬개골–슬개건 각도·유효 길이 변화"/>
          <p:cNvSpPr txBox="1"/>
          <p:nvPr/>
        </p:nvSpPr>
        <p:spPr>
          <a:xfrm>
            <a:off x="1767334" y="9055191"/>
            <a:ext cx="6752183" cy="4762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150" b="0" i="0" spc="-94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슬개골–슬개건 각도·유효 길이 변화</a:t>
            </a:r>
            <a:endParaRPr lang="ko-KR" altLang="en-US" sz="3150" b="0" i="0" spc="-94" kern="0" dirty="0">
              <a:solidFill>
                <a:srgbClr val="121416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  <p:sp>
        <p:nvSpPr>
          <p:cNvPr id="11" name="텍스트: 각도 = PPTA (patella–patel"/>
          <p:cNvSpPr txBox="1"/>
          <p:nvPr/>
        </p:nvSpPr>
        <p:spPr>
          <a:xfrm>
            <a:off x="1565225" y="9559957"/>
            <a:ext cx="7156400" cy="3619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400" b="0" i="0" spc="-48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각도 = PPTA (patella–patellar tendon angle)</a:t>
            </a:r>
            <a:endParaRPr lang="ko-KR" altLang="en-US" sz="2400" b="0" i="0" spc="-48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2" name="텍스트: ↓"/>
          <p:cNvSpPr txBox="1"/>
          <p:nvPr/>
        </p:nvSpPr>
        <p:spPr>
          <a:xfrm>
            <a:off x="4409926" y="9919180"/>
            <a:ext cx="1466850" cy="3905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550" b="0" i="0" spc="0" kern="0" dirty="0">
                <a:solidFill>
                  <a:srgbClr val="0879D8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↓</a:t>
            </a:r>
            <a:endParaRPr lang="ko-KR" altLang="en-US" sz="2550" b="0" i="0" spc="0" kern="0" dirty="0">
              <a:solidFill>
                <a:srgbClr val="0879D8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13" name="텍스트: 슬개건 변형률(strain) 감소 가능성"/>
          <p:cNvSpPr txBox="1"/>
          <p:nvPr/>
        </p:nvSpPr>
        <p:spPr>
          <a:xfrm>
            <a:off x="1787872" y="10311301"/>
            <a:ext cx="6711107" cy="4762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150" b="0" i="0" spc="-94" kern="0" dirty="0">
                <a:solidFill>
                  <a:srgbClr val="0879D8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슬개건 변형률(strain) 감소 가능성</a:t>
            </a:r>
            <a:endParaRPr lang="ko-KR" altLang="en-US" sz="3150" b="0" i="0" spc="-94" kern="0" dirty="0">
              <a:solidFill>
                <a:srgbClr val="0879D8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  <p:sp>
        <p:nvSpPr>
          <p:cNvPr id="14" name="텍스트: 그런데 이것 때문에 통증이 줄었는지는 아직 "/>
          <p:cNvSpPr txBox="1"/>
          <p:nvPr/>
        </p:nvSpPr>
        <p:spPr>
          <a:xfrm>
            <a:off x="659457" y="11078956"/>
            <a:ext cx="8968085" cy="4762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150" b="0" i="0" spc="-63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그런데 이것 때문에 통증이 줄었는지는 </a:t>
            </a:r>
            <a:r>
              <a:rPr lang="ko-KR" altLang="en-US" sz="3150" b="0" i="0" spc="-63" kern="0" dirty="0">
                <a:solidFill>
                  <a:srgbClr val="CC414A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아직 모름</a:t>
            </a:r>
            <a:endParaRPr lang="ko-KR" altLang="en-US" sz="3150" b="0" i="0" spc="-63" kern="0" dirty="0">
              <a:solidFill>
                <a:srgbClr val="CC414A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연한 박스"/>
          <p:cNvSpPr/>
          <p:nvPr/>
        </p:nvSpPr>
        <p:spPr>
          <a:xfrm>
            <a:off x="914400" y="8999041"/>
            <a:ext cx="8458200" cy="2358033"/>
          </a:xfrm>
          <a:prstGeom prst="roundRect">
            <a:avLst>
              <a:gd name="adj" fmla="val 8079"/>
            </a:avLst>
          </a:prstGeom>
          <a:solidFill>
            <a:srgbClr val="F0F7FC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3" name="B01 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D0DCE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4" name="텍스트: 부딪힌 팔꿈치를"/>
          <p:cNvSpPr txBox="1"/>
          <p:nvPr/>
        </p:nvSpPr>
        <p:spPr>
          <a:xfrm>
            <a:off x="1995636" y="1029081"/>
            <a:ext cx="6295727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부딪힌 팔꿈치를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5" name="텍스트: 문지르면 덜 아픈 것처럼"/>
          <p:cNvSpPr txBox="1"/>
          <p:nvPr/>
        </p:nvSpPr>
        <p:spPr>
          <a:xfrm>
            <a:off x="737443" y="1989171"/>
            <a:ext cx="8812113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문지르면</a:t>
            </a: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 덜 아픈 것처럼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6" name="텍스트: 피부를 누르는 감각이"/>
          <p:cNvSpPr txBox="1"/>
          <p:nvPr/>
        </p:nvSpPr>
        <p:spPr>
          <a:xfrm>
            <a:off x="2302222" y="4200084"/>
            <a:ext cx="5682258" cy="6381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4200" b="0" i="0" spc="-126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피부를 누르는 감각이</a:t>
            </a:r>
            <a:endParaRPr lang="ko-KR" altLang="en-US" sz="4200" b="0" i="0" spc="-126" kern="0" dirty="0">
              <a:solidFill>
                <a:srgbClr val="121416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  <p:sp>
        <p:nvSpPr>
          <p:cNvPr id="7" name="텍스트: 통증 신호를 덮을 수 있습니다"/>
          <p:cNvSpPr txBox="1"/>
          <p:nvPr/>
        </p:nvSpPr>
        <p:spPr>
          <a:xfrm>
            <a:off x="1456730" y="4893475"/>
            <a:ext cx="7373392" cy="6381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4200" b="0" i="0" spc="-126" kern="0" dirty="0">
                <a:solidFill>
                  <a:srgbClr val="0879D8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통증 신호를 덮을 수</a:t>
            </a:r>
            <a:r>
              <a:rPr lang="ko-KR" altLang="en-US" sz="4200" b="0" i="0" spc="-126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 있습니다</a:t>
            </a:r>
            <a:endParaRPr lang="ko-KR" altLang="en-US" sz="4200" b="0" i="0" spc="-126" kern="0" dirty="0">
              <a:solidFill>
                <a:srgbClr val="121416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  <p:sp>
        <p:nvSpPr>
          <p:cNvPr id="8" name="텍스트: 여기에 ‘차면 덜 아파’"/>
          <p:cNvSpPr txBox="1"/>
          <p:nvPr/>
        </p:nvSpPr>
        <p:spPr>
          <a:xfrm>
            <a:off x="2311301" y="6425065"/>
            <a:ext cx="5664250" cy="6381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4200" b="0" i="0" spc="-126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여기에 </a:t>
            </a:r>
            <a:r>
              <a:rPr lang="ko-KR" altLang="en-US" sz="4200" b="0" i="0" spc="-126" kern="0" dirty="0">
                <a:solidFill>
                  <a:srgbClr val="0879D8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‘차면 덜 아파’</a:t>
            </a:r>
            <a:endParaRPr lang="ko-KR" altLang="en-US" sz="4200" b="0" i="0" spc="-126" kern="0" dirty="0">
              <a:solidFill>
                <a:srgbClr val="0879D8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  <p:sp>
        <p:nvSpPr>
          <p:cNvPr id="9" name="텍스트: 기대도 더해질 수 있습니다"/>
          <p:cNvSpPr txBox="1"/>
          <p:nvPr/>
        </p:nvSpPr>
        <p:spPr>
          <a:xfrm>
            <a:off x="1760934" y="7118455"/>
            <a:ext cx="6765131" cy="6381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4200" b="0" i="0" spc="-126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기대도 더해질 수 있습니다</a:t>
            </a:r>
            <a:endParaRPr lang="ko-KR" altLang="en-US" sz="4200" b="0" i="0" spc="-126" kern="0" dirty="0">
              <a:solidFill>
                <a:srgbClr val="121416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  <p:sp>
        <p:nvSpPr>
          <p:cNvPr id="10" name="텍스트: 논문 저자들의 해석"/>
          <p:cNvSpPr txBox="1"/>
          <p:nvPr/>
        </p:nvSpPr>
        <p:spPr>
          <a:xfrm>
            <a:off x="3174802" y="9468433"/>
            <a:ext cx="3937397" cy="4381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50" b="0" i="0" spc="-57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논문 저자들의 해석</a:t>
            </a:r>
            <a:endParaRPr lang="ko-KR" altLang="en-US" sz="2850" b="0" i="0" spc="-57" kern="0" dirty="0">
              <a:solidFill>
                <a:srgbClr val="121416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  <p:sp>
        <p:nvSpPr>
          <p:cNvPr id="11" name="텍스트: 뭐든 붙이면 피부가 자극돼 통증 신호가 바뀐"/>
          <p:cNvSpPr txBox="1"/>
          <p:nvPr/>
        </p:nvSpPr>
        <p:spPr>
          <a:xfrm>
            <a:off x="1194941" y="9975044"/>
            <a:ext cx="7897118" cy="4381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50" b="0" i="0" spc="-57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뭐든 붙이면 피부가 자극돼 통증 신호가 바뀐다</a:t>
            </a:r>
            <a:endParaRPr lang="ko-KR" altLang="en-US" sz="2850" b="0" i="0" spc="-57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2" name="텍스트: 스트랩은 힘줄 압박이 조금 더 보탰을 수 있"/>
          <p:cNvSpPr txBox="1"/>
          <p:nvPr/>
        </p:nvSpPr>
        <p:spPr>
          <a:xfrm>
            <a:off x="1310729" y="10481655"/>
            <a:ext cx="7665393" cy="4381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50" b="0" i="0" spc="-57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스트랩은 힘줄 압박이 조금 더 보탰을 수 있다</a:t>
            </a:r>
            <a:endParaRPr lang="ko-KR" altLang="en-US" sz="2850" b="0" i="0" spc="-57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사진" descr="내리막을 걷는 사람의 무릎, 무릎뼈 바로 아래에 빨간 원 표시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780"/>
            <a:ext cx="8458200" cy="5334000"/>
          </a:xfrm>
          <a:prstGeom prst="rect">
            <a:avLst/>
          </a:prstGeom>
        </p:spPr>
      </p:pic>
      <p:sp>
        <p:nvSpPr>
          <p:cNvPr id="3" name="B01 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D0DCE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4" name="텍스트: 슬개건병증,"/>
          <p:cNvSpPr txBox="1"/>
          <p:nvPr/>
        </p:nvSpPr>
        <p:spPr>
          <a:xfrm>
            <a:off x="2677269" y="1029081"/>
            <a:ext cx="4932313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슬개건병증</a:t>
            </a: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,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5" name="텍스트: 여기가 아프다면"/>
          <p:cNvSpPr txBox="1"/>
          <p:nvPr/>
        </p:nvSpPr>
        <p:spPr>
          <a:xfrm>
            <a:off x="1995636" y="1989171"/>
            <a:ext cx="6295727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여기가 아프다면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6" name="텍스트: 점프·착지·내리막에서 아픈 자리."/>
          <p:cNvSpPr txBox="1"/>
          <p:nvPr/>
        </p:nvSpPr>
        <p:spPr>
          <a:xfrm>
            <a:off x="1835795" y="9070026"/>
            <a:ext cx="6615261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점프·착지·내리막에서 아픈 자리.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7" name="텍스트: 스트랩을 차면 단기 통증 감소가 보고됐습니다"/>
          <p:cNvSpPr txBox="1"/>
          <p:nvPr/>
        </p:nvSpPr>
        <p:spPr>
          <a:xfrm>
            <a:off x="657671" y="9665041"/>
            <a:ext cx="8971508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스트랩을 차면 </a:t>
            </a:r>
            <a:r>
              <a:rPr lang="ko-KR" altLang="en-US" sz="3300" b="0" i="0" spc="-66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단기 통증 감소</a:t>
            </a: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가 보고됐습니다.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8" name="텍스트: 무릎뼈 주변·뒤가 아픈 슬개대퇴통증에는"/>
          <p:cNvSpPr txBox="1"/>
          <p:nvPr/>
        </p:nvSpPr>
        <p:spPr>
          <a:xfrm>
            <a:off x="1767185" y="10436459"/>
            <a:ext cx="6752630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무릎뼈 주변·뒤가 아픈 슬개대퇴통증에는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9" name="텍스트: 가이드라인이 스트랩을 권하지 않습니다"/>
          <p:cNvSpPr txBox="1"/>
          <p:nvPr/>
        </p:nvSpPr>
        <p:spPr>
          <a:xfrm>
            <a:off x="1814959" y="10916430"/>
            <a:ext cx="6656933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가이드라인이 스트랩을 권하지 않습니다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사진" descr="무릎을 살짝 굽힌 미니 스쿼트 옆모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367980"/>
            <a:ext cx="8458200" cy="5715000"/>
          </a:xfrm>
          <a:prstGeom prst="rect">
            <a:avLst/>
          </a:prstGeom>
        </p:spPr>
      </p:pic>
      <p:sp>
        <p:nvSpPr>
          <p:cNvPr id="3" name="B01 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D0DCE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4" name="텍스트: 힘줄은"/>
          <p:cNvSpPr txBox="1"/>
          <p:nvPr/>
        </p:nvSpPr>
        <p:spPr>
          <a:xfrm>
            <a:off x="3509814" y="1029081"/>
            <a:ext cx="3267373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힘줄은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5" name="텍스트: 쓰면서 튼튼해집니다"/>
          <p:cNvSpPr txBox="1"/>
          <p:nvPr/>
        </p:nvSpPr>
        <p:spPr>
          <a:xfrm>
            <a:off x="1287512" y="1989171"/>
            <a:ext cx="7711976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쓰면서</a:t>
            </a: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 튼튼해집니다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6" name="텍스트: 무게를 조금씩 올린 힘줄 운동 24주,"/>
          <p:cNvSpPr txBox="1"/>
          <p:nvPr/>
        </p:nvSpPr>
        <p:spPr>
          <a:xfrm>
            <a:off x="1558826" y="9603426"/>
            <a:ext cx="7169348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무게를 조금씩 올린 힘줄 운동 24주,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7" name="텍스트: 기능 점수 +28점 (기존 운동 +18점)"/>
          <p:cNvSpPr txBox="1"/>
          <p:nvPr/>
        </p:nvSpPr>
        <p:spPr>
          <a:xfrm>
            <a:off x="1566118" y="10198441"/>
            <a:ext cx="7154763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기능 점수 </a:t>
            </a:r>
            <a:r>
              <a:rPr lang="ko-KR" altLang="en-US" sz="3300" b="0" i="0" spc="-66" kern="0" dirty="0">
                <a:solidFill>
                  <a:srgbClr val="0879D8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+28점</a:t>
            </a: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 (기존 운동 +18점)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8" name="텍스트: 무릎뼈 주변 통증 → 엉덩이 + 허벅지 근력"/>
          <p:cNvSpPr txBox="1"/>
          <p:nvPr/>
        </p:nvSpPr>
        <p:spPr>
          <a:xfrm>
            <a:off x="822275" y="10969859"/>
            <a:ext cx="8642300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무릎뼈 주변 통증 → 엉덩이 + 허벅지 근력 운동을 함께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연한 박스"/>
          <p:cNvSpPr/>
          <p:nvPr/>
        </p:nvSpPr>
        <p:spPr>
          <a:xfrm>
            <a:off x="914400" y="3253680"/>
            <a:ext cx="8458200" cy="4476750"/>
          </a:xfrm>
          <a:prstGeom prst="roundRect">
            <a:avLst>
              <a:gd name="adj" fmla="val 4255"/>
            </a:avLst>
          </a:prstGeom>
          <a:solidFill>
            <a:srgbClr val="F0F7FC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3" name="B01 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D0DCE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4" name="텍스트: 2,500원 언더랩으로"/>
          <p:cNvSpPr txBox="1"/>
          <p:nvPr/>
        </p:nvSpPr>
        <p:spPr>
          <a:xfrm>
            <a:off x="1314748" y="1029081"/>
            <a:ext cx="7657505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2,500원 언더랩</a:t>
            </a: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으로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5" name="텍스트: 대신해 보세요"/>
          <p:cNvSpPr txBox="1"/>
          <p:nvPr/>
        </p:nvSpPr>
        <p:spPr>
          <a:xfrm>
            <a:off x="2349698" y="1989171"/>
            <a:ext cx="5587603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대신해 보세요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6" name="텍스트: 사진 넣는 자리"/>
          <p:cNvSpPr txBox="1"/>
          <p:nvPr/>
        </p:nvSpPr>
        <p:spPr>
          <a:xfrm>
            <a:off x="3529459" y="4745718"/>
            <a:ext cx="3227933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0" kern="0" dirty="0">
                <a:solidFill>
                  <a:srgbClr val="0879D8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사진 넣는 자리</a:t>
            </a:r>
            <a:endParaRPr lang="ko-KR" altLang="en-US" sz="2700" b="0" i="0" spc="0" kern="0" dirty="0">
              <a:solidFill>
                <a:srgbClr val="0879D8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  <p:sp>
        <p:nvSpPr>
          <p:cNvPr id="7" name="텍스트: 언더랩을 띠처럼 말아"/>
          <p:cNvSpPr txBox="1"/>
          <p:nvPr/>
        </p:nvSpPr>
        <p:spPr>
          <a:xfrm>
            <a:off x="3056186" y="5353383"/>
            <a:ext cx="4174331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0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언더랩을 띠처럼 말아</a:t>
            </a:r>
            <a:endParaRPr lang="ko-KR" altLang="en-US" sz="2700" b="0" i="0" spc="0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8" name="텍스트: 무릎뼈 바로 아래에 감은 모습"/>
          <p:cNvSpPr txBox="1"/>
          <p:nvPr/>
        </p:nvSpPr>
        <p:spPr>
          <a:xfrm>
            <a:off x="2487067" y="5840200"/>
            <a:ext cx="5312718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0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무릎뼈 바로 아래에 감은 모습</a:t>
            </a:r>
            <a:endParaRPr lang="ko-KR" altLang="en-US" sz="2700" b="0" i="0" spc="0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9" name="텍스트: 가짜 테이프도 스트랩과 비슷하게"/>
          <p:cNvSpPr txBox="1"/>
          <p:nvPr/>
        </p:nvSpPr>
        <p:spPr>
          <a:xfrm>
            <a:off x="1768078" y="8136576"/>
            <a:ext cx="6750695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가짜 테이프도 스트랩과 비슷하게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0" name="텍스트: 줄었다면, 비싼 스트랩이 꼭 필요하진 않습니"/>
          <p:cNvSpPr txBox="1"/>
          <p:nvPr/>
        </p:nvSpPr>
        <p:spPr>
          <a:xfrm>
            <a:off x="592187" y="8731591"/>
            <a:ext cx="9102626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줄었다면, </a:t>
            </a:r>
            <a:r>
              <a:rPr lang="ko-KR" altLang="en-US" sz="3300" b="0" i="0" spc="-66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비싼 스트랩이 꼭 필요하진 않습니다.</a:t>
            </a:r>
            <a:endParaRPr lang="ko-KR" altLang="en-US" sz="3300" b="0" i="0" spc="-66" kern="0" dirty="0">
              <a:solidFill>
                <a:srgbClr val="121416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  <p:sp>
        <p:nvSpPr>
          <p:cNvPr id="11" name="텍스트: 언더랩 자체를 시험한 연구는 없습니다 · 저"/>
          <p:cNvSpPr txBox="1"/>
          <p:nvPr/>
        </p:nvSpPr>
        <p:spPr>
          <a:xfrm>
            <a:off x="663029" y="9464909"/>
            <a:ext cx="8960793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언더랩 자체를 시험한 연구는 없습니다 · 저리면 느슨하게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2" name="텍스트: 덜 아프다고 무리하면 힘줄이 더 상할 수 있"/>
          <p:cNvSpPr txBox="1"/>
          <p:nvPr/>
        </p:nvSpPr>
        <p:spPr>
          <a:xfrm>
            <a:off x="929580" y="10212723"/>
            <a:ext cx="8427690" cy="4381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50" b="0" i="0" spc="-57" kern="0" dirty="0">
                <a:solidFill>
                  <a:srgbClr val="CC414A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덜 아프다고 무리하면 힘줄이 더 상할 수 있습니다.</a:t>
            </a:r>
            <a:endParaRPr lang="ko-KR" altLang="en-US" sz="2850" b="0" i="0" spc="-57" kern="0" dirty="0">
              <a:solidFill>
                <a:srgbClr val="CC414A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  <p:sp>
        <p:nvSpPr>
          <p:cNvPr id="13" name="텍스트: 붓기·밤 통증이 있으면 진료가 먼저입니다."/>
          <p:cNvSpPr txBox="1"/>
          <p:nvPr/>
        </p:nvSpPr>
        <p:spPr>
          <a:xfrm>
            <a:off x="1503908" y="10726626"/>
            <a:ext cx="7278886" cy="4381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50" b="0" i="0" spc="-57" kern="0" dirty="0">
                <a:solidFill>
                  <a:srgbClr val="CC414A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붓기·밤 통증이 있으면 진료가 먼저입니다.</a:t>
            </a:r>
            <a:endParaRPr lang="ko-KR" altLang="en-US" sz="2850" b="0" i="0" spc="-57" kern="0" dirty="0">
              <a:solidFill>
                <a:srgbClr val="CC414A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Cardnews">
  <a:themeElements>
    <a:clrScheme name="RCardnews">
      <a:dk1>
        <a:srgbClr val="121416"/>
      </a:dk1>
      <a:lt1>
        <a:srgbClr val="FFFFFF"/>
      </a:lt1>
      <a:dk2>
        <a:srgbClr val="5E6570"/>
      </a:dk2>
      <a:lt2>
        <a:srgbClr val="F0F7FC"/>
      </a:lt2>
      <a:accent1>
        <a:srgbClr val="0879D8"/>
      </a:accent1>
      <a:accent2>
        <a:srgbClr val="CC414A"/>
      </a:accent2>
      <a:accent3>
        <a:srgbClr val="D0DCE5"/>
      </a:accent3>
      <a:accent4>
        <a:srgbClr val="5E6570"/>
      </a:accent4>
      <a:accent5>
        <a:srgbClr val="F0F7FC"/>
      </a:accent5>
      <a:accent6>
        <a:srgbClr val="121416"/>
      </a:accent6>
      <a:hlink>
        <a:srgbClr val="0879D8"/>
      </a:hlink>
      <a:folHlink>
        <a:srgbClr val="5E6570"/>
      </a:folHlink>
    </a:clrScheme>
    <a:fontScheme name="RCardnews">
      <a:majorFont>
        <a:latin typeface="RCardnews W850"/>
        <a:ea typeface="RCardnews W850"/>
        <a:cs typeface="RCardnews W850"/>
      </a:majorFont>
      <a:minorFont>
        <a:latin typeface="RCardnews W500"/>
        <a:ea typeface="RCardnews W500"/>
        <a:cs typeface="RCardnews W500"/>
      </a:minorFont>
    </a:fontScheme>
    <a:fmtScheme name="RCardnew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Office PowerPoint</Application>
  <Slides>8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patellar-strap-runners</dc:title>
  <dc:creator>R스포츠재활센터</dc:creator>
</cp:coreProperties>
</file>