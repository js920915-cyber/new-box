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1-photo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7-photo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도로 마라톤에서 무리 지어 달리는 러너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76589"/>
            <a:ext cx="8458200" cy="4953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러너 무릎의"/>
          <p:cNvSpPr txBox="1"/>
          <p:nvPr/>
        </p:nvSpPr>
        <p:spPr>
          <a:xfrm>
            <a:off x="2614612" y="1021842"/>
            <a:ext cx="5057477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러너 무릎의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슬개골 스트랩,"/>
          <p:cNvSpPr txBox="1"/>
          <p:nvPr/>
        </p:nvSpPr>
        <p:spPr>
          <a:xfrm>
            <a:off x="2113359" y="2010805"/>
            <a:ext cx="6059984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슬개골 스트랩</a:t>
            </a: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,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왜 덜 아플까요?"/>
          <p:cNvSpPr txBox="1"/>
          <p:nvPr/>
        </p:nvSpPr>
        <p:spPr>
          <a:xfrm>
            <a:off x="1932831" y="2999768"/>
            <a:ext cx="6421189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왜 덜 아플까요?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효과가 있는 사람과 기전,"/>
          <p:cNvSpPr txBox="1"/>
          <p:nvPr/>
        </p:nvSpPr>
        <p:spPr>
          <a:xfrm>
            <a:off x="2463998" y="9811935"/>
            <a:ext cx="535885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효과가 있는 사람과 기전,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그리고 차라리 해야 할 운동까지"/>
          <p:cNvSpPr txBox="1"/>
          <p:nvPr/>
        </p:nvSpPr>
        <p:spPr>
          <a:xfrm>
            <a:off x="1902172" y="10406950"/>
            <a:ext cx="648250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그리고 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차라리 해야 할 운동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까지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3291780"/>
            <a:ext cx="8458200" cy="4762500"/>
          </a:xfrm>
          <a:prstGeom prst="roundRect">
            <a:avLst>
              <a:gd name="adj" fmla="val 4000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무릎뼈 바로 아래"/>
          <p:cNvSpPr txBox="1"/>
          <p:nvPr/>
        </p:nvSpPr>
        <p:spPr>
          <a:xfrm>
            <a:off x="1897559" y="1029081"/>
            <a:ext cx="649173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무릎뼈 바로 아래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힘줄 위를 감는 띠"/>
          <p:cNvSpPr txBox="1"/>
          <p:nvPr/>
        </p:nvSpPr>
        <p:spPr>
          <a:xfrm>
            <a:off x="1799481" y="1989171"/>
            <a:ext cx="668788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힘줄 위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를 감는 띠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사진 넣는 자리"/>
          <p:cNvSpPr txBox="1"/>
          <p:nvPr/>
        </p:nvSpPr>
        <p:spPr>
          <a:xfrm>
            <a:off x="3529459" y="4926693"/>
            <a:ext cx="322793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사진 넣는 자리</a:t>
            </a:r>
            <a:endParaRPr lang="ko-KR" altLang="en-US" sz="2700" b="0" i="0" spc="0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7" name="텍스트: 스트랩을 찬 무릎 · 정면 또는 옆모습"/>
          <p:cNvSpPr txBox="1"/>
          <p:nvPr/>
        </p:nvSpPr>
        <p:spPr>
          <a:xfrm>
            <a:off x="2024360" y="5534358"/>
            <a:ext cx="623828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스트랩을 찬 무릎 · 정면 또는 옆모습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띠가 무릎뼈 바로 아래 힘줄 위를 지나게"/>
          <p:cNvSpPr txBox="1"/>
          <p:nvPr/>
        </p:nvSpPr>
        <p:spPr>
          <a:xfrm>
            <a:off x="1760190" y="6021175"/>
            <a:ext cx="676662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띠가 무릎뼈 바로 아래 힘줄 위를 지나게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무릎 앞이 아플 때 덜 아프게"/>
          <p:cNvSpPr txBox="1"/>
          <p:nvPr/>
        </p:nvSpPr>
        <p:spPr>
          <a:xfrm>
            <a:off x="2224980" y="8536626"/>
            <a:ext cx="583703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 앞이 아플 때 덜 아프게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달리려고 찹니다. 연구는 주로"/>
          <p:cNvSpPr txBox="1"/>
          <p:nvPr/>
        </p:nvSpPr>
        <p:spPr>
          <a:xfrm>
            <a:off x="2086868" y="9131641"/>
            <a:ext cx="611311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달리려고 찹니다. 연구는 주로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무릎뼈 아래 힘줄 통증에서 했습니다."/>
          <p:cNvSpPr txBox="1"/>
          <p:nvPr/>
        </p:nvSpPr>
        <p:spPr>
          <a:xfrm>
            <a:off x="1466552" y="9726656"/>
            <a:ext cx="735389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무릎뼈 아래 힘줄 통증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에서 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슬개건병증, ‘점퍼 무릎’으로도 불립니다"/>
          <p:cNvSpPr txBox="1"/>
          <p:nvPr/>
        </p:nvSpPr>
        <p:spPr>
          <a:xfrm>
            <a:off x="1825823" y="10498074"/>
            <a:ext cx="663535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슬개건병증, ‘점퍼 무릎’으로도 불립니다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8840242"/>
            <a:ext cx="8458200" cy="2394645"/>
          </a:xfrm>
          <a:prstGeom prst="roundRect">
            <a:avLst>
              <a:gd name="adj" fmla="val 7955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통증은 줄었습니다,"/>
          <p:cNvSpPr txBox="1"/>
          <p:nvPr/>
        </p:nvSpPr>
        <p:spPr>
          <a:xfrm>
            <a:off x="1517154" y="1029081"/>
            <a:ext cx="725269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통증은 줄었습니다,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가짜 테이프도요"/>
          <p:cNvSpPr txBox="1"/>
          <p:nvPr/>
        </p:nvSpPr>
        <p:spPr>
          <a:xfrm>
            <a:off x="1995636" y="1989171"/>
            <a:ext cx="629572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가짜 테이프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도요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무릎뼈 아래 힘줄 통증이 있는"/>
          <p:cNvSpPr txBox="1"/>
          <p:nvPr/>
        </p:nvSpPr>
        <p:spPr>
          <a:xfrm>
            <a:off x="2090886" y="3659826"/>
            <a:ext cx="610522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무릎뼈 아래 힘줄 통증이 있는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운동선수 97명, 한 다리 경사 스쿼트"/>
          <p:cNvSpPr txBox="1"/>
          <p:nvPr/>
        </p:nvSpPr>
        <p:spPr>
          <a:xfrm>
            <a:off x="1558826" y="4254841"/>
            <a:ext cx="716934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운동선수 97명, 한 다리 경사 스쿼트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−14mm"/>
          <p:cNvSpPr txBox="1"/>
          <p:nvPr/>
        </p:nvSpPr>
        <p:spPr>
          <a:xfrm>
            <a:off x="1850082" y="5354300"/>
            <a:ext cx="6586835" cy="18288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0" b="0" i="0" spc="-48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−14mm</a:t>
            </a:r>
            <a:endParaRPr lang="ko-KR" altLang="en-US" sz="12000" b="0" i="0" spc="-48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9" name="텍스트: 스트랩 착용 시 통증 감소"/>
          <p:cNvSpPr txBox="1"/>
          <p:nvPr/>
        </p:nvSpPr>
        <p:spPr>
          <a:xfrm>
            <a:off x="2850505" y="7167449"/>
            <a:ext cx="458584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스트랩 착용 시 통증 감소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(0~100mm 척도, 착용하지 않았을 때 "/>
          <p:cNvSpPr txBox="1"/>
          <p:nvPr/>
        </p:nvSpPr>
        <p:spPr>
          <a:xfrm>
            <a:off x="1546027" y="7647420"/>
            <a:ext cx="7194947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(0~100mm 척도, 착용하지 않았을 때 대비)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스트랩·스포츠 테이프 모두"/>
          <p:cNvSpPr txBox="1"/>
          <p:nvPr/>
        </p:nvSpPr>
        <p:spPr>
          <a:xfrm>
            <a:off x="2329904" y="9208288"/>
            <a:ext cx="562704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스트랩·스포츠 테이프 모두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가짜 테이프보다 낫지 않았고,"/>
          <p:cNvSpPr txBox="1"/>
          <p:nvPr/>
        </p:nvSpPr>
        <p:spPr>
          <a:xfrm>
            <a:off x="2079724" y="9803303"/>
            <a:ext cx="612740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가짜 테이프보다 낫지 않았고,</a:t>
            </a:r>
            <a:endParaRPr lang="ko-KR" altLang="en-US" sz="3300" b="0" i="0" spc="-6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3" name="텍스트: 효과는 단기 결과만 확인됐습니다."/>
          <p:cNvSpPr txBox="1"/>
          <p:nvPr/>
        </p:nvSpPr>
        <p:spPr>
          <a:xfrm>
            <a:off x="1709738" y="10398317"/>
            <a:ext cx="686752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효과는 단기 결과만 확인됐습니다.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9001720"/>
            <a:ext cx="8458200" cy="2303711"/>
          </a:xfrm>
          <a:prstGeom prst="roundRect">
            <a:avLst>
              <a:gd name="adj" fmla="val 8269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기전 가설 ①"/>
          <p:cNvSpPr txBox="1"/>
          <p:nvPr/>
        </p:nvSpPr>
        <p:spPr>
          <a:xfrm>
            <a:off x="2573536" y="1029081"/>
            <a:ext cx="5139630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기전 가설 ①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힘줄이 덜 당겨진다"/>
          <p:cNvSpPr txBox="1"/>
          <p:nvPr/>
        </p:nvSpPr>
        <p:spPr>
          <a:xfrm>
            <a:off x="1543496" y="1989171"/>
            <a:ext cx="7199858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힘줄이 덜 당겨진다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무릎뼈–힘줄 각도·길이 변화"/>
          <p:cNvSpPr txBox="1"/>
          <p:nvPr/>
        </p:nvSpPr>
        <p:spPr>
          <a:xfrm>
            <a:off x="1609279" y="3838134"/>
            <a:ext cx="7068145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무릎뼈–힘줄 각도·길이 변화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7" name="텍스트: 남성 20명 X선 사진으로 만든 모델:"/>
          <p:cNvSpPr txBox="1"/>
          <p:nvPr/>
        </p:nvSpPr>
        <p:spPr>
          <a:xfrm>
            <a:off x="1626691" y="4619917"/>
            <a:ext cx="703346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남성 20명 X선 사진으로 만든 모델: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대부분 통증 부위 변형률이 낮게 계산"/>
          <p:cNvSpPr txBox="1"/>
          <p:nvPr/>
        </p:nvSpPr>
        <p:spPr>
          <a:xfrm>
            <a:off x="1470571" y="5214932"/>
            <a:ext cx="7345710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대부분 통증 부위 변형률이 낮게 계산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허벅지 앞 근육 힘 감소"/>
          <p:cNvSpPr txBox="1"/>
          <p:nvPr/>
        </p:nvSpPr>
        <p:spPr>
          <a:xfrm>
            <a:off x="2168872" y="6407354"/>
            <a:ext cx="594895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허벅지 앞 근육 힘 감소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건강한 18명 달리기 분석 모델:"/>
          <p:cNvSpPr txBox="1"/>
          <p:nvPr/>
        </p:nvSpPr>
        <p:spPr>
          <a:xfrm>
            <a:off x="1990279" y="7189137"/>
            <a:ext cx="630599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건강한 18명 달리기 분석 모델: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넙다리네갈래근 최대·누적 힘 감소"/>
          <p:cNvSpPr txBox="1"/>
          <p:nvPr/>
        </p:nvSpPr>
        <p:spPr>
          <a:xfrm>
            <a:off x="1709589" y="7784151"/>
            <a:ext cx="686752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넙다리네갈래근 최대·누적 힘 감소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둘 다 계산으로 얻은 값입니다."/>
          <p:cNvSpPr txBox="1"/>
          <p:nvPr/>
        </p:nvSpPr>
        <p:spPr>
          <a:xfrm>
            <a:off x="2373809" y="9433012"/>
            <a:ext cx="5539383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둘 다 계산으로 얻은 값입니다.</a:t>
            </a:r>
            <a:endParaRPr lang="ko-KR" altLang="en-US" sz="2850" b="0" i="0" spc="-57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3" name="텍스트: 통증 감소나 힘줄 회복을"/>
          <p:cNvSpPr txBox="1"/>
          <p:nvPr/>
        </p:nvSpPr>
        <p:spPr>
          <a:xfrm>
            <a:off x="2801987" y="9946916"/>
            <a:ext cx="4683026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통증 감소나 힘줄 회복을</a:t>
            </a:r>
            <a:endParaRPr lang="ko-KR" altLang="en-US" sz="2850" b="0" i="0" spc="-57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4" name="텍스트: 직접 보여 준 결과는 아닙니다."/>
          <p:cNvSpPr txBox="1"/>
          <p:nvPr/>
        </p:nvSpPr>
        <p:spPr>
          <a:xfrm>
            <a:off x="2373809" y="10460819"/>
            <a:ext cx="5539383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직접 보여 준 결과는 아닙니다.</a:t>
            </a:r>
            <a:endParaRPr lang="ko-KR" altLang="en-US" sz="2850" b="0" i="0" spc="-57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텍스트: 기전 가설 ②"/>
          <p:cNvSpPr txBox="1"/>
          <p:nvPr/>
        </p:nvSpPr>
        <p:spPr>
          <a:xfrm>
            <a:off x="2573685" y="1029081"/>
            <a:ext cx="5139630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기전 가설 ②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4" name="텍스트: 감각과 기대"/>
          <p:cNvSpPr txBox="1"/>
          <p:nvPr/>
        </p:nvSpPr>
        <p:spPr>
          <a:xfrm>
            <a:off x="2703761" y="1989171"/>
            <a:ext cx="48794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감각과 기대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가짜 테이프도 비슷하게 감소"/>
          <p:cNvSpPr txBox="1"/>
          <p:nvPr/>
        </p:nvSpPr>
        <p:spPr>
          <a:xfrm>
            <a:off x="1523554" y="3914334"/>
            <a:ext cx="7239893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가짜 테이프도 비슷하게 감소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6" name="텍스트: 힘줄을 누르지 않는 테이프와"/>
          <p:cNvSpPr txBox="1"/>
          <p:nvPr/>
        </p:nvSpPr>
        <p:spPr>
          <a:xfrm>
            <a:off x="2145209" y="4696117"/>
            <a:ext cx="599628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힘줄을 누르지 않는 테이프와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통증 차이가 뚜렷하지 않았습니다"/>
          <p:cNvSpPr txBox="1"/>
          <p:nvPr/>
        </p:nvSpPr>
        <p:spPr>
          <a:xfrm>
            <a:off x="1768078" y="5291132"/>
            <a:ext cx="675069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통증 차이가 뚜렷하지 않았습니다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무릎 위치 감각"/>
          <p:cNvSpPr txBox="1"/>
          <p:nvPr/>
        </p:nvSpPr>
        <p:spPr>
          <a:xfrm>
            <a:off x="3014365" y="6483554"/>
            <a:ext cx="4258121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무릎 위치 감각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9" name="텍스트: 감각이 떨어져 있던 선수에서만"/>
          <p:cNvSpPr txBox="1"/>
          <p:nvPr/>
        </p:nvSpPr>
        <p:spPr>
          <a:xfrm>
            <a:off x="1956643" y="7265337"/>
            <a:ext cx="637341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감각이 떨어져 있던 선수에서만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무릎 각도 맞추기가 정확해졌습니다"/>
          <p:cNvSpPr txBox="1"/>
          <p:nvPr/>
        </p:nvSpPr>
        <p:spPr>
          <a:xfrm>
            <a:off x="1579513" y="7860351"/>
            <a:ext cx="712782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 각도 맞추기가 정확해졌습니다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피부를 누르는 감각 신호와"/>
          <p:cNvSpPr txBox="1"/>
          <p:nvPr/>
        </p:nvSpPr>
        <p:spPr>
          <a:xfrm>
            <a:off x="2333923" y="9217366"/>
            <a:ext cx="56190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피부를 누르는 감각 신호와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‘덜 아플 것’이라는 기대가"/>
          <p:cNvSpPr txBox="1"/>
          <p:nvPr/>
        </p:nvSpPr>
        <p:spPr>
          <a:xfrm>
            <a:off x="2405658" y="9812381"/>
            <a:ext cx="547568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‘덜 아플 것’이라는 기대가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함께 작용했을 가능성이 있습니다."/>
          <p:cNvSpPr txBox="1"/>
          <p:nvPr/>
        </p:nvSpPr>
        <p:spPr>
          <a:xfrm>
            <a:off x="1709738" y="10407396"/>
            <a:ext cx="686752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함께 작용했을 가능성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이 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텍스트: 효과가 보고된 사람은"/>
          <p:cNvSpPr txBox="1"/>
          <p:nvPr/>
        </p:nvSpPr>
        <p:spPr>
          <a:xfrm>
            <a:off x="1189434" y="1029081"/>
            <a:ext cx="790798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효과가 보고된 사람은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4" name="텍스트: 따로 있습니다"/>
          <p:cNvSpPr txBox="1"/>
          <p:nvPr/>
        </p:nvSpPr>
        <p:spPr>
          <a:xfrm>
            <a:off x="2349550" y="1989171"/>
            <a:ext cx="558760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따로 있습니다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써볼 만함 · 무릎뼈 아래"/>
          <p:cNvSpPr txBox="1"/>
          <p:nvPr/>
        </p:nvSpPr>
        <p:spPr>
          <a:xfrm>
            <a:off x="2086124" y="3800034"/>
            <a:ext cx="6114455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써볼 만함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 · 무릎뼈 아래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6" name="텍스트: 점프·착지에서 아픈 힘줄 통증"/>
          <p:cNvSpPr txBox="1"/>
          <p:nvPr/>
        </p:nvSpPr>
        <p:spPr>
          <a:xfrm>
            <a:off x="2086868" y="4581817"/>
            <a:ext cx="611311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점프·착지에서 아픈 힘줄 통증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→ 착용 중 단기 통증 감소 보고"/>
          <p:cNvSpPr txBox="1"/>
          <p:nvPr/>
        </p:nvSpPr>
        <p:spPr>
          <a:xfrm>
            <a:off x="1965127" y="5176832"/>
            <a:ext cx="635659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→ 착용 중 단기 통증 감소 보고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권하지 않음 · 무릎뼈 주변"/>
          <p:cNvSpPr txBox="1"/>
          <p:nvPr/>
        </p:nvSpPr>
        <p:spPr>
          <a:xfrm>
            <a:off x="1848892" y="6483554"/>
            <a:ext cx="658906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CC414A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권하지 않음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 · 무릎뼈 주변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9" name="텍스트: 러너에게 가장 흔한 슬개대퇴통증"/>
          <p:cNvSpPr txBox="1"/>
          <p:nvPr/>
        </p:nvSpPr>
        <p:spPr>
          <a:xfrm>
            <a:off x="1768078" y="7265337"/>
            <a:ext cx="675069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러너에게 가장 흔한 슬개대퇴통증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→ 가이드라인: 스트랩·보조기 비권고"/>
          <p:cNvSpPr txBox="1"/>
          <p:nvPr/>
        </p:nvSpPr>
        <p:spPr>
          <a:xfrm>
            <a:off x="1445865" y="7860351"/>
            <a:ext cx="7395270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→ 가이드라인: 스트랩·보조기 비권고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근거 부족 · 예방 목적"/>
          <p:cNvSpPr txBox="1"/>
          <p:nvPr/>
        </p:nvSpPr>
        <p:spPr>
          <a:xfrm>
            <a:off x="2323505" y="9167074"/>
            <a:ext cx="5639842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CC414A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근거 부족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 · 예방 목적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아프지 않은데 미리 차는 경우"/>
          <p:cNvSpPr txBox="1"/>
          <p:nvPr/>
        </p:nvSpPr>
        <p:spPr>
          <a:xfrm>
            <a:off x="2090886" y="9948857"/>
            <a:ext cx="610522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아프지 않은데 미리 차는 경우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대부분 소규모·단기 연구라 개인 반응을 보고"/>
          <p:cNvSpPr txBox="1"/>
          <p:nvPr/>
        </p:nvSpPr>
        <p:spPr>
          <a:xfrm>
            <a:off x="707678" y="11139374"/>
            <a:ext cx="887164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대부분 소규모·단기 연구라 개인 반응을 보고 판단합니다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무릎을 살짝 굽힌 미니 스쿼트 옆모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15580"/>
            <a:ext cx="8458200" cy="4953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차라리 운동에"/>
          <p:cNvSpPr txBox="1"/>
          <p:nvPr/>
        </p:nvSpPr>
        <p:spPr>
          <a:xfrm>
            <a:off x="2349550" y="1029081"/>
            <a:ext cx="558775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차라리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운동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에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시간을 쓰세요"/>
          <p:cNvSpPr txBox="1"/>
          <p:nvPr/>
        </p:nvSpPr>
        <p:spPr>
          <a:xfrm>
            <a:off x="2349550" y="1989171"/>
            <a:ext cx="558760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시간을 쓰세요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무릎뼈 아래 힘줄 통증"/>
          <p:cNvSpPr txBox="1"/>
          <p:nvPr/>
        </p:nvSpPr>
        <p:spPr>
          <a:xfrm>
            <a:off x="2569369" y="8557962"/>
            <a:ext cx="5148114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무릎뼈 아래 힘줄 통증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7" name="텍스트: 점진적 힘줄 부하 운동 24주 뒤 기능 점수"/>
          <p:cNvSpPr txBox="1"/>
          <p:nvPr/>
        </p:nvSpPr>
        <p:spPr>
          <a:xfrm>
            <a:off x="1756767" y="9231100"/>
            <a:ext cx="6773466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점진적 힘줄 부하 운동 24주 뒤 기능 점수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+28점 (기존 편심 운동 +18점)"/>
          <p:cNvSpPr txBox="1"/>
          <p:nvPr/>
        </p:nvSpPr>
        <p:spPr>
          <a:xfrm>
            <a:off x="2478137" y="9711071"/>
            <a:ext cx="5330577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+28점 (기존 편심 운동 +18점)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무릎뼈 주변 통증"/>
          <p:cNvSpPr txBox="1"/>
          <p:nvPr/>
        </p:nvSpPr>
        <p:spPr>
          <a:xfrm>
            <a:off x="3033415" y="10531275"/>
            <a:ext cx="4220021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무릎뼈 주변 통증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엉덩관절 + 무릎 근력 운동을 함께"/>
          <p:cNvSpPr txBox="1"/>
          <p:nvPr/>
        </p:nvSpPr>
        <p:spPr>
          <a:xfrm>
            <a:off x="2248793" y="11204412"/>
            <a:ext cx="578941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엉덩관절 + 무릎 근력 운동을 함께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텍스트: 스트랩은 진통 보조,"/>
          <p:cNvSpPr txBox="1"/>
          <p:nvPr/>
        </p:nvSpPr>
        <p:spPr>
          <a:xfrm>
            <a:off x="1419076" y="1029081"/>
            <a:ext cx="7448848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스트랩은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진통 보조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4" name="텍스트: 회복은 운동"/>
          <p:cNvSpPr txBox="1"/>
          <p:nvPr/>
        </p:nvSpPr>
        <p:spPr>
          <a:xfrm>
            <a:off x="2703761" y="1989171"/>
            <a:ext cx="48794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회복은 운동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찬다면 무릎뼈 아래 통증에"/>
          <p:cNvSpPr txBox="1"/>
          <p:nvPr/>
        </p:nvSpPr>
        <p:spPr>
          <a:xfrm>
            <a:off x="1760786" y="3838134"/>
            <a:ext cx="6765280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찬다면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무릎뼈 아래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 통증에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6" name="텍스트: 운동 프로그램과 함께, 단기 보조로"/>
          <p:cNvSpPr txBox="1"/>
          <p:nvPr/>
        </p:nvSpPr>
        <p:spPr>
          <a:xfrm>
            <a:off x="1655266" y="4619917"/>
            <a:ext cx="697646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운동 프로그램과 함께, 단기 보조로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덜 아픈 이유는 여러 가지"/>
          <p:cNvSpPr txBox="1"/>
          <p:nvPr/>
        </p:nvSpPr>
        <p:spPr>
          <a:xfrm>
            <a:off x="1931491" y="5812340"/>
            <a:ext cx="642386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덜 아픈 이유는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여러 가지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8" name="텍스트: 힘줄 당김·근육 힘·감각과 기대"/>
          <p:cNvSpPr txBox="1"/>
          <p:nvPr/>
        </p:nvSpPr>
        <p:spPr>
          <a:xfrm>
            <a:off x="2028379" y="6594122"/>
            <a:ext cx="623009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힘줄 당김·근육 힘·감각과 기대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힘줄을 바꾸는 건 부하"/>
          <p:cNvSpPr txBox="1"/>
          <p:nvPr/>
        </p:nvSpPr>
        <p:spPr>
          <a:xfrm>
            <a:off x="2235547" y="7786545"/>
            <a:ext cx="5815757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힘줄을 바꾸는 건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부하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점진적 근력·힘줄 부하 운동"/>
          <p:cNvSpPr txBox="1"/>
          <p:nvPr/>
        </p:nvSpPr>
        <p:spPr>
          <a:xfrm>
            <a:off x="2275433" y="8568327"/>
            <a:ext cx="573598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점진적 근력·힘줄 부하 운동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붓기·밤 통증·무릎이 빠지는 느낌이 있으면"/>
          <p:cNvSpPr txBox="1"/>
          <p:nvPr/>
        </p:nvSpPr>
        <p:spPr>
          <a:xfrm>
            <a:off x="1342579" y="9923056"/>
            <a:ext cx="7601843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CC414A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붓기·밤 통증·무릎이 빠지는 느낌이 있으면</a:t>
            </a:r>
            <a:endParaRPr lang="ko-KR" altLang="en-US" sz="3000" b="0" i="0" spc="-60" kern="0" dirty="0">
              <a:solidFill>
                <a:srgbClr val="CC414A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2" name="텍스트: 스트랩보다 진료가 먼저입니다."/>
          <p:cNvSpPr txBox="1"/>
          <p:nvPr/>
        </p:nvSpPr>
        <p:spPr>
          <a:xfrm>
            <a:off x="2185690" y="10464046"/>
            <a:ext cx="5915471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spc="-60" kern="0" dirty="0">
                <a:solidFill>
                  <a:srgbClr val="CC414A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스트랩보다 진료가 먼저입니다.</a:t>
            </a:r>
            <a:endParaRPr lang="ko-KR" altLang="en-US" sz="3000" b="0" i="0" spc="-60" kern="0" dirty="0">
              <a:solidFill>
                <a:srgbClr val="CC414A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patellar-strap-runners</dc:title>
  <dc:creator>R스포츠재활센터</dc:creator>
</cp:coreProperties>
</file>