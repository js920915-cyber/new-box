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photo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2-photo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5-photo1.png"/><Relationship Id="rId3" Type="http://schemas.openxmlformats.org/officeDocument/2006/relationships/image" Target="../media/05-photo2.png"/><Relationship Id="rId4" Type="http://schemas.openxmlformats.org/officeDocument/2006/relationships/image" Target="../media/05-photo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Relationship Id="rId3" Type="http://schemas.openxmlformats.org/officeDocument/2006/relationships/image" Target="../media/06-photo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박스 점프 후 무릎을 굽혀 착지하는 선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87626"/>
            <a:ext cx="8458200" cy="70485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슬개건병증,"/>
          <p:cNvSpPr txBox="1"/>
          <p:nvPr/>
        </p:nvSpPr>
        <p:spPr>
          <a:xfrm>
            <a:off x="2586930" y="1021842"/>
            <a:ext cx="5112841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슬개건병증,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무조건 쉬면 좋아질까?"/>
          <p:cNvSpPr txBox="1"/>
          <p:nvPr/>
        </p:nvSpPr>
        <p:spPr>
          <a:xfrm>
            <a:off x="820043" y="2010805"/>
            <a:ext cx="8646765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무조건 쉬면 </a:t>
            </a: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좋아질까?</a:t>
            </a:r>
            <a:endParaRPr lang="ko-KR" altLang="en-US" sz="6600" b="0" i="0" spc="-231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아픈 힘줄에 다시 운동이 필요한 이유"/>
          <p:cNvSpPr txBox="1"/>
          <p:nvPr/>
        </p:nvSpPr>
        <p:spPr>
          <a:xfrm>
            <a:off x="1470571" y="10842272"/>
            <a:ext cx="7345859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아픈 힘줄에 다시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운동이 필요한 이유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훈련 두 가지가 담긴 컵과, 훈련 네 가지가 몰려 통증이 넘치는 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15580"/>
            <a:ext cx="8458200" cy="40005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에도 감당할 수 있는"/>
          <p:cNvSpPr txBox="1"/>
          <p:nvPr/>
        </p:nvSpPr>
        <p:spPr>
          <a:xfrm>
            <a:off x="737443" y="1029081"/>
            <a:ext cx="881211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힘줄에도 감당할 수 있는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부하가 있습니다"/>
          <p:cNvSpPr txBox="1"/>
          <p:nvPr/>
        </p:nvSpPr>
        <p:spPr>
          <a:xfrm>
            <a:off x="1995636" y="198917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가 있습니다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장거리"/>
          <p:cNvSpPr txBox="1"/>
          <p:nvPr/>
        </p:nvSpPr>
        <p:spPr>
          <a:xfrm>
            <a:off x="1999655" y="6213610"/>
            <a:ext cx="20585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FFFFFF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장거리</a:t>
            </a:r>
            <a:endParaRPr lang="ko-KR" altLang="en-US" sz="2700" b="0" i="0" spc="-81" kern="0" dirty="0">
              <a:solidFill>
                <a:srgbClr val="FFFFFF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7" name="텍스트: 템포"/>
          <p:cNvSpPr txBox="1"/>
          <p:nvPr/>
        </p:nvSpPr>
        <p:spPr>
          <a:xfrm>
            <a:off x="2152204" y="5569779"/>
            <a:ext cx="175349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FFFFFF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템포</a:t>
            </a:r>
            <a:endParaRPr lang="ko-KR" altLang="en-US" sz="2700" b="0" i="0" spc="-81" kern="0" dirty="0">
              <a:solidFill>
                <a:srgbClr val="FFFFFF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8" name="텍스트: 장거리"/>
          <p:cNvSpPr txBox="1"/>
          <p:nvPr/>
        </p:nvSpPr>
        <p:spPr>
          <a:xfrm>
            <a:off x="6228755" y="6213610"/>
            <a:ext cx="20585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FFFFFF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장거리</a:t>
            </a:r>
            <a:endParaRPr lang="ko-KR" altLang="en-US" sz="2700" b="0" i="0" spc="-81" kern="0" dirty="0">
              <a:solidFill>
                <a:srgbClr val="FFFFFF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9" name="텍스트: 템포"/>
          <p:cNvSpPr txBox="1"/>
          <p:nvPr/>
        </p:nvSpPr>
        <p:spPr>
          <a:xfrm>
            <a:off x="6381304" y="5569779"/>
            <a:ext cx="175349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FFFFFF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템포</a:t>
            </a:r>
            <a:endParaRPr lang="ko-KR" altLang="en-US" sz="2700" b="0" i="0" spc="-81" kern="0" dirty="0">
              <a:solidFill>
                <a:srgbClr val="FFFFFF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0" name="텍스트: 인터벌"/>
          <p:cNvSpPr txBox="1"/>
          <p:nvPr/>
        </p:nvSpPr>
        <p:spPr>
          <a:xfrm>
            <a:off x="6228755" y="4924907"/>
            <a:ext cx="20585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0B3A63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인터벌</a:t>
            </a:r>
            <a:endParaRPr lang="ko-KR" altLang="en-US" sz="2700" b="0" i="0" spc="-81" kern="0" dirty="0">
              <a:solidFill>
                <a:srgbClr val="0B3A63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무리한 대회"/>
          <p:cNvSpPr txBox="1"/>
          <p:nvPr/>
        </p:nvSpPr>
        <p:spPr>
          <a:xfrm>
            <a:off x="5880646" y="4382875"/>
            <a:ext cx="27546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0B3A63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무리한 대회</a:t>
            </a:r>
            <a:endParaRPr lang="ko-KR" altLang="en-US" sz="2700" b="0" i="0" spc="-81" kern="0" dirty="0">
              <a:solidFill>
                <a:srgbClr val="0B3A63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2" name="텍스트: 통증!"/>
          <p:cNvSpPr txBox="1"/>
          <p:nvPr/>
        </p:nvSpPr>
        <p:spPr>
          <a:xfrm>
            <a:off x="6196757" y="3618208"/>
            <a:ext cx="2122438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108" kern="0" dirty="0">
                <a:solidFill>
                  <a:srgbClr val="FFFFFF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통증!</a:t>
            </a:r>
            <a:endParaRPr lang="ko-KR" altLang="en-US" sz="3600" b="0" i="0" spc="-108" kern="0" dirty="0">
              <a:solidFill>
                <a:srgbClr val="FFFFFF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3" name="텍스트: 컵 = 감당할 수 있는 능력"/>
          <p:cNvSpPr txBox="1"/>
          <p:nvPr/>
        </p:nvSpPr>
        <p:spPr>
          <a:xfrm>
            <a:off x="751433" y="7417629"/>
            <a:ext cx="455488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컵 = 감당할 수 있는 능력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4" name="텍스트: 담긴 것 = 훈련"/>
          <p:cNvSpPr txBox="1"/>
          <p:nvPr/>
        </p:nvSpPr>
        <p:spPr>
          <a:xfrm>
            <a:off x="1457771" y="7897600"/>
            <a:ext cx="314220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담긴 것 = 훈련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훈련이 갑자기 몰리면"/>
          <p:cNvSpPr txBox="1"/>
          <p:nvPr/>
        </p:nvSpPr>
        <p:spPr>
          <a:xfrm>
            <a:off x="5208538" y="7417629"/>
            <a:ext cx="409887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훈련이 </a:t>
            </a:r>
            <a:r>
              <a:rPr lang="ko-KR" altLang="en-US" sz="2700" b="0" i="0" spc="-5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갑자기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몰리면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넘치는 것 = 통증"/>
          <p:cNvSpPr txBox="1"/>
          <p:nvPr/>
        </p:nvSpPr>
        <p:spPr>
          <a:xfrm>
            <a:off x="5532537" y="7897600"/>
            <a:ext cx="345087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넘치는 것 = </a:t>
            </a:r>
            <a:r>
              <a:rPr lang="ko-KR" altLang="en-US" sz="2700" b="0" i="0" spc="-54" kern="0" dirty="0">
                <a:solidFill>
                  <a:srgbClr val="CC414A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통증</a:t>
            </a:r>
            <a:endParaRPr lang="ko-KR" altLang="en-US" sz="2700" b="0" i="0" spc="-54" kern="0" dirty="0">
              <a:solidFill>
                <a:srgbClr val="CC414A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7" name="텍스트: 운동량이나 강도가 갑자기 늘면"/>
          <p:cNvSpPr txBox="1"/>
          <p:nvPr/>
        </p:nvSpPr>
        <p:spPr>
          <a:xfrm>
            <a:off x="1956792" y="8734568"/>
            <a:ext cx="637341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운동량이나 강도가 갑자기 늘면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감당 능력을 넘어설 수 있습니다."/>
          <p:cNvSpPr txBox="1"/>
          <p:nvPr/>
        </p:nvSpPr>
        <p:spPr>
          <a:xfrm>
            <a:off x="1843832" y="9329583"/>
            <a:ext cx="659933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감당 능력을 넘어설 수 있습니다.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문제는 운동 자체보다"/>
          <p:cNvSpPr txBox="1"/>
          <p:nvPr/>
        </p:nvSpPr>
        <p:spPr>
          <a:xfrm>
            <a:off x="2788593" y="10172248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문제는 운동 자체보다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0" name="텍스트: 갑작스러운 증가일 수 있습니다"/>
          <p:cNvSpPr txBox="1"/>
          <p:nvPr/>
        </p:nvSpPr>
        <p:spPr>
          <a:xfrm>
            <a:off x="1990279" y="10716959"/>
            <a:ext cx="630644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갑작스러운 증가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일 수 있습니다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1" name="텍스트: 참고: Cook et al., Br J Sp"/>
          <p:cNvSpPr txBox="1"/>
          <p:nvPr/>
        </p:nvSpPr>
        <p:spPr>
          <a:xfrm>
            <a:off x="2010073" y="11482268"/>
            <a:ext cx="6266855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Cook et al., Br J Sports Med 2016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작은 컵에서 큰 컵으로, 물도 넘치지 않게 조금씩 늘어나는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780"/>
            <a:ext cx="8458200" cy="40005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 재활의 핵심은"/>
          <p:cNvSpPr txBox="1"/>
          <p:nvPr/>
        </p:nvSpPr>
        <p:spPr>
          <a:xfrm>
            <a:off x="1543496" y="1029081"/>
            <a:ext cx="7199858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 재활의 핵심은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점진적인 부하입니다"/>
          <p:cNvSpPr txBox="1"/>
          <p:nvPr/>
        </p:nvSpPr>
        <p:spPr>
          <a:xfrm>
            <a:off x="1287512" y="1989171"/>
            <a:ext cx="7711976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점진적인 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컵이 커지는 것 = 감당 능력이 늘어나는 것"/>
          <p:cNvSpPr txBox="1"/>
          <p:nvPr/>
        </p:nvSpPr>
        <p:spPr>
          <a:xfrm>
            <a:off x="1696641" y="7455729"/>
            <a:ext cx="689357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컵이 커지는 것 = 감당 능력이 늘어나는 것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힘줄은 부하에 적응하는 조직입니다."/>
          <p:cNvSpPr txBox="1"/>
          <p:nvPr/>
        </p:nvSpPr>
        <p:spPr>
          <a:xfrm>
            <a:off x="1521023" y="8330797"/>
            <a:ext cx="72448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힘줄은 부하에 적응하는 조직입니다.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감당 가능한 운동부터 단계적으로!"/>
          <p:cNvSpPr txBox="1"/>
          <p:nvPr/>
        </p:nvSpPr>
        <p:spPr>
          <a:xfrm>
            <a:off x="1700212" y="8925812"/>
            <a:ext cx="688642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감당 가능한 운동부터 단계적으로!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무조건 쉬기보다,"/>
          <p:cNvSpPr txBox="1"/>
          <p:nvPr/>
        </p:nvSpPr>
        <p:spPr>
          <a:xfrm>
            <a:off x="3149054" y="9844677"/>
            <a:ext cx="398874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무조건 쉬기보다,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감당 가능한 부하부터"/>
          <p:cNvSpPr txBox="1"/>
          <p:nvPr/>
        </p:nvSpPr>
        <p:spPr>
          <a:xfrm>
            <a:off x="2788593" y="10389388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감당 가능한 부하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부터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참고: Cook 2016 · Kongsgaa"/>
          <p:cNvSpPr txBox="1"/>
          <p:nvPr/>
        </p:nvSpPr>
        <p:spPr>
          <a:xfrm>
            <a:off x="1380976" y="11154698"/>
            <a:ext cx="7525048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Cook 2016 · Kongsgaard 2009 · Breda 2021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4457700" y="5438031"/>
            <a:ext cx="1104900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연한 박스"/>
          <p:cNvSpPr/>
          <p:nvPr/>
        </p:nvSpPr>
        <p:spPr>
          <a:xfrm>
            <a:off x="4457700" y="6180981"/>
            <a:ext cx="2009775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연한 박스"/>
          <p:cNvSpPr/>
          <p:nvPr/>
        </p:nvSpPr>
        <p:spPr>
          <a:xfrm>
            <a:off x="4457700" y="6923931"/>
            <a:ext cx="2124075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4457700" y="7666881"/>
            <a:ext cx="3524250" cy="495300"/>
          </a:xfrm>
          <a:prstGeom prst="roundRect">
            <a:avLst>
              <a:gd name="adj" fmla="val 15385"/>
            </a:avLst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4457700" y="8409831"/>
            <a:ext cx="3695700" cy="495300"/>
          </a:xfrm>
          <a:prstGeom prst="roundRect">
            <a:avLst>
              <a:gd name="adj" fmla="val 15385"/>
            </a:avLst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텍스트: 운동마다 힘줄이"/>
          <p:cNvSpPr txBox="1"/>
          <p:nvPr/>
        </p:nvSpPr>
        <p:spPr>
          <a:xfrm>
            <a:off x="1995488" y="102908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운동마다 힘줄이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9" name="텍스트: 받는 부하는 다릅니다"/>
          <p:cNvSpPr txBox="1"/>
          <p:nvPr/>
        </p:nvSpPr>
        <p:spPr>
          <a:xfrm>
            <a:off x="1189434" y="198917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받는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는 다릅니다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스쿼트부터 점프까지, 운동마다"/>
          <p:cNvSpPr txBox="1"/>
          <p:nvPr/>
        </p:nvSpPr>
        <p:spPr>
          <a:xfrm>
            <a:off x="1952774" y="3278826"/>
            <a:ext cx="6381452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스쿼트부터 점프까지, 운동마다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힘의 크기와 증가 속도가 다릅니다."/>
          <p:cNvSpPr txBox="1"/>
          <p:nvPr/>
        </p:nvSpPr>
        <p:spPr>
          <a:xfrm>
            <a:off x="1655266" y="3873841"/>
            <a:ext cx="697646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힘의 크기와 증가 속도가 다릅니다.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슬개건 부하 지수 (건강한 성인 20명)"/>
          <p:cNvSpPr txBox="1"/>
          <p:nvPr/>
        </p:nvSpPr>
        <p:spPr>
          <a:xfrm>
            <a:off x="2039243" y="4835759"/>
            <a:ext cx="620836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슬개건 부하 지수 (건강한 성인 20명)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양발 60° 스쿼트"/>
          <p:cNvSpPr txBox="1"/>
          <p:nvPr/>
        </p:nvSpPr>
        <p:spPr>
          <a:xfrm>
            <a:off x="1012180" y="5492835"/>
            <a:ext cx="33475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양발 60°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4" name="텍스트: 0.224"/>
          <p:cNvSpPr txBox="1"/>
          <p:nvPr/>
        </p:nvSpPr>
        <p:spPr>
          <a:xfrm>
            <a:off x="5148411" y="54816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0.224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5" name="텍스트: 불가리안 스쿼트"/>
          <p:cNvSpPr txBox="1"/>
          <p:nvPr/>
        </p:nvSpPr>
        <p:spPr>
          <a:xfrm>
            <a:off x="1003548" y="6235785"/>
            <a:ext cx="3365004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불가리안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6" name="텍스트: 0.406"/>
          <p:cNvSpPr txBox="1"/>
          <p:nvPr/>
        </p:nvSpPr>
        <p:spPr>
          <a:xfrm>
            <a:off x="6053286" y="622457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0.406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7" name="텍스트: 양발 풀 스쿼트"/>
          <p:cNvSpPr txBox="1"/>
          <p:nvPr/>
        </p:nvSpPr>
        <p:spPr>
          <a:xfrm>
            <a:off x="1113234" y="6978735"/>
            <a:ext cx="31456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양발 풀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0.428"/>
          <p:cNvSpPr txBox="1"/>
          <p:nvPr/>
        </p:nvSpPr>
        <p:spPr>
          <a:xfrm>
            <a:off x="6167586" y="69675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0.428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9" name="텍스트: 한발 반동 점프"/>
          <p:cNvSpPr txBox="1"/>
          <p:nvPr/>
        </p:nvSpPr>
        <p:spPr>
          <a:xfrm>
            <a:off x="1113234" y="7721685"/>
            <a:ext cx="31456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한발 반동 점프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0" name="텍스트: 0.711"/>
          <p:cNvSpPr txBox="1"/>
          <p:nvPr/>
        </p:nvSpPr>
        <p:spPr>
          <a:xfrm>
            <a:off x="7567761" y="771047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0.711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1" name="텍스트: 한발 디클라인 스쿼트"/>
          <p:cNvSpPr txBox="1"/>
          <p:nvPr/>
        </p:nvSpPr>
        <p:spPr>
          <a:xfrm>
            <a:off x="655439" y="8464635"/>
            <a:ext cx="406122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한발 디클라인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2" name="텍스트: 0.747"/>
          <p:cNvSpPr txBox="1"/>
          <p:nvPr/>
        </p:nvSpPr>
        <p:spPr>
          <a:xfrm>
            <a:off x="7739211" y="84534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0.747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3" name="텍스트: 어떤 운동이냐에 따라"/>
          <p:cNvSpPr txBox="1"/>
          <p:nvPr/>
        </p:nvSpPr>
        <p:spPr>
          <a:xfrm>
            <a:off x="2788593" y="9292227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어떤 운동이냐에 따라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4" name="텍스트: 부하의 특성이 달라집니다"/>
          <p:cNvSpPr txBox="1"/>
          <p:nvPr/>
        </p:nvSpPr>
        <p:spPr>
          <a:xfrm>
            <a:off x="2415629" y="9836938"/>
            <a:ext cx="545574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부하의 특성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이 달라집니다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5" name="텍스트: 지수가 높다고 위험한 운동은 아닙니다"/>
          <p:cNvSpPr txBox="1"/>
          <p:nvPr/>
        </p:nvSpPr>
        <p:spPr>
          <a:xfrm>
            <a:off x="1924794" y="10500902"/>
            <a:ext cx="643741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지수가 높다고 위험한 운동은 아닙니다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6" name="텍스트: 출처: Scattone Silva et al"/>
          <p:cNvSpPr txBox="1"/>
          <p:nvPr/>
        </p:nvSpPr>
        <p:spPr>
          <a:xfrm>
            <a:off x="1081385" y="11158418"/>
            <a:ext cx="812408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출처: Scattone Silva et al., Med Sci Sports Exerc 2024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힘의 크기 힘-시간 모식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824710"/>
            <a:ext cx="2590800" cy="2095500"/>
          </a:xfrm>
          <a:prstGeom prst="rect">
            <a:avLst/>
          </a:prstGeom>
        </p:spPr>
      </p:pic>
      <p:pic>
        <p:nvPicPr>
          <p:cNvPr id="3" name="사진" descr="증가 속도 힘-시간 모식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4824710"/>
            <a:ext cx="2590800" cy="2095500"/>
          </a:xfrm>
          <a:prstGeom prst="rect">
            <a:avLst/>
          </a:prstGeom>
        </p:spPr>
      </p:pic>
      <p:pic>
        <p:nvPicPr>
          <p:cNvPr id="4" name="사진" descr="누적 부하 힘-시간 모식도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800" y="4824710"/>
            <a:ext cx="2590800" cy="2095500"/>
          </a:xfrm>
          <a:prstGeom prst="rect">
            <a:avLst/>
          </a:prstGeom>
        </p:spPr>
      </p:pic>
      <p:sp>
        <p:nvSpPr>
          <p:cNvPr id="5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텍스트: 무게만이 운동 강도를"/>
          <p:cNvSpPr txBox="1"/>
          <p:nvPr/>
        </p:nvSpPr>
        <p:spPr>
          <a:xfrm>
            <a:off x="1189434" y="102908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무게만이 운동 강도를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결정하지 않습니다"/>
          <p:cNvSpPr txBox="1"/>
          <p:nvPr/>
        </p:nvSpPr>
        <p:spPr>
          <a:xfrm>
            <a:off x="1641425" y="1989171"/>
            <a:ext cx="700385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결정하지 않습니다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힘줄이 받는 자극은 힘의 크기,"/>
          <p:cNvSpPr txBox="1"/>
          <p:nvPr/>
        </p:nvSpPr>
        <p:spPr>
          <a:xfrm>
            <a:off x="2032248" y="3278826"/>
            <a:ext cx="622220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힘줄이 받는 자극은 힘의 크기,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증가 속도, 지속 시간에 따라 달라집니다."/>
          <p:cNvSpPr txBox="1"/>
          <p:nvPr/>
        </p:nvSpPr>
        <p:spPr>
          <a:xfrm>
            <a:off x="1165027" y="3873841"/>
            <a:ext cx="795679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증가 속도, 지속 시간에 따라 달라집니다.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힘의 크기"/>
          <p:cNvSpPr txBox="1"/>
          <p:nvPr/>
        </p:nvSpPr>
        <p:spPr>
          <a:xfrm>
            <a:off x="9124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힘의 크기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얼마나"/>
          <p:cNvSpPr txBox="1"/>
          <p:nvPr/>
        </p:nvSpPr>
        <p:spPr>
          <a:xfrm>
            <a:off x="1175296" y="7655159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큰 힘?"/>
          <p:cNvSpPr txBox="1"/>
          <p:nvPr/>
        </p:nvSpPr>
        <p:spPr>
          <a:xfrm>
            <a:off x="1203871" y="8135130"/>
            <a:ext cx="201171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큰 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증가 속도"/>
          <p:cNvSpPr txBox="1"/>
          <p:nvPr/>
        </p:nvSpPr>
        <p:spPr>
          <a:xfrm>
            <a:off x="38461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증가 속도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얼마나"/>
          <p:cNvSpPr txBox="1"/>
          <p:nvPr/>
        </p:nvSpPr>
        <p:spPr>
          <a:xfrm>
            <a:off x="4108996" y="7655159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빠르게 커지나?"/>
          <p:cNvSpPr txBox="1"/>
          <p:nvPr/>
        </p:nvSpPr>
        <p:spPr>
          <a:xfrm>
            <a:off x="3520380" y="8135130"/>
            <a:ext cx="324609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빠르게 커지나?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누적 부하"/>
          <p:cNvSpPr txBox="1"/>
          <p:nvPr/>
        </p:nvSpPr>
        <p:spPr>
          <a:xfrm>
            <a:off x="67798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누적 부하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7" name="텍스트: 시간 동안"/>
          <p:cNvSpPr txBox="1"/>
          <p:nvPr/>
        </p:nvSpPr>
        <p:spPr>
          <a:xfrm>
            <a:off x="6843712" y="7655159"/>
            <a:ext cx="246667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시간 동안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얼마나 쌓이나?"/>
          <p:cNvSpPr txBox="1"/>
          <p:nvPr/>
        </p:nvSpPr>
        <p:spPr>
          <a:xfrm>
            <a:off x="6454080" y="8135130"/>
            <a:ext cx="324609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 쌓이나?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가로 = 시간, 세로 = 힘 (개념 그림)"/>
          <p:cNvSpPr txBox="1"/>
          <p:nvPr/>
        </p:nvSpPr>
        <p:spPr>
          <a:xfrm>
            <a:off x="2210842" y="8729401"/>
            <a:ext cx="586516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가로 = 시간, 세로 = 힘 (개념 그림)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0" name="텍스트: 무게뿐 아니라 힘이 커지는 속도와"/>
          <p:cNvSpPr txBox="1"/>
          <p:nvPr/>
        </p:nvSpPr>
        <p:spPr>
          <a:xfrm>
            <a:off x="1751261" y="9585418"/>
            <a:ext cx="678433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무게뿐 아니라 </a:t>
            </a: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힘이 커지는 속도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와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1" name="텍스트: 지속 시간도 함께 봅니다"/>
          <p:cNvSpPr txBox="1"/>
          <p:nvPr/>
        </p:nvSpPr>
        <p:spPr>
          <a:xfrm>
            <a:off x="2549723" y="10130129"/>
            <a:ext cx="51874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지속 시간도 함께 봅니다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2" name="텍스트: 참고: Scattone Silva et al"/>
          <p:cNvSpPr txBox="1"/>
          <p:nvPr/>
        </p:nvSpPr>
        <p:spPr>
          <a:xfrm>
            <a:off x="1081385" y="10857339"/>
            <a:ext cx="812408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Scattone Silva et al., Med Sci Sports Exerc 2024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바벨을 메고 스쿼트하는 여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48510"/>
            <a:ext cx="4114800" cy="3848100"/>
          </a:xfrm>
          <a:prstGeom prst="rect">
            <a:avLst/>
          </a:prstGeom>
        </p:spPr>
      </p:pic>
      <p:pic>
        <p:nvPicPr>
          <p:cNvPr id="3" name="사진" descr="박스 위로 점프하는 선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4748510"/>
            <a:ext cx="4114800" cy="3848100"/>
          </a:xfrm>
          <a:prstGeom prst="rect">
            <a:avLst/>
          </a:prstGeom>
        </p:spPr>
      </p:pic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강한 힘에서"/>
          <p:cNvSpPr txBox="1"/>
          <p:nvPr/>
        </p:nvSpPr>
        <p:spPr>
          <a:xfrm>
            <a:off x="2703761" y="1029081"/>
            <a:ext cx="487947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강한 힘에서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빠른 힘까지!"/>
          <p:cNvSpPr txBox="1"/>
          <p:nvPr/>
        </p:nvSpPr>
        <p:spPr>
          <a:xfrm>
            <a:off x="2560886" y="1989171"/>
            <a:ext cx="516522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빠른 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까지!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근력을 회복한 뒤에는 점프·착지처럼"/>
          <p:cNvSpPr txBox="1"/>
          <p:nvPr/>
        </p:nvSpPr>
        <p:spPr>
          <a:xfrm>
            <a:off x="1521023" y="3278826"/>
            <a:ext cx="72448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근력을 회복한 뒤에는 점프·착지처럼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빠르고 반복적인 부하에도 적응합니다."/>
          <p:cNvSpPr txBox="1"/>
          <p:nvPr/>
        </p:nvSpPr>
        <p:spPr>
          <a:xfrm>
            <a:off x="1332458" y="3873841"/>
            <a:ext cx="762193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빠르고 반복적인 부하에도 적응합니다.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천천히, 높은 힘"/>
          <p:cNvSpPr txBox="1"/>
          <p:nvPr/>
        </p:nvSpPr>
        <p:spPr>
          <a:xfrm>
            <a:off x="1111448" y="8793206"/>
            <a:ext cx="372055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천천히, 높은 힘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최대 근력 · 저항운동"/>
          <p:cNvSpPr txBox="1"/>
          <p:nvPr/>
        </p:nvSpPr>
        <p:spPr>
          <a:xfrm>
            <a:off x="984200" y="9342870"/>
            <a:ext cx="397505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최대 근력 · 저항운동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빠르게, 반복적으로"/>
          <p:cNvSpPr txBox="1"/>
          <p:nvPr/>
        </p:nvSpPr>
        <p:spPr>
          <a:xfrm>
            <a:off x="5134273" y="8793206"/>
            <a:ext cx="436170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빠르게, 반복적으로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2" name="텍스트: 빠른 부하 · 스포츠 동작"/>
          <p:cNvSpPr txBox="1"/>
          <p:nvPr/>
        </p:nvSpPr>
        <p:spPr>
          <a:xfrm>
            <a:off x="5128766" y="9342870"/>
            <a:ext cx="437286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빠른 부하 · 스포츠 동작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근력이 좋아져도 점프 능력이"/>
          <p:cNvSpPr txBox="1"/>
          <p:nvPr/>
        </p:nvSpPr>
        <p:spPr>
          <a:xfrm>
            <a:off x="2176760" y="10160788"/>
            <a:ext cx="593333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근력이 좋아져도 점프 능력이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저절로 돌아오지는 않습니다"/>
          <p:cNvSpPr txBox="1"/>
          <p:nvPr/>
        </p:nvSpPr>
        <p:spPr>
          <a:xfrm>
            <a:off x="2228999" y="10705499"/>
            <a:ext cx="582870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저절로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 돌아오지는 않습니다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5" name="텍스트: 참고: Breda et al., Br J S"/>
          <p:cNvSpPr txBox="1"/>
          <p:nvPr/>
        </p:nvSpPr>
        <p:spPr>
          <a:xfrm>
            <a:off x="1957090" y="11432709"/>
            <a:ext cx="637267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Breda et al., Br J Sports Med 2021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연한 박스"/>
          <p:cNvSpPr/>
          <p:nvPr/>
        </p:nvSpPr>
        <p:spPr>
          <a:xfrm>
            <a:off x="168845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연한 박스"/>
          <p:cNvSpPr/>
          <p:nvPr/>
        </p:nvSpPr>
        <p:spPr>
          <a:xfrm>
            <a:off x="246251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323656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401062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478467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555873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연한 박스"/>
          <p:cNvSpPr/>
          <p:nvPr/>
        </p:nvSpPr>
        <p:spPr>
          <a:xfrm>
            <a:off x="6332786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연한 박스"/>
          <p:cNvSpPr/>
          <p:nvPr/>
        </p:nvSpPr>
        <p:spPr>
          <a:xfrm>
            <a:off x="7106841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1" name="연한 박스"/>
          <p:cNvSpPr/>
          <p:nvPr/>
        </p:nvSpPr>
        <p:spPr>
          <a:xfrm>
            <a:off x="7880896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2" name="연한 박스"/>
          <p:cNvSpPr/>
          <p:nvPr/>
        </p:nvSpPr>
        <p:spPr>
          <a:xfrm>
            <a:off x="8654951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4" name="텍스트: 그럼 운동 강도는"/>
          <p:cNvSpPr txBox="1"/>
          <p:nvPr/>
        </p:nvSpPr>
        <p:spPr>
          <a:xfrm>
            <a:off x="1897559" y="1029081"/>
            <a:ext cx="64917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그럼 운동 강도는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5" name="텍스트: 언제 높여야 할까요?"/>
          <p:cNvSpPr txBox="1"/>
          <p:nvPr/>
        </p:nvSpPr>
        <p:spPr>
          <a:xfrm>
            <a:off x="1344662" y="1989171"/>
            <a:ext cx="75975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언제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높여야 할까요?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6" name="텍스트: ① 지금 운동을 안정적으로 하는가?"/>
          <p:cNvSpPr txBox="1"/>
          <p:nvPr/>
        </p:nvSpPr>
        <p:spPr>
          <a:xfrm>
            <a:off x="1597819" y="3431226"/>
            <a:ext cx="7091362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① 지금 운동을 안정적으로 하는가?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7" name="텍스트: ② 운동 중 통증이 관리 가능한가?"/>
          <p:cNvSpPr txBox="1"/>
          <p:nvPr/>
        </p:nvSpPr>
        <p:spPr>
          <a:xfrm>
            <a:off x="1731913" y="4273891"/>
            <a:ext cx="682317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② 운동 중 통증이 관리 가능한가?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③ 다음 날 증상이 나빠지지 않는가?"/>
          <p:cNvSpPr txBox="1"/>
          <p:nvPr/>
        </p:nvSpPr>
        <p:spPr>
          <a:xfrm>
            <a:off x="1543348" y="5116556"/>
            <a:ext cx="720030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③ 다음 날 증상이 나빠지지 않는가?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0"/>
          <p:cNvSpPr txBox="1"/>
          <p:nvPr/>
        </p:nvSpPr>
        <p:spPr>
          <a:xfrm>
            <a:off x="61138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0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0" name="텍스트: 1"/>
          <p:cNvSpPr txBox="1"/>
          <p:nvPr/>
        </p:nvSpPr>
        <p:spPr>
          <a:xfrm>
            <a:off x="138544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1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1" name="텍스트: 2"/>
          <p:cNvSpPr txBox="1"/>
          <p:nvPr/>
        </p:nvSpPr>
        <p:spPr>
          <a:xfrm>
            <a:off x="215949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2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2" name="텍스트: 3"/>
          <p:cNvSpPr txBox="1"/>
          <p:nvPr/>
        </p:nvSpPr>
        <p:spPr>
          <a:xfrm>
            <a:off x="293355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3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3" name="텍스트: 4"/>
          <p:cNvSpPr txBox="1"/>
          <p:nvPr/>
        </p:nvSpPr>
        <p:spPr>
          <a:xfrm>
            <a:off x="370760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4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4" name="텍스트: 5"/>
          <p:cNvSpPr txBox="1"/>
          <p:nvPr/>
        </p:nvSpPr>
        <p:spPr>
          <a:xfrm>
            <a:off x="448166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5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5" name="텍스트: 6"/>
          <p:cNvSpPr txBox="1"/>
          <p:nvPr/>
        </p:nvSpPr>
        <p:spPr>
          <a:xfrm>
            <a:off x="525571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6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6" name="텍스트: 7"/>
          <p:cNvSpPr txBox="1"/>
          <p:nvPr/>
        </p:nvSpPr>
        <p:spPr>
          <a:xfrm>
            <a:off x="602977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7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7" name="텍스트: 8"/>
          <p:cNvSpPr txBox="1"/>
          <p:nvPr/>
        </p:nvSpPr>
        <p:spPr>
          <a:xfrm>
            <a:off x="6803827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8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8" name="텍스트: 9"/>
          <p:cNvSpPr txBox="1"/>
          <p:nvPr/>
        </p:nvSpPr>
        <p:spPr>
          <a:xfrm>
            <a:off x="7577882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9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9" name="텍스트: 10"/>
          <p:cNvSpPr txBox="1"/>
          <p:nvPr/>
        </p:nvSpPr>
        <p:spPr>
          <a:xfrm>
            <a:off x="8262045" y="6323838"/>
            <a:ext cx="1502718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10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30" name="텍스트: 연구 예시: 한발 스쿼트 통증 3/10 이하"/>
          <p:cNvSpPr txBox="1"/>
          <p:nvPr/>
        </p:nvSpPr>
        <p:spPr>
          <a:xfrm>
            <a:off x="1844278" y="7050024"/>
            <a:ext cx="659829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연구 예시: 한발 스쿼트 통증 </a:t>
            </a:r>
            <a:r>
              <a:rPr lang="ko-KR" altLang="en-US" sz="2700" b="0" i="0" spc="-5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3/10 이하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,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31" name="텍스트: 한 단계 최소 1주 수행 후 다음 단계"/>
          <p:cNvSpPr txBox="1"/>
          <p:nvPr/>
        </p:nvSpPr>
        <p:spPr>
          <a:xfrm>
            <a:off x="2159496" y="7529995"/>
            <a:ext cx="596771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한 단계 최소 1주 수행 후 다음 단계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32" name="텍스트: 중량·범위·속도·반복량을 조금씩 ↑"/>
          <p:cNvSpPr txBox="1"/>
          <p:nvPr/>
        </p:nvSpPr>
        <p:spPr>
          <a:xfrm>
            <a:off x="1644402" y="8462212"/>
            <a:ext cx="699804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중량·범위·속도·반복량을 </a:t>
            </a: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조금씩 ↑</a:t>
            </a:r>
            <a:endParaRPr lang="ko-KR" altLang="en-US" sz="3300" b="0" i="0" spc="-99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3" name="텍스트: 재활의 목표는 통증 감소를 넘어"/>
          <p:cNvSpPr txBox="1"/>
          <p:nvPr/>
        </p:nvSpPr>
        <p:spPr>
          <a:xfrm>
            <a:off x="1458962" y="9544895"/>
            <a:ext cx="7368927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117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재활의 목표는 통증 감소를 넘어</a:t>
            </a:r>
            <a:endParaRPr lang="ko-KR" altLang="en-US" sz="3900" b="0" i="0" spc="-117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4" name="텍스트: 다시 뛰고 점프하는 것입니다"/>
          <p:cNvSpPr txBox="1"/>
          <p:nvPr/>
        </p:nvSpPr>
        <p:spPr>
          <a:xfrm>
            <a:off x="1741140" y="10188726"/>
            <a:ext cx="6804422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117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다시 뛰고 점프하는 것</a:t>
            </a:r>
            <a:r>
              <a:rPr lang="ko-KR" altLang="en-US" sz="3900" b="0" i="0" spc="-117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입니다</a:t>
            </a:r>
            <a:endParaRPr lang="ko-KR" altLang="en-US" sz="3900" b="0" i="0" spc="-117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5" name="텍스트: 참고: Breda 2021 (모든 사람의 기"/>
          <p:cNvSpPr txBox="1"/>
          <p:nvPr/>
        </p:nvSpPr>
        <p:spPr>
          <a:xfrm>
            <a:off x="1922711" y="10991433"/>
            <a:ext cx="6441579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Breda 2021 (모든 사람의 기준은 아님)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patellar-tendinopathy-loading</dc:title>
  <dc:creator>R스포츠재활센터</dc:creator>
</cp:coreProperties>
</file>