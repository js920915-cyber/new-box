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0287000" cy="1285875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1-photo1.png"/><Relationship Id="rId3" Type="http://schemas.openxmlformats.org/officeDocument/2006/relationships/image" Target="../media/01-photo2.png"/><Relationship Id="rId4" Type="http://schemas.openxmlformats.org/officeDocument/2006/relationships/image" Target="../media/01-photo3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2-photo1.png"/><Relationship Id="rId3" Type="http://schemas.openxmlformats.org/officeDocument/2006/relationships/image" Target="../media/02-photo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3-photo1.png"/><Relationship Id="rId3" Type="http://schemas.openxmlformats.org/officeDocument/2006/relationships/image" Target="../media/03-photo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4-photo1.png"/><Relationship Id="rId3" Type="http://schemas.openxmlformats.org/officeDocument/2006/relationships/image" Target="../media/04-photo2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5-photo1.png"/><Relationship Id="rId3" Type="http://schemas.openxmlformats.org/officeDocument/2006/relationships/image" Target="../media/05-photo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6-photo1.png"/><Relationship Id="rId3" Type="http://schemas.openxmlformats.org/officeDocument/2006/relationships/image" Target="../media/06-photo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7-photo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랙에서 바벨 백스쿼트를 하는 사람 정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338489"/>
            <a:ext cx="8458200" cy="4191000"/>
          </a:xfrm>
          <a:prstGeom prst="rect">
            <a:avLst/>
          </a:prstGeom>
        </p:spPr>
      </p:pic>
      <p:pic>
        <p:nvPicPr>
          <p:cNvPr id="3" name="사진" descr="조진솔 P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8948589"/>
            <a:ext cx="1714500" cy="1714500"/>
          </a:xfrm>
          <a:prstGeom prst="rect">
            <a:avLst/>
          </a:prstGeom>
        </p:spPr>
      </p:pic>
      <p:pic>
        <p:nvPicPr>
          <p:cNvPr id="4" name="사진" descr="Andre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8948589"/>
            <a:ext cx="1714500" cy="1714500"/>
          </a:xfrm>
          <a:prstGeom prst="rect">
            <a:avLst/>
          </a:prstGeom>
        </p:spPr>
      </p:pic>
      <p:sp>
        <p:nvSpPr>
          <p:cNvPr id="5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텍스트: ACL 재활,"/>
          <p:cNvSpPr txBox="1"/>
          <p:nvPr/>
        </p:nvSpPr>
        <p:spPr>
          <a:xfrm>
            <a:off x="2847529" y="1021842"/>
            <a:ext cx="4591794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ACL 재활,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7" name="텍스트: 무게만 보면"/>
          <p:cNvSpPr txBox="1"/>
          <p:nvPr/>
        </p:nvSpPr>
        <p:spPr>
          <a:xfrm>
            <a:off x="2614761" y="2010805"/>
            <a:ext cx="5057477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무게만</a:t>
            </a: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 보면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8" name="텍스트: 될까요?"/>
          <p:cNvSpPr txBox="1"/>
          <p:nvPr/>
        </p:nvSpPr>
        <p:spPr>
          <a:xfrm>
            <a:off x="3250853" y="2999768"/>
            <a:ext cx="3785146" cy="10096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600" b="0" i="0" spc="-231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될까요?</a:t>
            </a:r>
            <a:endParaRPr lang="ko-KR" altLang="en-US" sz="6600" b="0" i="0" spc="-231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9" name="텍스트: 조진솔 PT가 묻고"/>
          <p:cNvSpPr txBox="1"/>
          <p:nvPr/>
        </p:nvSpPr>
        <p:spPr>
          <a:xfrm>
            <a:off x="1117699" y="10788438"/>
            <a:ext cx="3593902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조진솔 PT가 묻고</a:t>
            </a:r>
            <a:endParaRPr lang="ko-KR" altLang="en-US" sz="2700" b="0" i="0" spc="-54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0" name="텍스트: Andreas가 답합니다"/>
          <p:cNvSpPr txBox="1"/>
          <p:nvPr/>
        </p:nvSpPr>
        <p:spPr>
          <a:xfrm>
            <a:off x="5324177" y="10788438"/>
            <a:ext cx="4096345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Andreas가 답합니다</a:t>
            </a:r>
            <a:endParaRPr lang="ko-KR" altLang="en-US" sz="2700" b="0" i="0" spc="-54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조진솔 PT 얼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90600"/>
            <a:ext cx="1600200" cy="1600200"/>
          </a:xfrm>
          <a:prstGeom prst="rect">
            <a:avLst/>
          </a:prstGeom>
        </p:spPr>
      </p:pic>
      <p:sp>
        <p:nvSpPr>
          <p:cNvPr id="3" name="연한 박스"/>
          <p:cNvSpPr/>
          <p:nvPr/>
        </p:nvSpPr>
        <p:spPr>
          <a:xfrm>
            <a:off x="2895600" y="990600"/>
            <a:ext cx="6477000" cy="2051149"/>
          </a:xfrm>
          <a:prstGeom prst="roundRect">
            <a:avLst>
              <a:gd name="adj" fmla="val 18575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pic>
        <p:nvPicPr>
          <p:cNvPr id="4" name="사진" descr="Andreas 얼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3474690"/>
            <a:ext cx="1600200" cy="1600200"/>
          </a:xfrm>
          <a:prstGeom prst="rect">
            <a:avLst/>
          </a:prstGeom>
        </p:spPr>
      </p:pic>
      <p:sp>
        <p:nvSpPr>
          <p:cNvPr id="5" name="연한 박스"/>
          <p:cNvSpPr/>
          <p:nvPr/>
        </p:nvSpPr>
        <p:spPr>
          <a:xfrm>
            <a:off x="914400" y="3474690"/>
            <a:ext cx="6477000" cy="2131814"/>
          </a:xfrm>
          <a:prstGeom prst="roundRect">
            <a:avLst>
              <a:gd name="adj" fmla="val 17872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구분선"/>
          <p:cNvSpPr/>
          <p:nvPr/>
        </p:nvSpPr>
        <p:spPr>
          <a:xfrm>
            <a:off x="914400" y="6301680"/>
            <a:ext cx="8458200" cy="19050"/>
          </a:xfrm>
          <a:prstGeom prst="rect">
            <a:avLst/>
          </a:prstGeom>
          <a:solidFill>
            <a:srgbClr val="D0DCE5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텍스트: 조진솔 PT"/>
          <p:cNvSpPr txBox="1"/>
          <p:nvPr/>
        </p:nvSpPr>
        <p:spPr>
          <a:xfrm>
            <a:off x="501253" y="2716149"/>
            <a:ext cx="2578894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조진솔 PT</a:t>
            </a:r>
            <a:endParaRPr lang="ko-KR" altLang="en-US" sz="2700" b="0" i="0" spc="-54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9" name="텍스트: ACL 수술 후, 스쿼트는"/>
          <p:cNvSpPr txBox="1"/>
          <p:nvPr/>
        </p:nvSpPr>
        <p:spPr>
          <a:xfrm>
            <a:off x="3317974" y="1410843"/>
            <a:ext cx="5632103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117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ACL 수술 후, 스쿼트는</a:t>
            </a:r>
            <a:endParaRPr lang="ko-KR" altLang="en-US" sz="3900" b="0" i="0" spc="-117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0" name="텍스트: 몇 kg부터 해야 할까요?"/>
          <p:cNvSpPr txBox="1"/>
          <p:nvPr/>
        </p:nvSpPr>
        <p:spPr>
          <a:xfrm>
            <a:off x="3210520" y="2074468"/>
            <a:ext cx="5847159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117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몇 kg부터 해야 할까요?</a:t>
            </a:r>
            <a:endParaRPr lang="ko-KR" altLang="en-US" sz="3900" b="0" i="0" spc="-117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1" name="텍스트: Andreas"/>
          <p:cNvSpPr txBox="1"/>
          <p:nvPr/>
        </p:nvSpPr>
        <p:spPr>
          <a:xfrm>
            <a:off x="7264301" y="5200239"/>
            <a:ext cx="246399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Andreas</a:t>
            </a:r>
            <a:endParaRPr lang="ko-KR" altLang="en-US" sz="2700" b="0" i="0" spc="-54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2" name="텍스트: 무게만으로는"/>
          <p:cNvSpPr txBox="1"/>
          <p:nvPr/>
        </p:nvSpPr>
        <p:spPr>
          <a:xfrm>
            <a:off x="2157115" y="3897219"/>
            <a:ext cx="3991421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무게만으로는</a:t>
            </a:r>
            <a:endParaRPr lang="ko-KR" altLang="en-US" sz="4200" b="0" i="0" spc="-126" kern="0" dirty="0">
              <a:solidFill>
                <a:srgbClr val="0879D8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3" name="텍스트: 충분하지 않습니다."/>
          <p:cNvSpPr txBox="1"/>
          <p:nvPr/>
        </p:nvSpPr>
        <p:spPr>
          <a:xfrm>
            <a:off x="1533079" y="4601176"/>
            <a:ext cx="5239643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충분하지 않습니다.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4" name="텍스트: 그날 낼 수 있는 힘이 다릅니다"/>
          <p:cNvSpPr txBox="1"/>
          <p:nvPr/>
        </p:nvSpPr>
        <p:spPr>
          <a:xfrm>
            <a:off x="1844725" y="6976812"/>
            <a:ext cx="6597551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그날 낼 수 있는 힘이 다릅니다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5" name="텍스트: 피로·수면·회복·증상에 따라"/>
          <p:cNvSpPr txBox="1"/>
          <p:nvPr/>
        </p:nvSpPr>
        <p:spPr>
          <a:xfrm>
            <a:off x="2094607" y="7664047"/>
            <a:ext cx="6097637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피로·수면·회복·증상에 따라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6" name="텍스트: 같은 사람도 날마다 달라질 수 있습니다"/>
          <p:cNvSpPr txBox="1"/>
          <p:nvPr/>
        </p:nvSpPr>
        <p:spPr>
          <a:xfrm>
            <a:off x="1282005" y="8259062"/>
            <a:ext cx="7722989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같은 사람도 날마다 달라질 수 있습니다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7" name="텍스트: 최대 무게를 매번 잴 수 없습니다"/>
          <p:cNvSpPr txBox="1"/>
          <p:nvPr/>
        </p:nvSpPr>
        <p:spPr>
          <a:xfrm>
            <a:off x="1641277" y="9332613"/>
            <a:ext cx="7004447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최대 무게를 매번 잴 수 없습니다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8" name="텍스트: 수술 후 초기에는 1RM 측정이"/>
          <p:cNvSpPr txBox="1"/>
          <p:nvPr/>
        </p:nvSpPr>
        <p:spPr>
          <a:xfrm>
            <a:off x="2049810" y="10019848"/>
            <a:ext cx="6187380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수술 후 초기에는 1RM 측정이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9" name="텍스트: 적절하지 않을 수 있습니다"/>
          <p:cNvSpPr txBox="1"/>
          <p:nvPr/>
        </p:nvSpPr>
        <p:spPr>
          <a:xfrm>
            <a:off x="2333923" y="10614862"/>
            <a:ext cx="561900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적절하지 않을 수 있습니다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조진솔 PT 얼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90600"/>
            <a:ext cx="1600200" cy="1600200"/>
          </a:xfrm>
          <a:prstGeom prst="rect">
            <a:avLst/>
          </a:prstGeom>
        </p:spPr>
      </p:pic>
      <p:sp>
        <p:nvSpPr>
          <p:cNvPr id="3" name="연한 박스"/>
          <p:cNvSpPr/>
          <p:nvPr/>
        </p:nvSpPr>
        <p:spPr>
          <a:xfrm>
            <a:off x="2895600" y="990600"/>
            <a:ext cx="6477000" cy="2051149"/>
          </a:xfrm>
          <a:prstGeom prst="roundRect">
            <a:avLst>
              <a:gd name="adj" fmla="val 18575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pic>
        <p:nvPicPr>
          <p:cNvPr id="4" name="사진" descr="Andreas 얼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3474690"/>
            <a:ext cx="1600200" cy="1600200"/>
          </a:xfrm>
          <a:prstGeom prst="rect">
            <a:avLst/>
          </a:prstGeom>
        </p:spPr>
      </p:pic>
      <p:sp>
        <p:nvSpPr>
          <p:cNvPr id="5" name="연한 박스"/>
          <p:cNvSpPr/>
          <p:nvPr/>
        </p:nvSpPr>
        <p:spPr>
          <a:xfrm>
            <a:off x="914400" y="3474690"/>
            <a:ext cx="6477000" cy="2835771"/>
          </a:xfrm>
          <a:prstGeom prst="roundRect">
            <a:avLst>
              <a:gd name="adj" fmla="val 13435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연한 박스"/>
          <p:cNvSpPr/>
          <p:nvPr/>
        </p:nvSpPr>
        <p:spPr>
          <a:xfrm>
            <a:off x="914400" y="6881961"/>
            <a:ext cx="4114800" cy="2129582"/>
          </a:xfrm>
          <a:prstGeom prst="roundRect">
            <a:avLst>
              <a:gd name="adj" fmla="val 12524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연한 박스"/>
          <p:cNvSpPr/>
          <p:nvPr/>
        </p:nvSpPr>
        <p:spPr>
          <a:xfrm>
            <a:off x="5257800" y="6881961"/>
            <a:ext cx="4114800" cy="2129582"/>
          </a:xfrm>
          <a:prstGeom prst="roundRect">
            <a:avLst>
              <a:gd name="adj" fmla="val 12524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8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9" name="텍스트: 조진솔 PT"/>
          <p:cNvSpPr txBox="1"/>
          <p:nvPr/>
        </p:nvSpPr>
        <p:spPr>
          <a:xfrm>
            <a:off x="501253" y="2716149"/>
            <a:ext cx="2578894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조진솔 PT</a:t>
            </a:r>
            <a:endParaRPr lang="ko-KR" altLang="en-US" sz="2700" b="0" i="0" spc="-54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0" name="텍스트: 같은 60kg도"/>
          <p:cNvSpPr txBox="1"/>
          <p:nvPr/>
        </p:nvSpPr>
        <p:spPr>
          <a:xfrm>
            <a:off x="4278660" y="1410843"/>
            <a:ext cx="3710880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117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같은 60kg도</a:t>
            </a:r>
            <a:endParaRPr lang="ko-KR" altLang="en-US" sz="3900" b="0" i="0" spc="-117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1" name="텍스트: 다르게 봐야 한다고요?"/>
          <p:cNvSpPr txBox="1"/>
          <p:nvPr/>
        </p:nvSpPr>
        <p:spPr>
          <a:xfrm>
            <a:off x="3333452" y="2074468"/>
            <a:ext cx="5601295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117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다르게 봐야 한다고요?</a:t>
            </a:r>
            <a:endParaRPr lang="ko-KR" altLang="en-US" sz="3900" b="0" i="0" spc="-117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2" name="텍스트: Andreas"/>
          <p:cNvSpPr txBox="1"/>
          <p:nvPr/>
        </p:nvSpPr>
        <p:spPr>
          <a:xfrm>
            <a:off x="7264301" y="5200239"/>
            <a:ext cx="246399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Andreas</a:t>
            </a:r>
            <a:endParaRPr lang="ko-KR" altLang="en-US" sz="2700" b="0" i="0" spc="-54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3" name="텍스트: 네. 같은 무게라도"/>
          <p:cNvSpPr txBox="1"/>
          <p:nvPr/>
        </p:nvSpPr>
        <p:spPr>
          <a:xfrm>
            <a:off x="1703784" y="3897219"/>
            <a:ext cx="4898231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네. 같은 무게라도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4" name="텍스트: 움직이는 속도는"/>
          <p:cNvSpPr txBox="1"/>
          <p:nvPr/>
        </p:nvSpPr>
        <p:spPr>
          <a:xfrm>
            <a:off x="1853059" y="4601176"/>
            <a:ext cx="4599533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움직이는 속도</a:t>
            </a: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는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5" name="텍스트: 달라질 수 있죠."/>
          <p:cNvSpPr txBox="1"/>
          <p:nvPr/>
        </p:nvSpPr>
        <p:spPr>
          <a:xfrm>
            <a:off x="1941165" y="5305133"/>
            <a:ext cx="4423470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달라질 수 있죠.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6" name="텍스트: 평소 · 60kg"/>
          <p:cNvSpPr txBox="1"/>
          <p:nvPr/>
        </p:nvSpPr>
        <p:spPr>
          <a:xfrm>
            <a:off x="1577876" y="7312110"/>
            <a:ext cx="278784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평소 · 60kg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7" name="텍스트: 0.80 m/s"/>
          <p:cNvSpPr txBox="1"/>
          <p:nvPr/>
        </p:nvSpPr>
        <p:spPr>
          <a:xfrm>
            <a:off x="1168152" y="7865233"/>
            <a:ext cx="3607147" cy="7334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0" i="0" spc="-144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0.80 m/s</a:t>
            </a:r>
            <a:endParaRPr lang="ko-KR" altLang="en-US" sz="4800" b="0" i="0" spc="-144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8" name="텍스트: 다른 날 · 60kg"/>
          <p:cNvSpPr txBox="1"/>
          <p:nvPr/>
        </p:nvSpPr>
        <p:spPr>
          <a:xfrm>
            <a:off x="5722441" y="7312110"/>
            <a:ext cx="3185517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다른 날 · 60kg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9" name="텍스트: 0.65 m/s"/>
          <p:cNvSpPr txBox="1"/>
          <p:nvPr/>
        </p:nvSpPr>
        <p:spPr>
          <a:xfrm>
            <a:off x="5511552" y="7865233"/>
            <a:ext cx="3607147" cy="7334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0" i="0" spc="-144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0.65 m/s</a:t>
            </a:r>
            <a:endParaRPr lang="ko-KR" altLang="en-US" sz="4800" b="0" i="0" spc="-144" kern="0" dirty="0">
              <a:solidFill>
                <a:srgbClr val="0879D8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20" name="텍스트: 꼭 약해졌다는 뜻은 아니지만"/>
          <p:cNvSpPr txBox="1"/>
          <p:nvPr/>
        </p:nvSpPr>
        <p:spPr>
          <a:xfrm>
            <a:off x="2145357" y="9493889"/>
            <a:ext cx="599628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꼭 약해졌다는 뜻은 아니지만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1" name="텍스트: 컨디션을 확인하고 계획을"/>
          <p:cNvSpPr txBox="1"/>
          <p:nvPr/>
        </p:nvSpPr>
        <p:spPr>
          <a:xfrm>
            <a:off x="2388394" y="10088904"/>
            <a:ext cx="5510064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컨디션을 확인하고 계획을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2" name="텍스트: 조정할 이유가 됩니다."/>
          <p:cNvSpPr txBox="1"/>
          <p:nvPr/>
        </p:nvSpPr>
        <p:spPr>
          <a:xfrm>
            <a:off x="2707035" y="10683919"/>
            <a:ext cx="4872782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조정할 이유</a:t>
            </a: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가 됩니다.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조진솔 PT 얼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90600"/>
            <a:ext cx="1600200" cy="1600200"/>
          </a:xfrm>
          <a:prstGeom prst="rect">
            <a:avLst/>
          </a:prstGeom>
        </p:spPr>
      </p:pic>
      <p:sp>
        <p:nvSpPr>
          <p:cNvPr id="3" name="연한 박스"/>
          <p:cNvSpPr/>
          <p:nvPr/>
        </p:nvSpPr>
        <p:spPr>
          <a:xfrm>
            <a:off x="2895600" y="990600"/>
            <a:ext cx="6477000" cy="2051149"/>
          </a:xfrm>
          <a:prstGeom prst="roundRect">
            <a:avLst>
              <a:gd name="adj" fmla="val 18575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pic>
        <p:nvPicPr>
          <p:cNvPr id="4" name="사진" descr="Andreas 얼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3474690"/>
            <a:ext cx="1600200" cy="1600200"/>
          </a:xfrm>
          <a:prstGeom prst="rect">
            <a:avLst/>
          </a:prstGeom>
        </p:spPr>
      </p:pic>
      <p:sp>
        <p:nvSpPr>
          <p:cNvPr id="5" name="연한 박스"/>
          <p:cNvSpPr/>
          <p:nvPr/>
        </p:nvSpPr>
        <p:spPr>
          <a:xfrm>
            <a:off x="914400" y="3474690"/>
            <a:ext cx="6477000" cy="2835771"/>
          </a:xfrm>
          <a:prstGeom prst="roundRect">
            <a:avLst>
              <a:gd name="adj" fmla="val 13435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: 조진솔 PT"/>
          <p:cNvSpPr txBox="1"/>
          <p:nvPr/>
        </p:nvSpPr>
        <p:spPr>
          <a:xfrm>
            <a:off x="501253" y="2716149"/>
            <a:ext cx="2578894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조진솔 PT</a:t>
            </a:r>
            <a:endParaRPr lang="ko-KR" altLang="en-US" sz="2700" b="0" i="0" spc="-54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8" name="텍스트: 그런데 속도가"/>
          <p:cNvSpPr txBox="1"/>
          <p:nvPr/>
        </p:nvSpPr>
        <p:spPr>
          <a:xfrm>
            <a:off x="4178201" y="1410843"/>
            <a:ext cx="3911798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117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그런데 속도가</a:t>
            </a:r>
            <a:endParaRPr lang="ko-KR" altLang="en-US" sz="3900" b="0" i="0" spc="-117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9" name="텍스트: 왜 중요한가요?"/>
          <p:cNvSpPr txBox="1"/>
          <p:nvPr/>
        </p:nvSpPr>
        <p:spPr>
          <a:xfrm>
            <a:off x="4056608" y="2074468"/>
            <a:ext cx="4154984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117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왜 중요한가요?</a:t>
            </a:r>
            <a:endParaRPr lang="ko-KR" altLang="en-US" sz="3900" b="0" i="0" spc="-117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0" name="텍스트: Andreas"/>
          <p:cNvSpPr txBox="1"/>
          <p:nvPr/>
        </p:nvSpPr>
        <p:spPr>
          <a:xfrm>
            <a:off x="7264301" y="5200239"/>
            <a:ext cx="246399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Andreas</a:t>
            </a:r>
            <a:endParaRPr lang="ko-KR" altLang="en-US" sz="2700" b="0" i="0" spc="-54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1" name="텍스트: 운동 강도와 피로"/>
          <p:cNvSpPr txBox="1"/>
          <p:nvPr/>
        </p:nvSpPr>
        <p:spPr>
          <a:xfrm>
            <a:off x="1786235" y="3897219"/>
            <a:ext cx="4733032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운동 </a:t>
            </a: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강도</a:t>
            </a: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와 </a:t>
            </a: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피로</a:t>
            </a:r>
            <a:endParaRPr lang="ko-KR" altLang="en-US" sz="4200" b="0" i="0" spc="-126" kern="0" dirty="0">
              <a:solidFill>
                <a:srgbClr val="0879D8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2" name="텍스트: 변화를 파악하는 데"/>
          <p:cNvSpPr txBox="1"/>
          <p:nvPr/>
        </p:nvSpPr>
        <p:spPr>
          <a:xfrm>
            <a:off x="1549003" y="4601176"/>
            <a:ext cx="5207645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변화를 파악하는 데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3" name="텍스트: 도움이 되기 때문입니다."/>
          <p:cNvSpPr txBox="1"/>
          <p:nvPr/>
        </p:nvSpPr>
        <p:spPr>
          <a:xfrm>
            <a:off x="991642" y="5305133"/>
            <a:ext cx="6322368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도움이 되기 때문입니다.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4" name="텍스트: 강도: 무거울수록 대체로 느려집니다"/>
          <p:cNvSpPr txBox="1"/>
          <p:nvPr/>
        </p:nvSpPr>
        <p:spPr>
          <a:xfrm>
            <a:off x="1277838" y="6966543"/>
            <a:ext cx="7731323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강도: 무거울수록 대체로 느려집니다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5" name="텍스트: 속도로 최대 무게 대비"/>
          <p:cNvSpPr txBox="1"/>
          <p:nvPr/>
        </p:nvSpPr>
        <p:spPr>
          <a:xfrm>
            <a:off x="2711053" y="7653778"/>
            <a:ext cx="486474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속도로 최대 무게 대비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6" name="텍스트: 몇 %인지(상대 강도)를 추정합니다"/>
          <p:cNvSpPr txBox="1"/>
          <p:nvPr/>
        </p:nvSpPr>
        <p:spPr>
          <a:xfrm>
            <a:off x="1623417" y="8248793"/>
            <a:ext cx="704016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몇 %인지(상대 강도)를 추정합니다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7" name="텍스트: 피로: 반복할수록 느려집니다"/>
          <p:cNvSpPr txBox="1"/>
          <p:nvPr/>
        </p:nvSpPr>
        <p:spPr>
          <a:xfrm>
            <a:off x="1945332" y="9322344"/>
            <a:ext cx="6396335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피로: 반복할수록 느려집니다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8" name="텍스트: 예: 첫 회 0.80 → 여섯째 0.64 m"/>
          <p:cNvSpPr txBox="1"/>
          <p:nvPr/>
        </p:nvSpPr>
        <p:spPr>
          <a:xfrm>
            <a:off x="1618952" y="10009578"/>
            <a:ext cx="704909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예: 첫 회 0.80 → 여섯째 0.64 m/s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9" name="텍스트: 세트 안에서 속도가 20% 줄었습니다"/>
          <p:cNvSpPr txBox="1"/>
          <p:nvPr/>
        </p:nvSpPr>
        <p:spPr>
          <a:xfrm>
            <a:off x="1479203" y="10604593"/>
            <a:ext cx="7328595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세트 안에서 속도가 20% 줄었습니다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조진솔 PT 얼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90600"/>
            <a:ext cx="1600200" cy="1600200"/>
          </a:xfrm>
          <a:prstGeom prst="rect">
            <a:avLst/>
          </a:prstGeom>
        </p:spPr>
      </p:pic>
      <p:sp>
        <p:nvSpPr>
          <p:cNvPr id="3" name="연한 박스"/>
          <p:cNvSpPr/>
          <p:nvPr/>
        </p:nvSpPr>
        <p:spPr>
          <a:xfrm>
            <a:off x="2895600" y="990600"/>
            <a:ext cx="6477000" cy="2051149"/>
          </a:xfrm>
          <a:prstGeom prst="roundRect">
            <a:avLst>
              <a:gd name="adj" fmla="val 18575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pic>
        <p:nvPicPr>
          <p:cNvPr id="4" name="사진" descr="Andreas 얼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3474690"/>
            <a:ext cx="1600200" cy="1600200"/>
          </a:xfrm>
          <a:prstGeom prst="rect">
            <a:avLst/>
          </a:prstGeom>
        </p:spPr>
      </p:pic>
      <p:sp>
        <p:nvSpPr>
          <p:cNvPr id="5" name="연한 박스"/>
          <p:cNvSpPr/>
          <p:nvPr/>
        </p:nvSpPr>
        <p:spPr>
          <a:xfrm>
            <a:off x="914400" y="3474690"/>
            <a:ext cx="6477000" cy="2835771"/>
          </a:xfrm>
          <a:prstGeom prst="roundRect">
            <a:avLst>
              <a:gd name="adj" fmla="val 13435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: 조진솔 PT"/>
          <p:cNvSpPr txBox="1"/>
          <p:nvPr/>
        </p:nvSpPr>
        <p:spPr>
          <a:xfrm>
            <a:off x="501253" y="2716149"/>
            <a:ext cx="2578894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조진솔 PT</a:t>
            </a:r>
            <a:endParaRPr lang="ko-KR" altLang="en-US" sz="2700" b="0" i="0" spc="-54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8" name="텍스트: 그럼 속도로 운동 강도를"/>
          <p:cNvSpPr txBox="1"/>
          <p:nvPr/>
        </p:nvSpPr>
        <p:spPr>
          <a:xfrm>
            <a:off x="3172718" y="1410843"/>
            <a:ext cx="5922764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117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그럼 속도로 운동 강도를</a:t>
            </a:r>
            <a:endParaRPr lang="ko-KR" altLang="en-US" sz="3900" b="0" i="0" spc="-117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9" name="텍스트: 조절할 수 있나요?"/>
          <p:cNvSpPr txBox="1"/>
          <p:nvPr/>
        </p:nvSpPr>
        <p:spPr>
          <a:xfrm>
            <a:off x="3774281" y="2074468"/>
            <a:ext cx="4719638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117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조절할 수 있나요?</a:t>
            </a:r>
            <a:endParaRPr lang="ko-KR" altLang="en-US" sz="3900" b="0" i="0" spc="-117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0" name="텍스트: Andreas"/>
          <p:cNvSpPr txBox="1"/>
          <p:nvPr/>
        </p:nvSpPr>
        <p:spPr>
          <a:xfrm>
            <a:off x="7264301" y="5200239"/>
            <a:ext cx="246399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Andreas</a:t>
            </a:r>
            <a:endParaRPr lang="ko-KR" altLang="en-US" sz="2700" b="0" i="0" spc="-54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1" name="텍스트: 네. 그게 바로"/>
          <p:cNvSpPr txBox="1"/>
          <p:nvPr/>
        </p:nvSpPr>
        <p:spPr>
          <a:xfrm>
            <a:off x="2178546" y="3897219"/>
            <a:ext cx="3948708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네. 그게 바로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2" name="텍스트: VBT, 속도 기반"/>
          <p:cNvSpPr txBox="1"/>
          <p:nvPr/>
        </p:nvSpPr>
        <p:spPr>
          <a:xfrm>
            <a:off x="1929408" y="4601176"/>
            <a:ext cx="4446984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VBT, 속도 기반</a:t>
            </a:r>
            <a:endParaRPr lang="ko-KR" altLang="en-US" sz="4200" b="0" i="0" spc="-126" kern="0" dirty="0">
              <a:solidFill>
                <a:srgbClr val="0879D8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3" name="텍스트: 훈련입니다."/>
          <p:cNvSpPr txBox="1"/>
          <p:nvPr/>
        </p:nvSpPr>
        <p:spPr>
          <a:xfrm>
            <a:off x="2311747" y="5305133"/>
            <a:ext cx="3682157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훈련</a:t>
            </a: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입니다.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4" name="텍스트: 들어 올리는 속도(m/s)를 재서"/>
          <p:cNvSpPr txBox="1"/>
          <p:nvPr/>
        </p:nvSpPr>
        <p:spPr>
          <a:xfrm>
            <a:off x="2013942" y="6907107"/>
            <a:ext cx="6258967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들어 올리는 속도(m/s)를 재서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5" name="텍스트: 운동을 처방하고 확인하는 방법"/>
          <p:cNvSpPr txBox="1"/>
          <p:nvPr/>
        </p:nvSpPr>
        <p:spPr>
          <a:xfrm>
            <a:off x="1956792" y="7502122"/>
            <a:ext cx="6373416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운동을 처방하고 확인하는 방법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6" name="텍스트: 무게는 목표 속도로"/>
          <p:cNvSpPr txBox="1"/>
          <p:nvPr/>
        </p:nvSpPr>
        <p:spPr>
          <a:xfrm>
            <a:off x="2829967" y="8537573"/>
            <a:ext cx="4626918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무게는 목표 속도로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7" name="텍스트: %1RM 대신 목표 속도에 맞는 무게"/>
          <p:cNvSpPr txBox="1"/>
          <p:nvPr/>
        </p:nvSpPr>
        <p:spPr>
          <a:xfrm>
            <a:off x="1614190" y="9224808"/>
            <a:ext cx="7058620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%1RM 대신 목표 속도에 맞는 무게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8" name="텍스트: 반복 수는 속도 감소로"/>
          <p:cNvSpPr txBox="1"/>
          <p:nvPr/>
        </p:nvSpPr>
        <p:spPr>
          <a:xfrm>
            <a:off x="2569369" y="10145959"/>
            <a:ext cx="5148114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반복 수는 속도 감소로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9" name="텍스트: 속도가 20% 줄면 세트 종료(예시)"/>
          <p:cNvSpPr txBox="1"/>
          <p:nvPr/>
        </p:nvSpPr>
        <p:spPr>
          <a:xfrm>
            <a:off x="1715542" y="10833193"/>
            <a:ext cx="6855768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속도가 20% 줄면 세트 종료(예시)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조진솔 PT 얼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90600"/>
            <a:ext cx="1600200" cy="1600200"/>
          </a:xfrm>
          <a:prstGeom prst="rect">
            <a:avLst/>
          </a:prstGeom>
        </p:spPr>
      </p:pic>
      <p:sp>
        <p:nvSpPr>
          <p:cNvPr id="3" name="연한 박스"/>
          <p:cNvSpPr/>
          <p:nvPr/>
        </p:nvSpPr>
        <p:spPr>
          <a:xfrm>
            <a:off x="2895600" y="990600"/>
            <a:ext cx="6477000" cy="2051149"/>
          </a:xfrm>
          <a:prstGeom prst="roundRect">
            <a:avLst>
              <a:gd name="adj" fmla="val 18575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pic>
        <p:nvPicPr>
          <p:cNvPr id="4" name="사진" descr="Andreas 얼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3474690"/>
            <a:ext cx="1600200" cy="1600200"/>
          </a:xfrm>
          <a:prstGeom prst="rect">
            <a:avLst/>
          </a:prstGeom>
        </p:spPr>
      </p:pic>
      <p:sp>
        <p:nvSpPr>
          <p:cNvPr id="5" name="연한 박스"/>
          <p:cNvSpPr/>
          <p:nvPr/>
        </p:nvSpPr>
        <p:spPr>
          <a:xfrm>
            <a:off x="914400" y="3474690"/>
            <a:ext cx="6477000" cy="2835771"/>
          </a:xfrm>
          <a:prstGeom prst="roundRect">
            <a:avLst>
              <a:gd name="adj" fmla="val 13435"/>
            </a:avLst>
          </a:prstGeom>
          <a:solidFill>
            <a:srgbClr val="F0F7FC"/>
          </a:solidFill>
          <a:ln>
            <a:noFill/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6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7" name="텍스트: 조진솔 PT"/>
          <p:cNvSpPr txBox="1"/>
          <p:nvPr/>
        </p:nvSpPr>
        <p:spPr>
          <a:xfrm>
            <a:off x="501253" y="2716149"/>
            <a:ext cx="2578894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조진솔 PT</a:t>
            </a:r>
            <a:endParaRPr lang="ko-KR" altLang="en-US" sz="2700" b="0" i="0" spc="-54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8" name="텍스트: ACL 재활에도"/>
          <p:cNvSpPr txBox="1"/>
          <p:nvPr/>
        </p:nvSpPr>
        <p:spPr>
          <a:xfrm>
            <a:off x="4178052" y="1410843"/>
            <a:ext cx="3911947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117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ACL 재활에도</a:t>
            </a:r>
            <a:endParaRPr lang="ko-KR" altLang="en-US" sz="3900" b="0" i="0" spc="-117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9" name="텍스트: 활용할 수 있나요?"/>
          <p:cNvSpPr txBox="1"/>
          <p:nvPr/>
        </p:nvSpPr>
        <p:spPr>
          <a:xfrm>
            <a:off x="3774281" y="2074468"/>
            <a:ext cx="4719638" cy="5905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900" b="0" i="0" spc="-117" kern="0" dirty="0">
                <a:solidFill>
                  <a:srgbClr val="121416"/>
                </a:solidFill>
                <a:latin typeface="RCardnews W750" pitchFamily="34" charset="-127"/>
                <a:ea typeface="RCardnews W750" pitchFamily="34" charset="-127"/>
                <a:cs typeface="RCardnews W750" pitchFamily="34" charset="-127"/>
              </a:rPr>
              <a:t xml:space="preserve">활용할 수 있나요?</a:t>
            </a:r>
            <a:endParaRPr lang="ko-KR" altLang="en-US" sz="3900" b="0" i="0" spc="-117" kern="0" dirty="0">
              <a:solidFill>
                <a:srgbClr val="121416"/>
              </a:solidFill>
              <a:latin typeface="RCardnews W750" pitchFamily="34" charset="-127"/>
              <a:ea typeface="RCardnews W750" pitchFamily="34" charset="-127"/>
              <a:cs typeface="RCardnews W750" pitchFamily="34" charset="-127"/>
            </a:endParaRPr>
          </a:p>
        </p:txBody>
      </p:sp>
      <p:sp>
        <p:nvSpPr>
          <p:cNvPr id="10" name="텍스트: Andreas"/>
          <p:cNvSpPr txBox="1"/>
          <p:nvPr/>
        </p:nvSpPr>
        <p:spPr>
          <a:xfrm>
            <a:off x="7264301" y="5200239"/>
            <a:ext cx="2463998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Andreas</a:t>
            </a:r>
            <a:endParaRPr lang="ko-KR" altLang="en-US" sz="2700" b="0" i="0" spc="-54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11" name="텍스트: 환자의 상태와 훈련 목표에"/>
          <p:cNvSpPr txBox="1"/>
          <p:nvPr/>
        </p:nvSpPr>
        <p:spPr>
          <a:xfrm>
            <a:off x="770334" y="3897219"/>
            <a:ext cx="6765131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환자의 상태와 훈련 목표에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2" name="텍스트: 맞춰 부하를 조절하는 데"/>
          <p:cNvSpPr txBox="1"/>
          <p:nvPr/>
        </p:nvSpPr>
        <p:spPr>
          <a:xfrm>
            <a:off x="1007566" y="4601176"/>
            <a:ext cx="6290518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맞춰 </a:t>
            </a:r>
            <a:r>
              <a:rPr lang="ko-KR" altLang="en-US" sz="4200" b="0" i="0" spc="-126" kern="0" dirty="0">
                <a:solidFill>
                  <a:srgbClr val="0879D8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부하를 조절</a:t>
            </a: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하는 데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3" name="텍스트: 활용할 수 있죠."/>
          <p:cNvSpPr txBox="1"/>
          <p:nvPr/>
        </p:nvSpPr>
        <p:spPr>
          <a:xfrm>
            <a:off x="1941165" y="5305133"/>
            <a:ext cx="4423470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활용할 수 있죠.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4" name="텍스트: 매 세션 같은 무게로 확인"/>
          <p:cNvSpPr txBox="1"/>
          <p:nvPr/>
        </p:nvSpPr>
        <p:spPr>
          <a:xfrm>
            <a:off x="2308771" y="6814143"/>
            <a:ext cx="5669310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매 세션 같은 무게로 확인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5" name="텍스트: 같은 무게 스쿼트 3×5, 최대한 빠르게"/>
          <p:cNvSpPr txBox="1"/>
          <p:nvPr/>
        </p:nvSpPr>
        <p:spPr>
          <a:xfrm>
            <a:off x="1938635" y="7487281"/>
            <a:ext cx="6409730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같은 무게 스쿼트 3×5, 최대한 빠르게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6" name="텍스트: 지난 세션 속도와 비교합니다"/>
          <p:cNvSpPr txBox="1"/>
          <p:nvPr/>
        </p:nvSpPr>
        <p:spPr>
          <a:xfrm>
            <a:off x="2586484" y="7967252"/>
            <a:ext cx="511388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지난 세션 속도와 비교합니다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7" name="텍스트: 눈에 띄게 느려지면 계획을 바꿉니다"/>
          <p:cNvSpPr txBox="1"/>
          <p:nvPr/>
        </p:nvSpPr>
        <p:spPr>
          <a:xfrm>
            <a:off x="1291530" y="8711255"/>
            <a:ext cx="7703939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눈에 띄게 느려지면 계획을 바꿉니다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8" name="텍스트: 강도 낮은 운동으로 바꾸거나"/>
          <p:cNvSpPr txBox="1"/>
          <p:nvPr/>
        </p:nvSpPr>
        <p:spPr>
          <a:xfrm>
            <a:off x="2586484" y="9384393"/>
            <a:ext cx="5113883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강도 낮은 운동으로 바꾸거나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9" name="텍스트: 무게를 줄여 목표 속도에 맞춥니다"/>
          <p:cNvSpPr txBox="1"/>
          <p:nvPr/>
        </p:nvSpPr>
        <p:spPr>
          <a:xfrm>
            <a:off x="2233315" y="9864364"/>
            <a:ext cx="5820221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무게를 줄여 목표 속도에 맞춥니다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20" name="텍스트: 속도는 통증·부기·움직임과 함께 봅니다."/>
          <p:cNvSpPr txBox="1"/>
          <p:nvPr/>
        </p:nvSpPr>
        <p:spPr>
          <a:xfrm>
            <a:off x="1562249" y="10688378"/>
            <a:ext cx="7162354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-57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속도는 통증·부기·움직임과 함께 봅니다.</a:t>
            </a:r>
            <a:endParaRPr lang="ko-KR" altLang="en-US" sz="2850" b="0" i="0" spc="-57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  <p:sp>
        <p:nvSpPr>
          <p:cNvPr id="21" name="텍스트: 수술별 제한과 증상이 먼저입니다."/>
          <p:cNvSpPr txBox="1"/>
          <p:nvPr/>
        </p:nvSpPr>
        <p:spPr>
          <a:xfrm>
            <a:off x="2095054" y="11202281"/>
            <a:ext cx="6096744" cy="4381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50" b="0" i="0" spc="-57" kern="0" dirty="0">
                <a:solidFill>
                  <a:srgbClr val="121416"/>
                </a:solidFill>
                <a:latin typeface="RCardnews W700" pitchFamily="34" charset="-127"/>
                <a:ea typeface="RCardnews W700" pitchFamily="34" charset="-127"/>
                <a:cs typeface="RCardnews W700" pitchFamily="34" charset="-127"/>
              </a:rPr>
              <a:t xml:space="preserve">수술별 제한과 증상이 먼저입니다.</a:t>
            </a:r>
            <a:endParaRPr lang="ko-KR" altLang="en-US" sz="2850" b="0" i="0" spc="-57" kern="0" dirty="0">
              <a:solidFill>
                <a:srgbClr val="121416"/>
              </a:solidFill>
              <a:latin typeface="RCardnews W700" pitchFamily="34" charset="-127"/>
              <a:ea typeface="RCardnews W700" pitchFamily="34" charset="-127"/>
              <a:cs typeface="RCardnews W700" pitchFamily="34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사진" descr="Andreas 얼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0" y="4556671"/>
            <a:ext cx="2476500" cy="2476500"/>
          </a:xfrm>
          <a:prstGeom prst="rect">
            <a:avLst/>
          </a:prstGeom>
        </p:spPr>
      </p:pic>
      <p:sp>
        <p:nvSpPr>
          <p:cNvPr id="3" name="B01 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D0DCE5"/>
            </a:solidFill>
          </a:ln>
        </p:spPr>
        <p:txBody>
          <a:bodyPr rtlCol="0" anchor="ctr"/>
          <a:lstStyle/>
          <a:p>
            <a:endParaRPr lang="ko-KR"/>
          </a:p>
        </p:txBody>
      </p:sp>
      <p:sp>
        <p:nvSpPr>
          <p:cNvPr id="4" name="텍스트: 같은 무게가 항상"/>
          <p:cNvSpPr txBox="1"/>
          <p:nvPr/>
        </p:nvSpPr>
        <p:spPr>
          <a:xfrm>
            <a:off x="1897559" y="1029081"/>
            <a:ext cx="6491734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같은 무게가 항상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5" name="텍스트: 같은 훈련 자극을"/>
          <p:cNvSpPr txBox="1"/>
          <p:nvPr/>
        </p:nvSpPr>
        <p:spPr>
          <a:xfrm>
            <a:off x="1897559" y="1989171"/>
            <a:ext cx="6491734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121416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같은 훈련 자극을</a:t>
            </a:r>
            <a:endParaRPr lang="ko-KR" altLang="en-US" sz="6300" b="0" i="0" spc="-220" kern="0" dirty="0">
              <a:solidFill>
                <a:srgbClr val="121416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6" name="텍스트: 의미하지는 않습니다"/>
          <p:cNvSpPr txBox="1"/>
          <p:nvPr/>
        </p:nvSpPr>
        <p:spPr>
          <a:xfrm>
            <a:off x="1287512" y="2949261"/>
            <a:ext cx="7711976" cy="9620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300" b="0" i="0" spc="-220" kern="0" dirty="0">
                <a:solidFill>
                  <a:srgbClr val="0879D8"/>
                </a:solidFill>
                <a:latin typeface="RCardnews W850" pitchFamily="34" charset="-127"/>
                <a:ea typeface="RCardnews W850" pitchFamily="34" charset="-127"/>
                <a:cs typeface="RCardnews W850" pitchFamily="34" charset="-127"/>
              </a:rPr>
              <a:t xml:space="preserve">의미하지는 않습니다</a:t>
            </a:r>
            <a:endParaRPr lang="ko-KR" altLang="en-US" sz="6300" b="0" i="0" spc="-220" kern="0" dirty="0">
              <a:solidFill>
                <a:srgbClr val="0879D8"/>
              </a:solidFill>
              <a:latin typeface="RCardnews W850" pitchFamily="34" charset="-127"/>
              <a:ea typeface="RCardnews W850" pitchFamily="34" charset="-127"/>
              <a:cs typeface="RCardnews W850" pitchFamily="34" charset="-127"/>
            </a:endParaRPr>
          </a:p>
        </p:txBody>
      </p:sp>
      <p:sp>
        <p:nvSpPr>
          <p:cNvPr id="7" name="텍스트: ACL 재활에서 VBT를 활용하는 이유"/>
          <p:cNvSpPr txBox="1"/>
          <p:nvPr/>
        </p:nvSpPr>
        <p:spPr>
          <a:xfrm>
            <a:off x="1278582" y="7422553"/>
            <a:ext cx="7729835" cy="55245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0" i="0" spc="-108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ACL 재활에서 VBT를 활용하는 이유</a:t>
            </a:r>
            <a:endParaRPr lang="ko-KR" altLang="en-US" sz="3600" b="0" i="0" spc="-108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8" name="텍스트: Andreas Bjerregaard"/>
          <p:cNvSpPr txBox="1"/>
          <p:nvPr/>
        </p:nvSpPr>
        <p:spPr>
          <a:xfrm>
            <a:off x="2607469" y="8147887"/>
            <a:ext cx="5071914" cy="5048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0" i="0" spc="-66" kern="0" dirty="0">
                <a:solidFill>
                  <a:srgbClr val="121416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Andreas Bjerregaard</a:t>
            </a:r>
            <a:endParaRPr lang="ko-KR" altLang="en-US" sz="3300" b="0" i="0" spc="-66" kern="0" dirty="0">
              <a:solidFill>
                <a:srgbClr val="121416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9" name="텍스트: 2027 Criteria-Based ACL "/>
          <p:cNvSpPr txBox="1"/>
          <p:nvPr/>
        </p:nvSpPr>
        <p:spPr>
          <a:xfrm>
            <a:off x="1288107" y="8843105"/>
            <a:ext cx="7710636" cy="4095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700" b="0" i="0" spc="-54" kern="0" dirty="0">
                <a:solidFill>
                  <a:srgbClr val="5E6570"/>
                </a:solidFill>
                <a:latin typeface="RCardnews W500" pitchFamily="34" charset="-127"/>
                <a:ea typeface="RCardnews W500" pitchFamily="34" charset="-127"/>
                <a:cs typeface="RCardnews W500" pitchFamily="34" charset="-127"/>
              </a:rPr>
              <a:t xml:space="preserve">2027 Criteria-Based ACL Rehab Workshop</a:t>
            </a:r>
            <a:endParaRPr lang="ko-KR" altLang="en-US" sz="2700" b="0" i="0" spc="-54" kern="0" dirty="0">
              <a:solidFill>
                <a:srgbClr val="5E6570"/>
              </a:solidFill>
              <a:latin typeface="RCardnews W500" pitchFamily="34" charset="-127"/>
              <a:ea typeface="RCardnews W500" pitchFamily="34" charset="-127"/>
              <a:cs typeface="RCardnews W500" pitchFamily="34" charset="-127"/>
            </a:endParaRPr>
          </a:p>
        </p:txBody>
      </p:sp>
      <p:sp>
        <p:nvSpPr>
          <p:cNvPr id="10" name="텍스트: 사전 웨비나에서"/>
          <p:cNvSpPr txBox="1"/>
          <p:nvPr/>
        </p:nvSpPr>
        <p:spPr>
          <a:xfrm>
            <a:off x="2843659" y="10010781"/>
            <a:ext cx="4599533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사전 웨비나에서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  <p:sp>
        <p:nvSpPr>
          <p:cNvPr id="11" name="텍스트: 더 자세히 알아보세요."/>
          <p:cNvSpPr txBox="1"/>
          <p:nvPr/>
        </p:nvSpPr>
        <p:spPr>
          <a:xfrm>
            <a:off x="2219623" y="10704171"/>
            <a:ext cx="5847606" cy="63817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200" b="0" i="0" spc="-126" kern="0" dirty="0">
                <a:solidFill>
                  <a:srgbClr val="121416"/>
                </a:solidFill>
                <a:latin typeface="RCardnews W800" pitchFamily="34" charset="-127"/>
                <a:ea typeface="RCardnews W800" pitchFamily="34" charset="-127"/>
                <a:cs typeface="RCardnews W800" pitchFamily="34" charset="-127"/>
              </a:rPr>
              <a:t xml:space="preserve">더 자세히 알아보세요.</a:t>
            </a:r>
            <a:endParaRPr lang="ko-KR" altLang="en-US" sz="4200" b="0" i="0" spc="-126" kern="0" dirty="0">
              <a:solidFill>
                <a:srgbClr val="121416"/>
              </a:solidFill>
              <a:latin typeface="RCardnews W800" pitchFamily="34" charset="-127"/>
              <a:ea typeface="RCardnews W800" pitchFamily="34" charset="-127"/>
              <a:cs typeface="RCardnews W800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Cardnews">
  <a:themeElements>
    <a:clrScheme name="RCardnews">
      <a:dk1>
        <a:srgbClr val="121416"/>
      </a:dk1>
      <a:lt1>
        <a:srgbClr val="FFFFFF"/>
      </a:lt1>
      <a:dk2>
        <a:srgbClr val="5E6570"/>
      </a:dk2>
      <a:lt2>
        <a:srgbClr val="F0F7FC"/>
      </a:lt2>
      <a:accent1>
        <a:srgbClr val="0879D8"/>
      </a:accent1>
      <a:accent2>
        <a:srgbClr val="CC414A"/>
      </a:accent2>
      <a:accent3>
        <a:srgbClr val="D0DCE5"/>
      </a:accent3>
      <a:accent4>
        <a:srgbClr val="5E6570"/>
      </a:accent4>
      <a:accent5>
        <a:srgbClr val="F0F7FC"/>
      </a:accent5>
      <a:accent6>
        <a:srgbClr val="121416"/>
      </a:accent6>
      <a:hlink>
        <a:srgbClr val="0879D8"/>
      </a:hlink>
      <a:folHlink>
        <a:srgbClr val="5E6570"/>
      </a:folHlink>
    </a:clrScheme>
    <a:fontScheme name="RCardnews">
      <a:majorFont>
        <a:latin typeface="RCardnews W850"/>
        <a:ea typeface="RCardnews W850"/>
        <a:cs typeface="RCardnews W850"/>
      </a:majorFont>
      <a:minorFont>
        <a:latin typeface="RCardnews W500"/>
        <a:ea typeface="RCardnews W500"/>
        <a:cs typeface="RCardnews W500"/>
      </a:minorFont>
    </a:fontScheme>
    <a:fmtScheme name="RCardnew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acl-vbt-qna</dc:title>
  <dc:creator>R스포츠재활센터</dc:creator>
</cp:coreProperties>
</file>